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1.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2.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67ec7f85b1b4169" /><Relationship Type="http://schemas.openxmlformats.org/officeDocument/2006/relationships/extended-properties" Target="/docProps/app.xml" Id="R48e8a801a4374ce5" /><Relationship Type="http://schemas.openxmlformats.org/officeDocument/2006/relationships/officeDocument" Target="/ppt/presentation.xml" Id="Rda72ff16e07d4623" /></Relationships>
</file>

<file path=ppt/presentation.xml><?xml version="1.0" encoding="utf-8"?>
<p:presentation xmlns:p="http://schemas.openxmlformats.org/presentationml/2006/main">
  <p:sldMasterIdLst>
    <p:sldMasterId xmlns:r="http://schemas.openxmlformats.org/officeDocument/2006/relationships" id="2147483648" r:id="R821300062ef64039"/>
  </p:sldMasterIdLst>
  <p:notesMasterIdLst>
    <p:notesMasterId xmlns:r="http://schemas.openxmlformats.org/officeDocument/2006/relationships" r:id="Ra966931d67214a67"/>
  </p:notesMasterIdLst>
  <p:sldIdLst>
    <p:sldId xmlns:r="http://schemas.openxmlformats.org/officeDocument/2006/relationships" id="256" r:id="R6644fc551f3c4e4c"/>
    <p:sldId xmlns:r="http://schemas.openxmlformats.org/officeDocument/2006/relationships" id="257" r:id="Rfefb2e04f6cd464a"/>
    <p:sldId xmlns:r="http://schemas.openxmlformats.org/officeDocument/2006/relationships" id="258" r:id="R27436c36d68e41a7"/>
    <p:sldId xmlns:r="http://schemas.openxmlformats.org/officeDocument/2006/relationships" id="259" r:id="R64ba413c2dae44c6"/>
    <p:sldId xmlns:r="http://schemas.openxmlformats.org/officeDocument/2006/relationships" id="260" r:id="R4684e960489e4a39"/>
    <p:sldId xmlns:r="http://schemas.openxmlformats.org/officeDocument/2006/relationships" id="261" r:id="Ree98d99652b24a0f"/>
    <p:sldId xmlns:r="http://schemas.openxmlformats.org/officeDocument/2006/relationships" id="262" r:id="R2076abd68fa649a8"/>
    <p:sldId xmlns:r="http://schemas.openxmlformats.org/officeDocument/2006/relationships" id="263" r:id="Rff80a1b8737b4d11"/>
    <p:sldId xmlns:r="http://schemas.openxmlformats.org/officeDocument/2006/relationships" id="264" r:id="R87f69aeeec9d4ee2"/>
    <p:sldId xmlns:r="http://schemas.openxmlformats.org/officeDocument/2006/relationships" id="265" r:id="Ra478f5fc8b9140f4"/>
    <p:sldId xmlns:r="http://schemas.openxmlformats.org/officeDocument/2006/relationships" id="266" r:id="Ra15f1cbcdc5e4d63"/>
    <p:sldId xmlns:r="http://schemas.openxmlformats.org/officeDocument/2006/relationships" id="267" r:id="R48180c9d70a44750"/>
    <p:sldId xmlns:r="http://schemas.openxmlformats.org/officeDocument/2006/relationships" id="268" r:id="Raf50dbdc2490415a"/>
    <p:sldId xmlns:r="http://schemas.openxmlformats.org/officeDocument/2006/relationships" id="269" r:id="R100b571ec60f4824"/>
    <p:sldId xmlns:r="http://schemas.openxmlformats.org/officeDocument/2006/relationships" id="270" r:id="Rcbf9513115554b4f"/>
    <p:sldId xmlns:r="http://schemas.openxmlformats.org/officeDocument/2006/relationships" id="271" r:id="Re66a85fab80c4a6e"/>
    <p:sldId xmlns:r="http://schemas.openxmlformats.org/officeDocument/2006/relationships" id="272" r:id="R6c74decd096742db"/>
    <p:sldId xmlns:r="http://schemas.openxmlformats.org/officeDocument/2006/relationships" id="273" r:id="Rff469e54e5fe4f6b"/>
    <p:sldId xmlns:r="http://schemas.openxmlformats.org/officeDocument/2006/relationships" id="274" r:id="R3eeec029255940c7"/>
    <p:sldId xmlns:r="http://schemas.openxmlformats.org/officeDocument/2006/relationships" id="275" r:id="R05c60255cf044677"/>
    <p:sldId xmlns:r="http://schemas.openxmlformats.org/officeDocument/2006/relationships" id="276" r:id="R08d85084795e4aa3"/>
    <p:sldId xmlns:r="http://schemas.openxmlformats.org/officeDocument/2006/relationships" id="277" r:id="Rb05ca31a7b304c62"/>
  </p:sldIdLst>
  <p:sldSz cx="9144000" cy="5143500"/>
  <p:notesSz cx="6858000" cy="9144000"/>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8de87b4f81314895" /><Relationship Type="http://schemas.openxmlformats.org/officeDocument/2006/relationships/slideMaster" Target="/ppt/slideMasters/slideMaster1.xml" Id="R821300062ef64039" /><Relationship Type="http://schemas.openxmlformats.org/officeDocument/2006/relationships/notesMaster" Target="/ppt/notesMasters/notesMaster1.xml" Id="Ra966931d67214a67" /><Relationship Type="http://schemas.openxmlformats.org/officeDocument/2006/relationships/presProps" Target="/ppt/presProps.xml" Id="R998bde716e584376" /><Relationship Type="http://schemas.openxmlformats.org/officeDocument/2006/relationships/viewProps" Target="/ppt/viewProps.xml" Id="Re4b58ab6feac4b04" /><Relationship Type="http://schemas.openxmlformats.org/officeDocument/2006/relationships/tableStyles" Target="/ppt/tableStyles.xml" Id="R4075d48316804c9c" /><Relationship Type="http://schemas.openxmlformats.org/officeDocument/2006/relationships/slide" Target="/ppt/slides/slide1.xml" Id="R6644fc551f3c4e4c" /><Relationship Type="http://schemas.openxmlformats.org/officeDocument/2006/relationships/slide" Target="/ppt/slides/slide2.xml" Id="Rfefb2e04f6cd464a" /><Relationship Type="http://schemas.openxmlformats.org/officeDocument/2006/relationships/slide" Target="/ppt/slides/slide3.xml" Id="R27436c36d68e41a7" /><Relationship Type="http://schemas.openxmlformats.org/officeDocument/2006/relationships/slide" Target="/ppt/slides/slide4.xml" Id="R64ba413c2dae44c6" /><Relationship Type="http://schemas.openxmlformats.org/officeDocument/2006/relationships/slide" Target="/ppt/slides/slide5.xml" Id="R4684e960489e4a39" /><Relationship Type="http://schemas.openxmlformats.org/officeDocument/2006/relationships/slide" Target="/ppt/slides/slide6.xml" Id="Ree98d99652b24a0f" /><Relationship Type="http://schemas.openxmlformats.org/officeDocument/2006/relationships/slide" Target="/ppt/slides/slide7.xml" Id="R2076abd68fa649a8" /><Relationship Type="http://schemas.openxmlformats.org/officeDocument/2006/relationships/slide" Target="/ppt/slides/slide8.xml" Id="Rff80a1b8737b4d11" /><Relationship Type="http://schemas.openxmlformats.org/officeDocument/2006/relationships/slide" Target="/ppt/slides/slide9.xml" Id="R87f69aeeec9d4ee2" /><Relationship Type="http://schemas.openxmlformats.org/officeDocument/2006/relationships/slide" Target="/ppt/slides/slide10.xml" Id="Ra478f5fc8b9140f4" /><Relationship Type="http://schemas.openxmlformats.org/officeDocument/2006/relationships/slide" Target="/ppt/slides/slide11.xml" Id="Ra15f1cbcdc5e4d63" /><Relationship Type="http://schemas.openxmlformats.org/officeDocument/2006/relationships/slide" Target="/ppt/slides/slide12.xml" Id="R48180c9d70a44750" /><Relationship Type="http://schemas.openxmlformats.org/officeDocument/2006/relationships/slide" Target="/ppt/slides/slide13.xml" Id="Raf50dbdc2490415a" /><Relationship Type="http://schemas.openxmlformats.org/officeDocument/2006/relationships/slide" Target="/ppt/slides/slide14.xml" Id="R100b571ec60f4824" /><Relationship Type="http://schemas.openxmlformats.org/officeDocument/2006/relationships/slide" Target="/ppt/slides/slide15.xml" Id="Rcbf9513115554b4f" /><Relationship Type="http://schemas.openxmlformats.org/officeDocument/2006/relationships/slide" Target="/ppt/slides/slide16.xml" Id="Re66a85fab80c4a6e" /><Relationship Type="http://schemas.openxmlformats.org/officeDocument/2006/relationships/slide" Target="/ppt/slides/slide17.xml" Id="R6c74decd096742db" /><Relationship Type="http://schemas.openxmlformats.org/officeDocument/2006/relationships/slide" Target="/ppt/slides/slide18.xml" Id="Rff469e54e5fe4f6b" /><Relationship Type="http://schemas.openxmlformats.org/officeDocument/2006/relationships/slide" Target="/ppt/slides/slide19.xml" Id="R3eeec029255940c7" /><Relationship Type="http://schemas.openxmlformats.org/officeDocument/2006/relationships/slide" Target="/ppt/slides/slide20.xml" Id="R05c60255cf044677" /><Relationship Type="http://schemas.openxmlformats.org/officeDocument/2006/relationships/slide" Target="/ppt/slides/slide21.xml" Id="R08d85084795e4aa3" /><Relationship Type="http://schemas.openxmlformats.org/officeDocument/2006/relationships/slide" Target="/ppt/slides/slide22.xml" Id="Rb05ca31a7b304c6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75dab6174f94e6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e86655bb19c4671" /><Relationship Type="http://schemas.openxmlformats.org/officeDocument/2006/relationships/notesMaster" Target="/ppt/notesMasters/notesMaster1.xml" Id="R03f3cd4f2d6f4ae4" /></Relationships>
</file>

<file path=ppt/notesSlides/_rels/notesSlide2.xml.rels>&#65279;<?xml version="1.0" encoding="utf-8"?><Relationships xmlns="http://schemas.openxmlformats.org/package/2006/relationships"><Relationship Type="http://schemas.openxmlformats.org/officeDocument/2006/relationships/slide" Target="/ppt/slides/slide2.xml" Id="R9f17b5a01c3b4edb" /><Relationship Type="http://schemas.openxmlformats.org/officeDocument/2006/relationships/notesMaster" Target="/ppt/notesMasters/notesMaster1.xml" Id="R58f1901ae7ee4a86" /></Relationships>
</file>

<file path=ppt/notesSlides/_rels/notesSlide3.xml.rels>&#65279;<?xml version="1.0" encoding="utf-8"?><Relationships xmlns="http://schemas.openxmlformats.org/package/2006/relationships"><Relationship Type="http://schemas.openxmlformats.org/officeDocument/2006/relationships/slide" Target="/ppt/slides/slide3.xml" Id="R6f2537bd9c2f41bb" /><Relationship Type="http://schemas.openxmlformats.org/officeDocument/2006/relationships/notesMaster" Target="/ppt/notesMasters/notesMaster1.xml" Id="R12b6bfd79c8b4593" /></Relationships>
</file>

<file path=ppt/notesSlides/_rels/notesSlide4.xml.rels>&#65279;<?xml version="1.0" encoding="utf-8"?><Relationships xmlns="http://schemas.openxmlformats.org/package/2006/relationships"><Relationship Type="http://schemas.openxmlformats.org/officeDocument/2006/relationships/slide" Target="/ppt/slides/slide4.xml" Id="R9dcab28af62b48ad" /><Relationship Type="http://schemas.openxmlformats.org/officeDocument/2006/relationships/notesMaster" Target="/ppt/notesMasters/notesMaster1.xml" Id="Rb0f3b5d9ce164776" /></Relationships>
</file>

<file path=ppt/notesSlides/_rels/notesSlide5.xml.rels>&#65279;<?xml version="1.0" encoding="utf-8"?><Relationships xmlns="http://schemas.openxmlformats.org/package/2006/relationships"><Relationship Type="http://schemas.openxmlformats.org/officeDocument/2006/relationships/slide" Target="/ppt/slides/slide5.xml" Id="R815f9e7f7e7b4f43" /><Relationship Type="http://schemas.openxmlformats.org/officeDocument/2006/relationships/notesMaster" Target="/ppt/notesMasters/notesMaster1.xml" Id="R7fc02b45aefd4e0b" /></Relationships>
</file>

<file path=ppt/notesSlides/_rels/notesSlide6.xml.rels>&#65279;<?xml version="1.0" encoding="utf-8"?><Relationships xmlns="http://schemas.openxmlformats.org/package/2006/relationships"><Relationship Type="http://schemas.openxmlformats.org/officeDocument/2006/relationships/slide" Target="/ppt/slides/slide6.xml" Id="R31f4434cfd15450d" /><Relationship Type="http://schemas.openxmlformats.org/officeDocument/2006/relationships/notesMaster" Target="/ppt/notesMasters/notesMaster1.xml" Id="Rf00bb6e4a8d54a14" /></Relationships>
</file>

<file path=ppt/notesSlides/_rels/notesSlide7.xml.rels>&#65279;<?xml version="1.0" encoding="utf-8"?><Relationships xmlns="http://schemas.openxmlformats.org/package/2006/relationships"><Relationship Type="http://schemas.openxmlformats.org/officeDocument/2006/relationships/slide" Target="/ppt/slides/slide7.xml" Id="R20ac0e6af6bd42c8" /><Relationship Type="http://schemas.openxmlformats.org/officeDocument/2006/relationships/notesMaster" Target="/ppt/notesMasters/notesMaster1.xml" Id="Rf9bfe9ee96104b5c" /></Relationships>
</file>

<file path=ppt/notesSlides/_rels/notesSlide8.xml.rels>&#65279;<?xml version="1.0" encoding="utf-8"?><Relationships xmlns="http://schemas.openxmlformats.org/package/2006/relationships"><Relationship Type="http://schemas.openxmlformats.org/officeDocument/2006/relationships/slide" Target="/ppt/slides/slide8.xml" Id="Re9ccc23dc0274af7" /><Relationship Type="http://schemas.openxmlformats.org/officeDocument/2006/relationships/notesMaster" Target="/ppt/notesMasters/notesMaster1.xml" Id="R7628a01b718a4e12" /></Relationships>
</file>

<file path=ppt/notesSlides/_rels/notesSlide9.xml.rels>&#65279;<?xml version="1.0" encoding="utf-8"?><Relationships xmlns="http://schemas.openxmlformats.org/package/2006/relationships"><Relationship Type="http://schemas.openxmlformats.org/officeDocument/2006/relationships/slide" Target="/ppt/slides/slide9.xml" Id="R3ecb96a472b94d29" /><Relationship Type="http://schemas.openxmlformats.org/officeDocument/2006/relationships/notesMaster" Target="/ppt/notesMasters/notesMaster1.xml" Id="Ref2102e3406447a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57e1b2e1e184869" /><Relationship Type="http://schemas.openxmlformats.org/officeDocument/2006/relationships/notesMaster" Target="/ppt/notesMasters/notesMaster1.xml" Id="Re56ec061842c4e0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59f282967464dec" /><Relationship Type="http://schemas.openxmlformats.org/officeDocument/2006/relationships/notesMaster" Target="/ppt/notesMasters/notesMaster1.xml" Id="Rd4b5db1a2be2486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486e1da997a4c11" /><Relationship Type="http://schemas.openxmlformats.org/officeDocument/2006/relationships/notesMaster" Target="/ppt/notesMasters/notesMaster1.xml" Id="R1e37a7a303fd436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df9ef493c6446f9" /><Relationship Type="http://schemas.openxmlformats.org/officeDocument/2006/relationships/notesMaster" Target="/ppt/notesMasters/notesMaster1.xml" Id="R890b4abf18f5432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9c934316bdd47c9" /><Relationship Type="http://schemas.openxmlformats.org/officeDocument/2006/relationships/notesMaster" Target="/ppt/notesMasters/notesMaster1.xml" Id="R727081df8f31415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70aed20f3a04b87" /><Relationship Type="http://schemas.openxmlformats.org/officeDocument/2006/relationships/notesMaster" Target="/ppt/notesMasters/notesMaster1.xml" Id="R255ce58a39dd4aa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7e85a61d19c4209" /><Relationship Type="http://schemas.openxmlformats.org/officeDocument/2006/relationships/notesMaster" Target="/ppt/notesMasters/notesMaster1.xml" Id="Rb87d9efae7894b7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9aa8e68467a4e45" /><Relationship Type="http://schemas.openxmlformats.org/officeDocument/2006/relationships/notesMaster" Target="/ppt/notesMasters/notesMaster1.xml" Id="R11fa7a1e2c2341b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432aa34ae554b82" /><Relationship Type="http://schemas.openxmlformats.org/officeDocument/2006/relationships/notesMaster" Target="/ppt/notesMasters/notesMaster1.xml" Id="R11ff8a3b36014c1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1439e1a195b4582" /><Relationship Type="http://schemas.openxmlformats.org/officeDocument/2006/relationships/notesMaster" Target="/ppt/notesMasters/notesMaster1.xml" Id="Rcb143ac94709425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5a00f9702cd4bfd" /><Relationship Type="http://schemas.openxmlformats.org/officeDocument/2006/relationships/notesMaster" Target="/ppt/notesMasters/notesMaster1.xml" Id="R1bf0708426044cb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8c919910d1e4b5e" /><Relationship Type="http://schemas.openxmlformats.org/officeDocument/2006/relationships/notesMaster" Target="/ppt/notesMasters/notesMaster1.xml" Id="Rb8d313b46ad2458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814a5ac6b7844f5" /><Relationship Type="http://schemas.openxmlformats.org/officeDocument/2006/relationships/notesMaster" Target="/ppt/notesMasters/notesMaster1.xml" Id="R47f38996e7434af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Здравствуйте! Меня зовут Полина Рощина. Моя работа посвящена персонализированным рекомендациям: модель по истории действий пользователя Авито рекомендует и ранжирует новые для него категории. Начну с бизнес-проблемы, из которой выросла работа.</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Раздел «Услуги» растёт в основном не за счёт внешней аудитории. Внешними мы называем покупателей, у которых первое действие на Авито было сразу в «Услугах». Таких новых покупателей становится меньше: в июле–сентябре 2025 года их примерно на 23 процента меньше, чем годом раньше, а всех новых покупателей — примерно на 6 процентов меньше. Большая часть новых покупателей услуг уже пользовалась другими разделами Авито. Поэтому важно не только привлекать людей извне, но и помогать текущим пользователям находить новые для них категории. Внутренние переходы становятся важным источником роста, и для этого нужно понимать, какая новая категория подходит конкретному человеку, а не всей аудитории сразу.</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До этой работы использовалась модель перетоков. Она брала действия пользователей за один месяц и на уровне всей аудитории искала общие переходы вида «категория A → категория B». Первое действие в паре должно произойти раньше второго, но события не обязаны идти подряд. Например, пользователь сначала продавал еду, потом интересовался бизнес-услугами, потом техникой — получаются три пары, как на слайде. Если после действий в A пользователи заметно чаще обычного переходили в B, пара становилась кандидатом для CRM-кампании. Модель помогала выбирать направления кампаний, но строила общую закономерность по аудитории, а не индивидуальный список для каждого пользователя.</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У модели перетоков четыре ограничения. Один и тот же переход применялся ко всей аудитории исходной категории, хотя истории у людей разные. Учитывались только парные связи, поэтому терялись порядок действий и несколько одновременных потребностей. Тип действия — покупатель или продавец — задавался заранее и строго. И история ограничивалась данными за месяц. В двух CRM-кампаниях по этой модели вырос поиск, но статистически значимого роста контактов и покупателей мы не получили. Поэтому понадобилась персонализированная модель.</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Новая модель строит по истории действий индивидуальный эмбеддинг пользователя — вектор чисел, который описывает его поведение. У каждой категории тоже есть свой эмбеддинг. Модель сравнивает пользователя со всеми допустимыми новыми категориями и получает для каждой оценку. Это не только ранжирование: сначала модель оценивает все новые категории, затем из категорий с наибольшими оценками формирует персонализированную рекомендацию. Поэтому разные пользователи из одной исходной категории получают разные следующие шаги.</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Цель работы — по истории действий пользователя отобрать новые категории для рекомендации и использовать оценки модели для формирования CRM-аудитории. Основной сценарий — пользователь и категории: модель формирует для человека список новых категорий. Второй сценарий — категория и пользователи: категорию фиксируем и сортируем всех допустимых пользователей по её оценке, чтобы собрать аудиторию CRM-кампании. Оценка задаёт порядок, но не является вероятностью контакта.</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Для выбранной даты прогноза модель видит только предыдущие 90 дней: просмотры, добавления в избранное и контакты. Правильными ответами становятся категории, где в следующие 14 дней появился контакт и где контакта не было в предыдущие 90 дней. Просмотры и избранное не делают категорию знакомой — критерий именно контакт. Правильных категорий может быть несколько. Знакомые категории не рекомендуем, но действия в них остаются в истории: они помогают понять другие потребности. Единица прогноза — пара «пользователь и детальная категория»; категория задаётся полным путём в каталоге.</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Данные — журнал событий пользователей с августа 2025 по август 2026 года: около 823 миллионов событий, 70 миллионов контактов и 2,6 миллиона пользователей. Модель работает с каталогом из 351 детальной категории. Типов событий четыре: search — слабый сигнал интереса, fav — добавление в избранное, и два технических типа контакта, dab и dtb. Целевой контакт — dab или dtb в новой для пользователя категории в течение 14 дней после даты прогноза. Идентификатор пользователя нужен только для того, чтобы собрать его события в одну историю, модели как признак он не передаётся. Полный обучающий пул — около 2 миллионов уникальных пользователей, исходная аудитория шире.</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Один обучающий пример — это пользователь на конкретную дату прогноза. Слева то, что модель видит: действия за предыдущие 90 дней. Справа правильные ответы: новые категории, где в следующие 14 дней появился контакт. В этом условном примере человек смотрел телефоны, добавил в избранное автотовары и интересовался ремонтом квартиры, а после даты прогноза впервые связался с мастером по ремонту техники и с организатором мероприятий — обе категории правильные. Граница прогноза постепенно сдвигается по календарю: для каждой новой даты заново берутся 90 дней прошлого и 14 дней будущего. Так модель получает больше примеров, но в каждом использует только то, что было известно на тот момент. Длинные серии одинаковых просмотров одной категории сокращаются, остаётся не больше пяти последних, иначе повторные открытия одного объявления вытеснили бы всё остальное. Затем оставляем последние 128 событий — это максимум действий в истории, а не 128 дней. В основное сравнение входят истории не короче пяти событий. Примерно в 20 процентах примеров есть новый будущий контакт, и примерно у 30 процентов таких примеров правильных категорий несколько.</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Случайное перемешивание пользователей здесь не используется: иначе модель увидела бы более позднее поведение и получила бы завышенную оценку. Основная схема такая: ранние периоды — обучение, следующий период — выбор лучшей эпохи, последний период — итоговая оценка, которая не участвует в настройке. После каждой эпохи качество проверяется на следующем по времени периоде. В дополнительных проверках вся схема сдвигается: к обучению добавляется следующий доступный период, а проверка переносится ещё на месяц вперёд. Все частоты и параметры базовых методов считаются только по прошлым данным. На итоговом периоде все сравниваемые методы получают одних и тех же 100 тысяч пользователей, одинаковые правильные категории и одинаковые правила исключения знакомых категорий. Это воспроизводит реальную ситуацию: модель обучается на известной истории и работает на будущем периоде.</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ComiRec-SA выбрана потому, что сочетает последовательный энкодер и несколько скрытых представлений пользователя. PureSVD остаётся сильным персонализированным ориентиром, но не моделирует порядок и давность событий. Наша адаптация добавляет тип и время действия, несколько правильных категорий и правило новизны.</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Каждое событие описывается четырьмя обучаемыми векторами: категории, типа действия, позиции в последовательности и давности относительно даты прогноза. Они складываются в одно описание события. Затем последовательность проходит через два слоя Transformer с четырьмя головами внимания: каждое событие учитывает контекст остальных. Дальше два обучаемых запроса распределяют внимание по событиям и формируют два разных эмбеддинга пользователя. У каждой из 351 категории тоже есть эмбеддинг; для категории модель берёт большее из двух совпадений с эмбеддингами пользователя. Поэтому категория может подняться в выдаче, даже если связана только с одной частью поведения человека. После исключения знакомых категорий первые пять — это рекомендации. Размерность 128 означает, что каждое событие и каждая категория описываются набором из 128 обучаемых чисел: это ширина внутреннего представления, а не число интересов или категорий. Оценка задаёт порядок категорий, но не является вероятностью контакта.</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Модель выдаёт 351 оценку. Для каждой допустимой категории независимо считается бинарная кросс-энтропия; положительный класс имеет вес 50. Два регуляризатора уменьшают дублирование скрытых представлений и внимания. Все компоненты обучаются совместно AdamW. Полный запуск прошёл 12 эпох, лучшей стала двенадцатая. Основной результат — один запуск seed 42; три seed относятся только к масштабированию d=64.</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На одной аудитории сравниваются шесть методов. Все получают одинаковые цели и маски кандидатов, но объёмы обучения различаются: PureSVD использует до 768 708 примеров, полная d128 — 4 162 636. Поэтому это сравнение завершённых методов, а не изолированный эффект архитектуры. Метрики считаются среди пользователей, у которых в будущем действительно был новый контакт.</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На 100 тысячах пользователей полная d128 получила Recall@5 0,4046. PureSVD — 0,3074, 30-дневная адаптация переходов — 0,1685. Разность с PureSVD 0,0973; 95-процентный интервал от 0,0948 до 0,0996, то есть преимущество статистически значимо при α 0,05. По NDCG значения 0,3130 и 0,2332. Интервалы относятся к фиксированным прогнозам и не включают разброс повторного обучения.</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Кривую объёма данных строили на компактной d64. Полный пул лучше 1,2 миллиона во всех трёх инициализациях, средний прирост 0,00294. Затем d128 обучили на том же полном пуле: 12 эпох на H100 заняли 2 часа 9 минут. На общей аудитории d128 получила 0,4046 против 0,3986 у d64; разность 0,0060 статистически значима. Времена относятся к разным ускорителям, поэтому это не чистый тест скорости оборудования; 7,1 часа для исходного GPU — линейная оценка.</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Дополнительные проверки отвечают на отдельные вопросы и не подменяют главное сравнение. В d64 два скрытых представления лучше одного. Для 180 дней статистически значимого преимущества нет, поэтому оставлены 90 дней. На полной d128 качество ниже у длинных историй и при нескольких правильных категориях.</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Оценки поддерживают два сценария. Для пользователя сортируются категории; для заданной категории сортируются все допустимые пользователи. Второй сценарий проверен отдельно на шести категориях с d64. Для стройматериалов среди первых 100 пользователей будущий контакт совершили 25 процентов при базовой доле около одного процента. Это ретроспективное качество отбора, а не причинный эффект CRM.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Две кампании старой модели дали рост поиска, но не значимый рост контактов и покупателей. Кампания на аудитории новой модели дала рост целевых контактов 36,1 процента и покупателей 23 процента. Кампании различались условиями, поэтому это не прямое сравнение алгоритмов, а более сильный продуктовый сигнал, который требует повторения.</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Основной вывод: гипотеза получила эмпирическую поддержку. Полная d128 обучена на всём пуле и статистически значимо превосходит PureSVD и адаптацию модели переходов. На полном объёме она также немного лучше d64. Система поддерживает два сценария, но обратное ранжирование пока проверено на шести категориях, а продуктовый эффект требует повторного теста.</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После выводов можно показать два QR-кода: слева — воспроизводимый репозиторий с кодом, конфигурациями и агрегированными результатами; справа — финальный текст курсовой. Этот слайд не входит в нумерацию основной защиты.</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Основные работы. Матричная факторизация и PureSVD — классический персонализированный ориентир. GRU4Rec, SASRec и BERT4Rec — последовательные модели; TiSASRec объясняет, зачем учитывать интервалы между событиями. MIND и ComiRec-SA — модели с несколькими эмбеддингами пользователя, ComiRec-SA — основа работы. HSTU — пример крупной промышленной последовательной модели. Отдельно — работа о стратегиях разделения данных для оценки рекомендательных систем. Полные описания — в тексте курсовой.</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65c8d946a064209"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061f0eef56c4ddc" /><Relationship Type="http://schemas.openxmlformats.org/officeDocument/2006/relationships/slideLayout" Target="/ppt/slideLayouts/slideLayout1.xml" Id="R8ecad68097ba4893"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ecad68097ba4893"/>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f67ad7fcc5a4b48" /><Relationship Type="http://schemas.openxmlformats.org/officeDocument/2006/relationships/image" Target="/ppt/media/image.jpeg" Id="Rc5182cb2f9d74a96" /><Relationship Type="http://schemas.openxmlformats.org/officeDocument/2006/relationships/image" Target="/ppt/media/image.png" Id="R8ec3d859569e4916" /><Relationship Type="http://schemas.openxmlformats.org/officeDocument/2006/relationships/notesSlide" Target="/ppt/notesSlides/notesSlide1.xml" Id="R7cf6edc1852a49f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f88ceea603c445a" /><Relationship Type="http://schemas.openxmlformats.org/officeDocument/2006/relationships/image" Target="/ppt/media/image2.png" Id="R268794ba92a147b8" /><Relationship Type="http://schemas.openxmlformats.org/officeDocument/2006/relationships/notesSlide" Target="/ppt/notesSlides/notesSlide2.xml" Id="R6fb71059be064ac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8ceb2ac30654008" /><Relationship Type="http://schemas.openxmlformats.org/officeDocument/2006/relationships/image" Target="/ppt/media/image3.png" Id="R9802566a177a4b8f" /><Relationship Type="http://schemas.openxmlformats.org/officeDocument/2006/relationships/notesSlide" Target="/ppt/notesSlides/notesSlide3.xml" Id="Rd0c499015d5d499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555ca39807649c1" /><Relationship Type="http://schemas.openxmlformats.org/officeDocument/2006/relationships/image" Target="/ppt/media/image4.png" Id="Racb26df6f5e64d7a" /><Relationship Type="http://schemas.openxmlformats.org/officeDocument/2006/relationships/notesSlide" Target="/ppt/notesSlides/notesSlide4.xml" Id="Rdcac6911b541451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5e2b2a2942648f9" /><Relationship Type="http://schemas.openxmlformats.org/officeDocument/2006/relationships/image" Target="/ppt/media/image5.png" Id="R04718e7c0c3544e3" /><Relationship Type="http://schemas.openxmlformats.org/officeDocument/2006/relationships/notesSlide" Target="/ppt/notesSlides/notesSlide5.xml" Id="Rf7b0f2b3d1b34a0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4b53a88c5404c9b" /><Relationship Type="http://schemas.openxmlformats.org/officeDocument/2006/relationships/image" Target="/ppt/media/image6.png" Id="Rbb2ec029cd3e4351" /><Relationship Type="http://schemas.openxmlformats.org/officeDocument/2006/relationships/notesSlide" Target="/ppt/notesSlides/notesSlide6.xml" Id="R52694e04b0c44bc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37e3b4d2ff74453" /><Relationship Type="http://schemas.openxmlformats.org/officeDocument/2006/relationships/image" Target="/ppt/media/image7.png" Id="R686d1f1a68c44ba1" /><Relationship Type="http://schemas.openxmlformats.org/officeDocument/2006/relationships/notesSlide" Target="/ppt/notesSlides/notesSlide7.xml" Id="R79cba67d11cd457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5914514d04a4fed" /><Relationship Type="http://schemas.openxmlformats.org/officeDocument/2006/relationships/image" Target="/ppt/media/image8.png" Id="Re44bd4ae2ce4464f" /><Relationship Type="http://schemas.openxmlformats.org/officeDocument/2006/relationships/notesSlide" Target="/ppt/notesSlides/notesSlide8.xml" Id="Rd22fd4f441054e4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737c6b264c34c96" /><Relationship Type="http://schemas.openxmlformats.org/officeDocument/2006/relationships/image" Target="/ppt/media/image9.png" Id="R089a4c37a7fc4f42" /><Relationship Type="http://schemas.openxmlformats.org/officeDocument/2006/relationships/notesSlide" Target="/ppt/notesSlides/notesSlide9.xml" Id="R47152d88603d41c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d8902b7b67e439b" /><Relationship Type="http://schemas.openxmlformats.org/officeDocument/2006/relationships/image" Target="/ppt/media/image10.png" Id="R2db1a17e5d5e4fe2" /><Relationship Type="http://schemas.openxmlformats.org/officeDocument/2006/relationships/notesSlide" Target="/ppt/notesSlides/notesSlide10.xml" Id="Ra378fa5f0a4f475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43074e0a4874041" /><Relationship Type="http://schemas.openxmlformats.org/officeDocument/2006/relationships/image" Target="/ppt/media/image11.png" Id="R7f48104a700849ef" /><Relationship Type="http://schemas.openxmlformats.org/officeDocument/2006/relationships/notesSlide" Target="/ppt/notesSlides/notesSlide11.xml" Id="R2cc16027ebbb4cf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9db60b509ba468b" /><Relationship Type="http://schemas.openxmlformats.org/officeDocument/2006/relationships/image" Target="/ppt/media/image12.png" Id="Rf8cc76050e834330" /><Relationship Type="http://schemas.openxmlformats.org/officeDocument/2006/relationships/notesSlide" Target="/ppt/notesSlides/notesSlide12.xml" Id="R434a0b81a0724a5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faaefbced164adf" /><Relationship Type="http://schemas.openxmlformats.org/officeDocument/2006/relationships/image" Target="/ppt/media/image13.png" Id="Rb23c3bb20cb946d8" /><Relationship Type="http://schemas.openxmlformats.org/officeDocument/2006/relationships/notesSlide" Target="/ppt/notesSlides/notesSlide13.xml" Id="R052a9011c90b4a1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18356cfc5154e88" /><Relationship Type="http://schemas.openxmlformats.org/officeDocument/2006/relationships/image" Target="/ppt/media/image14.png" Id="R95758bf4c9ee4276" /><Relationship Type="http://schemas.openxmlformats.org/officeDocument/2006/relationships/notesSlide" Target="/ppt/notesSlides/notesSlide14.xml" Id="R9db07084305b4ae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c0f1ae98e4145d4" /><Relationship Type="http://schemas.openxmlformats.org/officeDocument/2006/relationships/image" Target="/ppt/media/image15.png" Id="Rab72791d05f24f31" /><Relationship Type="http://schemas.openxmlformats.org/officeDocument/2006/relationships/chart" Target="/ppt/slides/charts/chart1.xml" Id="Rea8a3e073a5647a8" /><Relationship Type="http://schemas.openxmlformats.org/officeDocument/2006/relationships/notesSlide" Target="/ppt/notesSlides/notesSlide15.xml" Id="R7a9b2829867e4eb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fa4f5ee0b404914" /><Relationship Type="http://schemas.openxmlformats.org/officeDocument/2006/relationships/image" Target="/ppt/media/image16.png" Id="Rbc8c84176a294f3c" /><Relationship Type="http://schemas.openxmlformats.org/officeDocument/2006/relationships/chart" Target="/ppt/slides/charts/chart2.xml" Id="R52cf73a3d61c4870" /><Relationship Type="http://schemas.openxmlformats.org/officeDocument/2006/relationships/notesSlide" Target="/ppt/notesSlides/notesSlide16.xml" Id="R8dfbf1c378b542d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e3c0913b12a4dbc" /><Relationship Type="http://schemas.openxmlformats.org/officeDocument/2006/relationships/image" Target="/ppt/media/image17.png" Id="R680f70413b2c4b9a" /><Relationship Type="http://schemas.openxmlformats.org/officeDocument/2006/relationships/notesSlide" Target="/ppt/notesSlides/notesSlide17.xml" Id="R879501af305944b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ae26e8245a148d8" /><Relationship Type="http://schemas.openxmlformats.org/officeDocument/2006/relationships/image" Target="/ppt/media/image18.png" Id="Rc05264b8c9bb49a2" /><Relationship Type="http://schemas.openxmlformats.org/officeDocument/2006/relationships/notesSlide" Target="/ppt/notesSlides/notesSlide18.xml" Id="R8abab67c633b4c4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46c1816dd5ca4b61" /><Relationship Type="http://schemas.openxmlformats.org/officeDocument/2006/relationships/image" Target="/ppt/media/image19.png" Id="R49a0aea7d3b34486" /><Relationship Type="http://schemas.openxmlformats.org/officeDocument/2006/relationships/notesSlide" Target="/ppt/notesSlides/notesSlide19.xml" Id="R626cb5357f2247d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2284cd86165a4d70" /><Relationship Type="http://schemas.openxmlformats.org/officeDocument/2006/relationships/image" Target="/ppt/media/image20.png" Id="Rf6ef8df0377647b1" /><Relationship Type="http://schemas.openxmlformats.org/officeDocument/2006/relationships/notesSlide" Target="/ppt/notesSlides/notesSlide20.xml" Id="R090865216ec346d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836ef3c39cbf4ca1" /><Relationship Type="http://schemas.openxmlformats.org/officeDocument/2006/relationships/image" Target="/ppt/media/image21.png" Id="R2a350b72289444dc" /><Relationship Type="http://schemas.openxmlformats.org/officeDocument/2006/relationships/image" Target="/ppt/media/image22.png" Id="R73a4b9fcb951460f" /><Relationship Type="http://schemas.openxmlformats.org/officeDocument/2006/relationships/image" Target="/ppt/media/image23.png" Id="Re2332418c322430a" /><Relationship Type="http://schemas.openxmlformats.org/officeDocument/2006/relationships/notesSlide" Target="/ppt/notesSlides/notesSlide21.xml" Id="Rae0d224b4441433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2c6552f5f4634fa8" /><Relationship Type="http://schemas.openxmlformats.org/officeDocument/2006/relationships/image" Target="/ppt/media/image24.png" Id="R7e9ebaadde5744bb" /><Relationship Type="http://schemas.openxmlformats.org/officeDocument/2006/relationships/notesSlide" Target="/ppt/notesSlides/notesSlide22.xml" Id="R9e3b02b0257a4005"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200">
                <a:solidFill>
                  <a:srgbClr val="173773"/>
                </a:solidFill>
                <a:latin typeface="Arial"/>
                <a:ea typeface="Arial"/>
                <a:cs typeface="Arial"/>
              </a:rPr>
              <a:t>Recall@5</a:t>
            </a:r>
          </a:p>
        </c:rich>
      </c:tx>
      <c:overlay val="0"/>
      <c:txPr>
        <a:bodyPr xmlns:a="http://schemas.openxmlformats.org/drawingml/2006/main" anchorCtr="1"/>
        <a:lstStyle xmlns:a="http://schemas.openxmlformats.org/drawingml/2006/main"/>
        <a:p xmlns:a="http://schemas.openxmlformats.org/drawingml/2006/main">
          <a:pPr>
            <a:defRPr sz="1200">
              <a:solidFill>
                <a:srgbClr val="173773"/>
              </a:solidFill>
              <a:latin typeface="Arial"/>
              <a:ea typeface="Arial"/>
              <a:cs typeface="Arial"/>
            </a:defRPr>
          </a:pPr>
        </a:p>
      </c:txPr>
    </c:title>
    <c:plotArea>
      <c:barChart>
        <c:barDir val="col"/>
        <c:grouping val="clustered"/>
        <c:varyColors val="0"/>
        <c:ser>
          <c:idx val="0"/>
          <c:order val="0"/>
          <c:tx>
            <c:v>Recall@5</c:v>
          </c:tx>
          <c:spPr>
            <a:solidFill xmlns:a="http://schemas.openxmlformats.org/drawingml/2006/main">
              <a:srgbClr val="2F55A4"/>
            </a:solidFill>
          </c:spPr>
          <c:cat>
            <c:strLit>
              <c:ptCount val="6"/>
              <c:pt idx="0">
                <c:v>Случайное</c:v>
              </c:pt>
              <c:pt idx="1">
                <c:v>Популярность</c:v>
              </c:pt>
              <c:pt idx="2">
                <c:v>Переходы
30 дней</c:v>
              </c:pt>
              <c:pt idx="3">
                <c:v>Совместная
встречаемость</c:v>
              </c:pt>
              <c:pt idx="4">
                <c:v>PureSVD</c:v>
              </c:pt>
              <c:pt idx="5">
                <c:v>Transformer
d=128</c:v>
              </c:pt>
            </c:strLit>
          </c:cat>
          <c:val>
            <c:numLit>
              <c:formatCode>0.000</c:formatCode>
              <c:ptCount val="6"/>
              <c:pt idx="0">
                <c:v>0.0149696</c:v>
              </c:pt>
              <c:pt idx="1">
                <c:v>0.1476526</c:v>
              </c:pt>
              <c:pt idx="2">
                <c:v>0.1685121</c:v>
              </c:pt>
              <c:pt idx="3">
                <c:v>0.2497325</c:v>
              </c:pt>
              <c:pt idx="4">
                <c:v>0.3073833</c:v>
              </c:pt>
              <c:pt idx="5">
                <c:v>0.4046339</c:v>
              </c:pt>
            </c:numLit>
          </c:val>
        </c:ser>
        <c:gapWidth val="5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00">
                <a:solidFill>
                  <a:srgbClr val="173773"/>
                </a:solidFill>
                <a:latin typeface="Arial"/>
                <a:ea typeface="Arial"/>
                <a:cs typeface="Arial"/>
              </a:defRPr>
            </a:pPr>
          </a:p>
        </c:txPr>
        <c:crossAx val="48672768"/>
      </c:catAx>
      <c:valAx>
        <c:axId val="48672768"/>
        <c:scaling>
          <c:orientation val="minMax"/>
          <c:max val="0.45"/>
          <c:min val="0"/>
        </c:scaling>
        <c:delete val="0"/>
        <c:axPos val="l"/>
        <c:majorGridlines>
          <c:spPr>
            <a:ln xmlns:a="http://schemas.openxmlformats.org/drawingml/2006/main" w="9525">
              <a:solidFill>
                <a:srgbClr val="D9E0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75">
                <a:solidFill>
                  <a:srgbClr val="FFFFFF"/>
                </a:solidFill>
                <a:latin typeface="Arial"/>
                <a:ea typeface="Arial"/>
                <a:cs typeface="Arial"/>
              </a:defRPr>
            </a:pPr>
          </a:p>
        </c:txPr>
        <c:crossAx val="48650112"/>
        <c:crossBetween val="between"/>
        <c:majorUnit val="0.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125">
                <a:solidFill>
                  <a:srgbClr val="173773"/>
                </a:solidFill>
                <a:latin typeface="Arial"/>
                <a:ea typeface="Arial"/>
                <a:cs typeface="Arial"/>
              </a:rPr>
              <a:t>d=64: качество при росте обучающего пула</a:t>
            </a:r>
          </a:p>
        </c:rich>
      </c:tx>
      <c:overlay val="0"/>
      <c:txPr>
        <a:bodyPr xmlns:a="http://schemas.openxmlformats.org/drawingml/2006/main" anchorCtr="1"/>
        <a:lstStyle xmlns:a="http://schemas.openxmlformats.org/drawingml/2006/main"/>
        <a:p xmlns:a="http://schemas.openxmlformats.org/drawingml/2006/main">
          <a:pPr>
            <a:defRPr sz="1125">
              <a:solidFill>
                <a:srgbClr val="173773"/>
              </a:solidFill>
              <a:latin typeface="Arial"/>
              <a:ea typeface="Arial"/>
              <a:cs typeface="Arial"/>
            </a:defRPr>
          </a:pPr>
        </a:p>
      </c:txPr>
    </c:title>
    <c:plotArea>
      <c:scatterChart>
        <c:scatterStyle val="lineMarker"/>
        <c:varyColors val="0"/>
        <c:ser>
          <c:idx val="0"/>
          <c:order val="0"/>
          <c:tx>
            <c:v>Recall@5</c:v>
          </c:tx>
          <c:spPr>
            <a:ln xmlns:a="http://schemas.openxmlformats.org/drawingml/2006/main" w="28575">
              <a:solidFill>
                <a:srgbClr val="2F55A4"/>
              </a:solidFill>
              <a:prstDash val="solid"/>
            </a:ln>
          </c:spPr>
          <c:marker>
            <c:symbol val="circle"/>
            <c:size val="7"/>
          </c:marker>
          <c:xVal>
            <c:numLit>
              <c:formatCode>0.0</c:formatCode>
              <c:ptCount val="7"/>
              <c:pt idx="0">
                <c:v>0.2</c:v>
              </c:pt>
              <c:pt idx="1">
                <c:v>0.4</c:v>
              </c:pt>
              <c:pt idx="2">
                <c:v>0.6</c:v>
              </c:pt>
              <c:pt idx="3">
                <c:v>0.8</c:v>
              </c:pt>
              <c:pt idx="4">
                <c:v>1.2</c:v>
              </c:pt>
              <c:pt idx="5">
                <c:v>1.6</c:v>
              </c:pt>
              <c:pt idx="6">
                <c:v>1.985972</c:v>
              </c:pt>
            </c:numLit>
          </c:xVal>
          <c:yVal>
            <c:numLit>
              <c:formatCode>0.0000</c:formatCode>
              <c:ptCount val="7"/>
              <c:pt idx="0">
                <c:v>0.383967</c:v>
              </c:pt>
              <c:pt idx="1">
                <c:v>0.389105</c:v>
              </c:pt>
              <c:pt idx="2">
                <c:v>0.39358</c:v>
              </c:pt>
              <c:pt idx="3">
                <c:v>0.395119</c:v>
              </c:pt>
              <c:pt idx="4">
                <c:v>0.394792</c:v>
              </c:pt>
              <c:pt idx="5">
                <c:v>0.395855</c:v>
              </c:pt>
              <c:pt idx="6">
                <c:v>0.398646</c:v>
              </c:pt>
            </c:numLit>
          </c:yVal>
        </c:ser>
        <c:axId val="48650112"/>
        <c:axId val="48672768"/>
      </c:scatterChart>
      <c:valAx>
        <c:axId val="48672768"/>
        <c:scaling>
          <c:orientation val="minMax"/>
          <c:max val="0.45"/>
          <c:min val="0"/>
        </c:scaling>
        <c:delete val="0"/>
        <c:axPos val="l"/>
        <c:majorGridlines>
          <c:spPr>
            <a:ln xmlns:a="http://schemas.openxmlformats.org/drawingml/2006/main" w="9525">
              <a:solidFill>
                <a:srgbClr val="D9E0E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75">
                <a:solidFill>
                  <a:srgbClr val="FFFFFF"/>
                </a:solidFill>
                <a:latin typeface="Arial"/>
                <a:ea typeface="Arial"/>
                <a:cs typeface="Arial"/>
              </a:defRPr>
            </a:pPr>
          </a:p>
        </c:txPr>
        <c:crossAx val="48650112"/>
        <c:majorUnit val="0.1"/>
      </c:valAx>
      <c:valAx>
        <c:axId val="48650112"/>
        <c:scaling>
          <c:orientation val="minMax"/>
          <c:max val="2.05"/>
          <c:min val="0"/>
        </c:scaling>
        <c:delete val="0"/>
        <c:axPos val="b"/>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675">
                <a:solidFill>
                  <a:srgbClr val="FFFFFF"/>
                </a:solidFill>
                <a:latin typeface="Arial"/>
                <a:ea typeface="Arial"/>
                <a:cs typeface="Arial"/>
              </a:defRPr>
            </a:pPr>
          </a:p>
        </c:txPr>
        <c:crossAx val="48672768"/>
        <c:majorUnit val="0.4"/>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slide1.xml><?xml version="1.0" encoding="utf-8"?>
<p:sld xmlns:p="http://schemas.openxmlformats.org/presentationml/2006/main">
  <p:cSld>
    <p:bg>
      <p:bgPr>
        <a:blipFill xmlns:a="http://schemas.openxmlformats.org/drawingml/2006/main" rotWithShape="1">
          <a:blip xmlns:r="http://schemas.openxmlformats.org/officeDocument/2006/relationships" r:embed="Rc5182cb2f9d74a96">
            <a:lum/>
          </a:blip>
          <a:srcRect l="0" t="0" r="0" b="0"/>
          <a:stretch>
            <a:fillRect l="0" t="0" r="0" b="0"/>
          </a:stretch>
        </a:blip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3594D488-35BB-4E13-982C-3739AEB7AFE0}"/>
              </a:ext>
            </a:extLst>
          </p:cNvPr>
          <p:cNvPicPr>
            <a:picLocks xmlns:a="http://schemas.openxmlformats.org/drawingml/2006/main" noChangeAspect="1"/>
          </p:cNvPicPr>
          <p:nvPr/>
        </p:nvPicPr>
        <p:blipFill>
          <a:blip xmlns:r="http://schemas.openxmlformats.org/officeDocument/2006/relationships" xmlns:a="http://schemas.openxmlformats.org/drawingml/2006/main" r:embed="R8ec3d859569e4916"/>
          <a:stretch xmlns:a="http://schemas.openxmlformats.org/drawingml/2006/main">
            <a:fillRect l="0" t="0" r="0" b="0"/>
          </a:stretch>
        </p:blipFill>
        <p:spPr>
          <a:xfrm xmlns:a="http://schemas.openxmlformats.org/drawingml/2006/main">
            <a:off x="758952" y="722376"/>
            <a:ext cx="667512" cy="667512"/>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9F4B6111-2ED8-40DD-8660-3EA02908E84E}"/>
              </a:ext>
            </a:extLst>
          </p:cNvPr>
          <p:cNvSpPr>
            <a:spLocks xmlns:a="http://schemas.openxmlformats.org/drawingml/2006/main" noGrp="1"/>
          </p:cNvSpPr>
          <p:nvPr/>
        </p:nvSpPr>
        <p:spPr>
          <a:xfrm xmlns:a="http://schemas.openxmlformats.org/drawingml/2006/main">
            <a:off x="1554480" y="886968"/>
            <a:ext cx="2889504"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rgbClr val="0E2D69"/>
                </a:solidFill>
                <a:latin typeface="Arial"/>
                <a:ea typeface="Arial"/>
                <a:cs typeface="Arial"/>
              </a:rPr>
              <a:t>Санкт-Петербургская школа экономики и менеджмента</a:t>
            </a:r>
            <a:endParaRPr sz="1200"/>
          </a:p>
        </p:txBody>
      </p:sp>
      <p:sp>
        <p:nvSpPr>
          <p:cNvPr id="4" name="Text 1">
            <a:extLst xmlns:a="http://schemas.openxmlformats.org/drawingml/2006/main">
              <a:ext uri="{FF2B5EF4-FFF2-40B4-BE49-F238E27FC236}">
                <a16:creationId xmlns:a16="http://schemas.microsoft.com/office/drawing/2014/main" id="{1EE35127-C591-42B8-97FD-ABD58B078A4D}"/>
              </a:ext>
            </a:extLst>
          </p:cNvPr>
          <p:cNvSpPr>
            <a:spLocks xmlns:a="http://schemas.openxmlformats.org/drawingml/2006/main" noGrp="1"/>
          </p:cNvSpPr>
          <p:nvPr/>
        </p:nvSpPr>
        <p:spPr>
          <a:xfrm xmlns:a="http://schemas.openxmlformats.org/drawingml/2006/main">
            <a:off x="4690872" y="877824"/>
            <a:ext cx="170992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a:solidFill>
                  <a:srgbClr val="0E2D69"/>
                </a:solidFill>
                <a:latin typeface="Arial"/>
                <a:ea typeface="Arial"/>
                <a:cs typeface="Arial"/>
              </a:rPr>
              <a:t>Школа информатики, физики и технологий</a:t>
            </a:r>
            <a:endParaRPr sz="900"/>
          </a:p>
        </p:txBody>
      </p:sp>
      <p:sp>
        <p:nvSpPr>
          <p:cNvPr id="5" name="Text 2">
            <a:extLst xmlns:a="http://schemas.openxmlformats.org/drawingml/2006/main">
              <a:ext uri="{FF2B5EF4-FFF2-40B4-BE49-F238E27FC236}">
                <a16:creationId xmlns:a16="http://schemas.microsoft.com/office/drawing/2014/main" id="{6CA77B99-6E8A-4D4A-88A3-4DF91C29744B}"/>
              </a:ext>
            </a:extLst>
          </p:cNvPr>
          <p:cNvSpPr>
            <a:spLocks xmlns:a="http://schemas.openxmlformats.org/drawingml/2006/main" noGrp="1"/>
          </p:cNvSpPr>
          <p:nvPr/>
        </p:nvSpPr>
        <p:spPr>
          <a:xfrm xmlns:a="http://schemas.openxmlformats.org/drawingml/2006/main">
            <a:off x="6592824" y="877824"/>
            <a:ext cx="166420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a:solidFill>
                  <a:srgbClr val="0E2D69"/>
                </a:solidFill>
                <a:latin typeface="Arial"/>
                <a:ea typeface="Arial"/>
                <a:cs typeface="Arial"/>
              </a:rPr>
              <a:t>Санкт-Петербург</a:t>
            </a:r>
            <a:endParaRPr sz="900"/>
          </a:p>
          <a:p xmlns:a="http://schemas.openxmlformats.org/drawingml/2006/main">
            <a:pPr marL="0" indent="0">
              <a:buNone/>
            </a:pPr>
            <a:r>
              <a:rPr sz="900">
                <a:solidFill>
                  <a:srgbClr val="0E2D69"/>
                </a:solidFill>
                <a:latin typeface="Arial"/>
                <a:ea typeface="Arial"/>
                <a:cs typeface="Arial"/>
              </a:rPr>
              <a:t>2026</a:t>
            </a:r>
            <a:endParaRPr sz="900"/>
          </a:p>
        </p:txBody>
      </p:sp>
      <p:sp>
        <p:nvSpPr>
          <p:cNvPr id="6" name="Shape 3">
            <a:extLst xmlns:a="http://schemas.openxmlformats.org/drawingml/2006/main">
              <a:ext uri="{FF2B5EF4-FFF2-40B4-BE49-F238E27FC236}">
                <a16:creationId xmlns:a16="http://schemas.microsoft.com/office/drawing/2014/main" id="{7CDB3A57-C1DC-4A93-B3AB-F90026FEFC07}"/>
              </a:ext>
            </a:extLst>
          </p:cNvPr>
          <p:cNvSpPr>
            <a:spLocks xmlns:a="http://schemas.openxmlformats.org/drawingml/2006/main" noGrp="1"/>
          </p:cNvSpPr>
          <p:nvPr/>
        </p:nvSpPr>
        <p:spPr>
          <a:xfrm xmlns:a="http://schemas.openxmlformats.org/drawingml/2006/main">
            <a:off x="4572000" y="740664"/>
            <a:ext cx="0" cy="630936"/>
          </a:xfrm>
          <a:prstGeom xmlns:a="http://schemas.openxmlformats.org/drawingml/2006/main" prst="line">
            <a:avLst/>
          </a:prstGeom>
          <a:noFill xmlns:a="http://schemas.openxmlformats.org/drawingml/2006/main"/>
          <a:ln xmlns:a="http://schemas.openxmlformats.org/drawingml/2006/main" w="19050">
            <a:solidFill>
              <a:srgbClr val="0E2D69"/>
            </a:solidFill>
            <a:prstDash val="solid"/>
          </a:ln>
        </p:spPr>
      </p:sp>
      <p:sp>
        <p:nvSpPr>
          <p:cNvPr id="7" name="Shape 4">
            <a:extLst xmlns:a="http://schemas.openxmlformats.org/drawingml/2006/main">
              <a:ext uri="{FF2B5EF4-FFF2-40B4-BE49-F238E27FC236}">
                <a16:creationId xmlns:a16="http://schemas.microsoft.com/office/drawing/2014/main" id="{F735E39A-38AB-436D-8733-B0D434049025}"/>
              </a:ext>
            </a:extLst>
          </p:cNvPr>
          <p:cNvSpPr>
            <a:spLocks xmlns:a="http://schemas.openxmlformats.org/drawingml/2006/main" noGrp="1"/>
          </p:cNvSpPr>
          <p:nvPr/>
        </p:nvSpPr>
        <p:spPr>
          <a:xfrm xmlns:a="http://schemas.openxmlformats.org/drawingml/2006/main">
            <a:off x="6483096" y="740664"/>
            <a:ext cx="0" cy="630936"/>
          </a:xfrm>
          <a:prstGeom xmlns:a="http://schemas.openxmlformats.org/drawingml/2006/main" prst="line">
            <a:avLst/>
          </a:prstGeom>
          <a:noFill xmlns:a="http://schemas.openxmlformats.org/drawingml/2006/main"/>
          <a:ln xmlns:a="http://schemas.openxmlformats.org/drawingml/2006/main" w="19050">
            <a:solidFill>
              <a:srgbClr val="0E2D69"/>
            </a:solidFill>
            <a:prstDash val="solid"/>
          </a:ln>
        </p:spPr>
      </p:sp>
      <p:sp>
        <p:nvSpPr>
          <p:cNvPr id="8" name="Text 5">
            <a:extLst xmlns:a="http://schemas.openxmlformats.org/drawingml/2006/main">
              <a:ext uri="{FF2B5EF4-FFF2-40B4-BE49-F238E27FC236}">
                <a16:creationId xmlns:a16="http://schemas.microsoft.com/office/drawing/2014/main" id="{5DE77568-55CF-4364-B59A-3A18983B94A2}"/>
              </a:ext>
            </a:extLst>
          </p:cNvPr>
          <p:cNvSpPr>
            <a:spLocks xmlns:a="http://schemas.openxmlformats.org/drawingml/2006/main" noGrp="1"/>
          </p:cNvSpPr>
          <p:nvPr/>
        </p:nvSpPr>
        <p:spPr>
          <a:xfrm xmlns:a="http://schemas.openxmlformats.org/drawingml/2006/main">
            <a:off x="886968" y="1828800"/>
            <a:ext cx="722376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a:solidFill>
                  <a:srgbClr val="0E2D69"/>
                </a:solidFill>
                <a:latin typeface="Arial"/>
                <a:ea typeface="Arial"/>
                <a:cs typeface="Arial"/>
              </a:rPr>
              <a:t>Рекомендательная система на основе поведенческих эмбеддингов</a:t>
            </a:r>
            <a:endParaRPr sz="2800"/>
          </a:p>
        </p:txBody>
      </p:sp>
      <p:sp>
        <p:nvSpPr>
          <p:cNvPr id="9" name="Text 6">
            <a:extLst xmlns:a="http://schemas.openxmlformats.org/drawingml/2006/main">
              <a:ext uri="{FF2B5EF4-FFF2-40B4-BE49-F238E27FC236}">
                <a16:creationId xmlns:a16="http://schemas.microsoft.com/office/drawing/2014/main" id="{9556AC47-8B64-4249-966B-1691EF7B6D24}"/>
              </a:ext>
            </a:extLst>
          </p:cNvPr>
          <p:cNvSpPr>
            <a:spLocks xmlns:a="http://schemas.openxmlformats.org/drawingml/2006/main" noGrp="1"/>
          </p:cNvSpPr>
          <p:nvPr/>
        </p:nvSpPr>
        <p:spPr>
          <a:xfrm xmlns:a="http://schemas.openxmlformats.org/drawingml/2006/main">
            <a:off x="758952" y="3657600"/>
            <a:ext cx="54864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rgbClr val="0E2D69"/>
                </a:solidFill>
                <a:latin typeface="Arial"/>
                <a:ea typeface="Arial"/>
                <a:cs typeface="Arial"/>
              </a:rPr>
              <a:t>Выполнила:</a:t>
            </a:r>
            <a:endParaRPr sz="1200"/>
          </a:p>
          <a:p xmlns:a="http://schemas.openxmlformats.org/drawingml/2006/main">
            <a:pPr marL="0" indent="0">
              <a:buNone/>
            </a:pPr>
            <a:r>
              <a:rPr sz="1200">
                <a:solidFill>
                  <a:srgbClr val="0E2D69"/>
                </a:solidFill>
                <a:latin typeface="Arial"/>
                <a:ea typeface="Arial"/>
                <a:cs typeface="Arial"/>
              </a:rPr>
              <a:t>Студентка МОАД</a:t>
            </a:r>
            <a:endParaRPr sz="1200"/>
          </a:p>
          <a:p xmlns:a="http://schemas.openxmlformats.org/drawingml/2006/main">
            <a:pPr marL="0" indent="0">
              <a:buNone/>
            </a:pPr>
            <a:r>
              <a:rPr sz="1200">
                <a:solidFill>
                  <a:srgbClr val="0E2D69"/>
                </a:solidFill>
                <a:latin typeface="Arial"/>
                <a:ea typeface="Arial"/>
                <a:cs typeface="Arial"/>
              </a:rPr>
              <a:t>Рощина Полина Александровна</a:t>
            </a:r>
            <a:endParaRPr sz="1200"/>
          </a:p>
        </p:txBody>
      </p:sp>
    </p:spTree>
    <p:extLst>
      <p:ext uri="{BB962C8B-B14F-4D97-AF65-F5344CB8AC3E}">
        <p14:creationId xmlns:p14="http://schemas.microsoft.com/office/powerpoint/2010/main" val="67606532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AF7F098E-47EC-4031-B26B-1F85EE9DE738}"/>
              </a:ext>
            </a:extLst>
          </p:cNvPr>
          <p:cNvPicPr>
            <a:picLocks xmlns:a="http://schemas.openxmlformats.org/drawingml/2006/main" noChangeAspect="1"/>
          </p:cNvPicPr>
          <p:nvPr/>
        </p:nvPicPr>
        <p:blipFill>
          <a:blip xmlns:r="http://schemas.openxmlformats.org/officeDocument/2006/relationships" xmlns:a="http://schemas.openxmlformats.org/drawingml/2006/main" r:embed="R268794ba92a147b8"/>
          <a:stretch xmlns:a="http://schemas.openxmlformats.org/drawingml/2006/main">
            <a:fillRect l="0" t="0" r="0" b="0"/>
          </a:stretch>
        </p:blipFill>
        <p:spPr>
          <a:xfrm xmlns:a="http://schemas.openxmlformats.org/drawingml/2006/main">
            <a:off x="274320" y="137160"/>
            <a:ext cx="502920" cy="50292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CDF233FD-DF40-48A5-8CA0-9DB96C645E77}"/>
              </a:ext>
            </a:extLst>
          </p:cNvPr>
          <p:cNvSpPr>
            <a:spLocks xmlns:a="http://schemas.openxmlformats.org/drawingml/2006/main" noGrp="1"/>
          </p:cNvSpPr>
          <p:nvPr/>
        </p:nvSpPr>
        <p:spPr>
          <a:xfrm xmlns:a="http://schemas.openxmlformats.org/drawingml/2006/main">
            <a:off x="868680" y="201168"/>
            <a:ext cx="173736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0E2D69"/>
                </a:solidFill>
                <a:latin typeface="Arial"/>
                <a:ea typeface="Arial"/>
                <a:cs typeface="Arial"/>
              </a:rPr>
              <a:t>Школа информатики, физики и технологий</a:t>
            </a:r>
            <a:endParaRPr sz="800"/>
          </a:p>
        </p:txBody>
      </p:sp>
      <p:sp>
        <p:nvSpPr>
          <p:cNvPr id="4" name="Text 1">
            <a:extLst xmlns:a="http://schemas.openxmlformats.org/drawingml/2006/main">
              <a:ext uri="{FF2B5EF4-FFF2-40B4-BE49-F238E27FC236}">
                <a16:creationId xmlns:a16="http://schemas.microsoft.com/office/drawing/2014/main" id="{AE6F1FD5-3A18-4C81-8359-D71C7A930842}"/>
              </a:ext>
            </a:extLst>
          </p:cNvPr>
          <p:cNvSpPr>
            <a:spLocks xmlns:a="http://schemas.openxmlformats.org/drawingml/2006/main" noGrp="1"/>
          </p:cNvSpPr>
          <p:nvPr/>
        </p:nvSpPr>
        <p:spPr>
          <a:xfrm xmlns:a="http://schemas.openxmlformats.org/drawingml/2006/main">
            <a:off x="2834640" y="201168"/>
            <a:ext cx="29260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0E2D69"/>
                </a:solidFill>
                <a:latin typeface="Arial"/>
                <a:ea typeface="Arial"/>
                <a:cs typeface="Arial"/>
              </a:rPr>
              <a:t>Рекомендательная система на основе поведенческих эмбеддингов</a:t>
            </a:r>
            <a:endParaRPr sz="800"/>
          </a:p>
        </p:txBody>
      </p:sp>
      <p:sp>
        <p:nvSpPr>
          <p:cNvPr id="5" name="Text 2">
            <a:extLst xmlns:a="http://schemas.openxmlformats.org/drawingml/2006/main">
              <a:ext uri="{FF2B5EF4-FFF2-40B4-BE49-F238E27FC236}">
                <a16:creationId xmlns:a16="http://schemas.microsoft.com/office/drawing/2014/main" id="{FCB47992-EB11-4C40-AD8C-977CBBD1DFF0}"/>
              </a:ext>
            </a:extLst>
          </p:cNvPr>
          <p:cNvSpPr>
            <a:spLocks xmlns:a="http://schemas.openxmlformats.org/drawingml/2006/main" noGrp="1"/>
          </p:cNvSpPr>
          <p:nvPr/>
        </p:nvSpPr>
        <p:spPr>
          <a:xfrm xmlns:a="http://schemas.openxmlformats.org/drawingml/2006/main">
            <a:off x="5989320" y="201168"/>
            <a:ext cx="18288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defPPr algn="l">
              <a:defRPr sz="900">
                <a:solidFill>
                  <a:srgbClr val="173773"/>
                </a:solidFill>
                <a:latin typeface="Arial"/>
                <a:ea typeface="Arial"/>
                <a:cs typeface="Arial"/>
              </a:defRPr>
            </a:defPPr>
          </a:lstStyle>
          <a:p xmlns:a="http://schemas.openxmlformats.org/drawingml/2006/main">
            <a:pPr marL="0" indent="0" algn="l">
              <a:buNone/>
            </a:pPr>
            <a:r>
              <a:rPr sz="900">
                <a:solidFill>
                  <a:srgbClr val="173773"/>
                </a:solidFill>
                <a:latin typeface="Arial"/>
                <a:ea typeface="Arial"/>
                <a:cs typeface="Arial"/>
              </a:rPr>
              <a:t>Контекст</a:t>
            </a:r>
            <a:endParaRPr sz="800"/>
          </a:p>
        </p:txBody>
      </p:sp>
      <p:sp>
        <p:nvSpPr>
          <p:cNvPr id="6" name="Shape 3">
            <a:extLst xmlns:a="http://schemas.openxmlformats.org/drawingml/2006/main">
              <a:ext uri="{FF2B5EF4-FFF2-40B4-BE49-F238E27FC236}">
                <a16:creationId xmlns:a16="http://schemas.microsoft.com/office/drawing/2014/main" id="{F13469DD-9C6C-4575-9B53-F1969C50ED83}"/>
              </a:ext>
            </a:extLst>
          </p:cNvPr>
          <p:cNvSpPr>
            <a:spLocks xmlns:a="http://schemas.openxmlformats.org/drawingml/2006/main" noGrp="1"/>
          </p:cNvSpPr>
          <p:nvPr/>
        </p:nvSpPr>
        <p:spPr>
          <a:xfrm xmlns:a="http://schemas.openxmlformats.org/drawingml/2006/main">
            <a:off x="2697480" y="182880"/>
            <a:ext cx="0" cy="457200"/>
          </a:xfrm>
          <a:prstGeom xmlns:a="http://schemas.openxmlformats.org/drawingml/2006/main" prst="line">
            <a:avLst/>
          </a:prstGeom>
          <a:noFill xmlns:a="http://schemas.openxmlformats.org/drawingml/2006/main"/>
          <a:ln xmlns:a="http://schemas.openxmlformats.org/drawingml/2006/main" w="19050">
            <a:solidFill>
              <a:srgbClr val="0E2D69"/>
            </a:solidFill>
            <a:prstDash val="solid"/>
          </a:ln>
        </p:spPr>
      </p:sp>
      <p:sp>
        <p:nvSpPr>
          <p:cNvPr id="7" name="Shape 4">
            <a:extLst xmlns:a="http://schemas.openxmlformats.org/drawingml/2006/main">
              <a:ext uri="{FF2B5EF4-FFF2-40B4-BE49-F238E27FC236}">
                <a16:creationId xmlns:a16="http://schemas.microsoft.com/office/drawing/2014/main" id="{7503221E-C8AA-433E-928B-261B9BF8AE41}"/>
              </a:ext>
            </a:extLst>
          </p:cNvPr>
          <p:cNvSpPr>
            <a:spLocks xmlns:a="http://schemas.openxmlformats.org/drawingml/2006/main" noGrp="1"/>
          </p:cNvSpPr>
          <p:nvPr/>
        </p:nvSpPr>
        <p:spPr>
          <a:xfrm xmlns:a="http://schemas.openxmlformats.org/drawingml/2006/main">
            <a:off x="5852160" y="182880"/>
            <a:ext cx="0" cy="457200"/>
          </a:xfrm>
          <a:prstGeom xmlns:a="http://schemas.openxmlformats.org/drawingml/2006/main" prst="line">
            <a:avLst/>
          </a:prstGeom>
          <a:noFill xmlns:a="http://schemas.openxmlformats.org/drawingml/2006/main"/>
          <a:ln xmlns:a="http://schemas.openxmlformats.org/drawingml/2006/main" w="19050">
            <a:solidFill>
              <a:srgbClr val="0E2D69"/>
            </a:solidFill>
            <a:prstDash val="solid"/>
          </a:ln>
        </p:spPr>
      </p:sp>
      <p:sp>
        <p:nvSpPr>
          <p:cNvPr id="8" name="Shape 5">
            <a:extLst xmlns:a="http://schemas.openxmlformats.org/drawingml/2006/main">
              <a:ext uri="{FF2B5EF4-FFF2-40B4-BE49-F238E27FC236}">
                <a16:creationId xmlns:a16="http://schemas.microsoft.com/office/drawing/2014/main" id="{11B7DA2D-1F93-448E-B646-A525C6576B37}"/>
              </a:ext>
            </a:extLst>
          </p:cNvPr>
          <p:cNvSpPr>
            <a:spLocks xmlns:a="http://schemas.openxmlformats.org/drawingml/2006/main" noGrp="1"/>
          </p:cNvSpPr>
          <p:nvPr/>
        </p:nvSpPr>
        <p:spPr>
          <a:xfrm xmlns:a="http://schemas.openxmlformats.org/drawingml/2006/main">
            <a:off x="7909560" y="182880"/>
            <a:ext cx="0" cy="457200"/>
          </a:xfrm>
          <a:prstGeom xmlns:a="http://schemas.openxmlformats.org/drawingml/2006/main" prst="line">
            <a:avLst/>
          </a:prstGeom>
          <a:noFill xmlns:a="http://schemas.openxmlformats.org/drawingml/2006/main"/>
          <a:ln xmlns:a="http://schemas.openxmlformats.org/drawingml/2006/main" w="19050">
            <a:solidFill>
              <a:srgbClr val="0E2D69"/>
            </a:solidFill>
            <a:prstDash val="solid"/>
          </a:ln>
        </p:spPr>
      </p:sp>
      <p:sp>
        <p:nvSpPr>
          <p:cNvPr id="9" name="Text 6">
            <a:extLst xmlns:a="http://schemas.openxmlformats.org/drawingml/2006/main">
              <a:ext uri="{FF2B5EF4-FFF2-40B4-BE49-F238E27FC236}">
                <a16:creationId xmlns:a16="http://schemas.microsoft.com/office/drawing/2014/main" id="{8EACA40D-1F1E-49CF-B528-E3F0574CAA64}"/>
              </a:ext>
            </a:extLst>
          </p:cNvPr>
          <p:cNvSpPr>
            <a:spLocks xmlns:a="http://schemas.openxmlformats.org/drawingml/2006/main" noGrp="1"/>
          </p:cNvSpPr>
          <p:nvPr/>
        </p:nvSpPr>
        <p:spPr>
          <a:xfrm xmlns:a="http://schemas.openxmlformats.org/drawingml/2006/main">
            <a:off x="365760" y="777240"/>
            <a:ext cx="84124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b="1">
                <a:solidFill>
                  <a:srgbClr val="0E2D69"/>
                </a:solidFill>
                <a:latin typeface="Arial"/>
                <a:ea typeface="Arial"/>
                <a:cs typeface="Arial"/>
              </a:rPr>
              <a:t>Мотивация</a:t>
            </a:r>
            <a:endParaRPr sz="2400"/>
          </a:p>
        </p:txBody>
      </p:sp>
      <p:sp>
        <p:nvSpPr>
          <p:cNvPr id="11" name="Shape 7">
            <a:extLst xmlns:a="http://schemas.openxmlformats.org/drawingml/2006/main">
              <a:ext uri="{FF2B5EF4-FFF2-40B4-BE49-F238E27FC236}">
                <a16:creationId xmlns:a16="http://schemas.microsoft.com/office/drawing/2014/main" id="{25A90900-9393-40BB-96CE-B781970D8DE1}"/>
              </a:ext>
            </a:extLst>
          </p:cNvPr>
          <p:cNvSpPr>
            <a:spLocks xmlns:a="http://schemas.openxmlformats.org/drawingml/2006/main" noGrp="1"/>
          </p:cNvSpPr>
          <p:nvPr/>
        </p:nvSpPr>
        <p:spPr>
          <a:xfrm xmlns:a="http://schemas.openxmlformats.org/drawingml/2006/main">
            <a:off x="274320" y="3520440"/>
            <a:ext cx="4846320" cy="0"/>
          </a:xfrm>
          <a:prstGeom xmlns:a="http://schemas.openxmlformats.org/drawingml/2006/main" prst="line">
            <a:avLst/>
          </a:prstGeom>
          <a:noFill xmlns:a="http://schemas.openxmlformats.org/drawingml/2006/main"/>
          <a:ln xmlns:a="http://schemas.openxmlformats.org/drawingml/2006/main" w="12700">
            <a:solidFill>
              <a:srgbClr val="9AA7C2"/>
            </a:solidFill>
            <a:prstDash val="solid"/>
          </a:ln>
        </p:spPr>
      </p:sp>
      <p:sp>
        <p:nvSpPr>
          <p:cNvPr id="12" name="Shape 8">
            <a:extLst xmlns:a="http://schemas.openxmlformats.org/drawingml/2006/main">
              <a:ext uri="{FF2B5EF4-FFF2-40B4-BE49-F238E27FC236}">
                <a16:creationId xmlns:a16="http://schemas.microsoft.com/office/drawing/2014/main" id="{FFB2FD73-F22F-4076-BEC5-00CDE5BD575D}"/>
              </a:ext>
            </a:extLst>
          </p:cNvPr>
          <p:cNvSpPr>
            <a:spLocks xmlns:a="http://schemas.openxmlformats.org/drawingml/2006/main" noGrp="1"/>
          </p:cNvSpPr>
          <p:nvPr/>
        </p:nvSpPr>
        <p:spPr>
          <a:xfrm xmlns:a="http://schemas.openxmlformats.org/drawingml/2006/main">
            <a:off x="613562" y="2034540"/>
            <a:ext cx="835762" cy="1485900"/>
          </a:xfrm>
          <a:prstGeom xmlns:a="http://schemas.openxmlformats.org/drawingml/2006/main" prst="rect">
            <a:avLst/>
          </a:prstGeom>
          <a:solidFill xmlns:a="http://schemas.openxmlformats.org/drawingml/2006/main">
            <a:srgbClr val="AFC4EE"/>
          </a:solidFill>
          <a:ln xmlns:a="http://schemas.openxmlformats.org/drawingml/2006/main" w="12700">
            <a:solidFill>
              <a:srgbClr val="AFC4EE"/>
            </a:solidFill>
            <a:prstDash val="solid"/>
          </a:ln>
        </p:spPr>
      </p:sp>
      <p:sp>
        <p:nvSpPr>
          <p:cNvPr id="13" name="Text 9">
            <a:extLst xmlns:a="http://schemas.openxmlformats.org/drawingml/2006/main">
              <a:ext uri="{FF2B5EF4-FFF2-40B4-BE49-F238E27FC236}">
                <a16:creationId xmlns:a16="http://schemas.microsoft.com/office/drawing/2014/main" id="{06FBBDD4-696B-4AAF-88CA-992FEA06942A}"/>
              </a:ext>
            </a:extLst>
          </p:cNvPr>
          <p:cNvSpPr>
            <a:spLocks xmlns:a="http://schemas.openxmlformats.org/drawingml/2006/main" noGrp="1"/>
          </p:cNvSpPr>
          <p:nvPr/>
        </p:nvSpPr>
        <p:spPr>
          <a:xfrm xmlns:a="http://schemas.openxmlformats.org/drawingml/2006/main">
            <a:off x="430682" y="1815084"/>
            <a:ext cx="1201522"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000">
                <a:solidFill>
                  <a:srgbClr val="0E2D69"/>
                </a:solidFill>
                <a:latin typeface="Arial"/>
                <a:ea typeface="Arial"/>
                <a:cs typeface="Arial"/>
              </a:rPr>
              <a:t>100</a:t>
            </a:r>
            <a:endParaRPr sz="1000"/>
          </a:p>
        </p:txBody>
      </p:sp>
      <p:sp>
        <p:nvSpPr>
          <p:cNvPr id="14" name="Shape 10">
            <a:extLst xmlns:a="http://schemas.openxmlformats.org/drawingml/2006/main">
              <a:ext uri="{FF2B5EF4-FFF2-40B4-BE49-F238E27FC236}">
                <a16:creationId xmlns:a16="http://schemas.microsoft.com/office/drawing/2014/main" id="{0B3F9046-DD32-4487-B5F7-8A5AAB02830A}"/>
              </a:ext>
            </a:extLst>
          </p:cNvPr>
          <p:cNvSpPr>
            <a:spLocks xmlns:a="http://schemas.openxmlformats.org/drawingml/2006/main" noGrp="1"/>
          </p:cNvSpPr>
          <p:nvPr/>
        </p:nvSpPr>
        <p:spPr>
          <a:xfrm xmlns:a="http://schemas.openxmlformats.org/drawingml/2006/main">
            <a:off x="1485900" y="2376297"/>
            <a:ext cx="835762" cy="1144143"/>
          </a:xfrm>
          <a:prstGeom xmlns:a="http://schemas.openxmlformats.org/drawingml/2006/main" prst="rect">
            <a:avLst/>
          </a:prstGeom>
          <a:solidFill xmlns:a="http://schemas.openxmlformats.org/drawingml/2006/main">
            <a:srgbClr val="244A9A"/>
          </a:solidFill>
          <a:ln xmlns:a="http://schemas.openxmlformats.org/drawingml/2006/main" w="12700">
            <a:solidFill>
              <a:srgbClr val="244A9A"/>
            </a:solidFill>
            <a:prstDash val="solid"/>
          </a:ln>
        </p:spPr>
      </p:sp>
      <p:sp>
        <p:nvSpPr>
          <p:cNvPr id="15" name="Text 11">
            <a:extLst xmlns:a="http://schemas.openxmlformats.org/drawingml/2006/main">
              <a:ext uri="{FF2B5EF4-FFF2-40B4-BE49-F238E27FC236}">
                <a16:creationId xmlns:a16="http://schemas.microsoft.com/office/drawing/2014/main" id="{0B1A64DF-FA98-4A1C-AC03-3C6BC7CF3293}"/>
              </a:ext>
            </a:extLst>
          </p:cNvPr>
          <p:cNvSpPr>
            <a:spLocks xmlns:a="http://schemas.openxmlformats.org/drawingml/2006/main" noGrp="1"/>
          </p:cNvSpPr>
          <p:nvPr/>
        </p:nvSpPr>
        <p:spPr>
          <a:xfrm xmlns:a="http://schemas.openxmlformats.org/drawingml/2006/main">
            <a:off x="1303020" y="2156841"/>
            <a:ext cx="1201522"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000">
                <a:solidFill>
                  <a:srgbClr val="0E2D69"/>
                </a:solidFill>
                <a:latin typeface="Arial"/>
                <a:ea typeface="Arial"/>
                <a:cs typeface="Arial"/>
              </a:rPr>
              <a:t>77</a:t>
            </a:r>
            <a:endParaRPr sz="1000"/>
          </a:p>
        </p:txBody>
      </p:sp>
      <p:sp>
        <p:nvSpPr>
          <p:cNvPr id="16" name="Text 12">
            <a:extLst xmlns:a="http://schemas.openxmlformats.org/drawingml/2006/main">
              <a:ext uri="{FF2B5EF4-FFF2-40B4-BE49-F238E27FC236}">
                <a16:creationId xmlns:a16="http://schemas.microsoft.com/office/drawing/2014/main" id="{BEB1BD48-DF62-479F-A5E3-4360D3BBF4A1}"/>
              </a:ext>
            </a:extLst>
          </p:cNvPr>
          <p:cNvSpPr>
            <a:spLocks xmlns:a="http://schemas.openxmlformats.org/drawingml/2006/main" noGrp="1"/>
          </p:cNvSpPr>
          <p:nvPr/>
        </p:nvSpPr>
        <p:spPr>
          <a:xfrm xmlns:a="http://schemas.openxmlformats.org/drawingml/2006/main">
            <a:off x="301752" y="3566160"/>
            <a:ext cx="236829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000">
                <a:solidFill>
                  <a:srgbClr val="0E2D69"/>
                </a:solidFill>
                <a:latin typeface="Arial"/>
                <a:ea typeface="Arial"/>
                <a:cs typeface="Arial"/>
              </a:rPr>
              <a:t>Внешние покупатели</a:t>
            </a:r>
            <a:endParaRPr sz="1000"/>
          </a:p>
        </p:txBody>
      </p:sp>
      <p:sp>
        <p:nvSpPr>
          <p:cNvPr id="17" name="Shape 13">
            <a:extLst xmlns:a="http://schemas.openxmlformats.org/drawingml/2006/main">
              <a:ext uri="{FF2B5EF4-FFF2-40B4-BE49-F238E27FC236}">
                <a16:creationId xmlns:a16="http://schemas.microsoft.com/office/drawing/2014/main" id="{BDC84C7B-CDA9-4656-B65E-E487B5542F51}"/>
              </a:ext>
            </a:extLst>
          </p:cNvPr>
          <p:cNvSpPr>
            <a:spLocks xmlns:a="http://schemas.openxmlformats.org/drawingml/2006/main" noGrp="1"/>
          </p:cNvSpPr>
          <p:nvPr/>
        </p:nvSpPr>
        <p:spPr>
          <a:xfrm xmlns:a="http://schemas.openxmlformats.org/drawingml/2006/main">
            <a:off x="3036722" y="2034540"/>
            <a:ext cx="835762" cy="1485900"/>
          </a:xfrm>
          <a:prstGeom xmlns:a="http://schemas.openxmlformats.org/drawingml/2006/main" prst="rect">
            <a:avLst/>
          </a:prstGeom>
          <a:solidFill xmlns:a="http://schemas.openxmlformats.org/drawingml/2006/main">
            <a:srgbClr val="AFC4EE"/>
          </a:solidFill>
          <a:ln xmlns:a="http://schemas.openxmlformats.org/drawingml/2006/main" w="12700">
            <a:solidFill>
              <a:srgbClr val="AFC4EE"/>
            </a:solidFill>
            <a:prstDash val="solid"/>
          </a:ln>
        </p:spPr>
      </p:sp>
      <p:sp>
        <p:nvSpPr>
          <p:cNvPr id="18" name="Text 14">
            <a:extLst xmlns:a="http://schemas.openxmlformats.org/drawingml/2006/main">
              <a:ext uri="{FF2B5EF4-FFF2-40B4-BE49-F238E27FC236}">
                <a16:creationId xmlns:a16="http://schemas.microsoft.com/office/drawing/2014/main" id="{2684CDFC-AF26-4619-83D6-156E22629BD8}"/>
              </a:ext>
            </a:extLst>
          </p:cNvPr>
          <p:cNvSpPr>
            <a:spLocks xmlns:a="http://schemas.openxmlformats.org/drawingml/2006/main" noGrp="1"/>
          </p:cNvSpPr>
          <p:nvPr/>
        </p:nvSpPr>
        <p:spPr>
          <a:xfrm xmlns:a="http://schemas.openxmlformats.org/drawingml/2006/main">
            <a:off x="2853842" y="1815084"/>
            <a:ext cx="1201522"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000">
                <a:solidFill>
                  <a:srgbClr val="0E2D69"/>
                </a:solidFill>
                <a:latin typeface="Arial"/>
                <a:ea typeface="Arial"/>
                <a:cs typeface="Arial"/>
              </a:rPr>
              <a:t>100</a:t>
            </a:r>
            <a:endParaRPr sz="1000"/>
          </a:p>
        </p:txBody>
      </p:sp>
      <p:sp>
        <p:nvSpPr>
          <p:cNvPr id="19" name="Shape 15">
            <a:extLst xmlns:a="http://schemas.openxmlformats.org/drawingml/2006/main">
              <a:ext uri="{FF2B5EF4-FFF2-40B4-BE49-F238E27FC236}">
                <a16:creationId xmlns:a16="http://schemas.microsoft.com/office/drawing/2014/main" id="{7DF3CD61-04F1-4747-9D59-ADAD0807A2F2}"/>
              </a:ext>
            </a:extLst>
          </p:cNvPr>
          <p:cNvSpPr>
            <a:spLocks xmlns:a="http://schemas.openxmlformats.org/drawingml/2006/main" noGrp="1"/>
          </p:cNvSpPr>
          <p:nvPr/>
        </p:nvSpPr>
        <p:spPr>
          <a:xfrm xmlns:a="http://schemas.openxmlformats.org/drawingml/2006/main">
            <a:off x="3909060" y="2123694"/>
            <a:ext cx="835762" cy="1396746"/>
          </a:xfrm>
          <a:prstGeom xmlns:a="http://schemas.openxmlformats.org/drawingml/2006/main" prst="rect">
            <a:avLst/>
          </a:prstGeom>
          <a:solidFill xmlns:a="http://schemas.openxmlformats.org/drawingml/2006/main">
            <a:srgbClr val="244A9A"/>
          </a:solidFill>
          <a:ln xmlns:a="http://schemas.openxmlformats.org/drawingml/2006/main" w="12700">
            <a:solidFill>
              <a:srgbClr val="244A9A"/>
            </a:solidFill>
            <a:prstDash val="solid"/>
          </a:ln>
        </p:spPr>
      </p:sp>
      <p:sp>
        <p:nvSpPr>
          <p:cNvPr id="20" name="Text 16">
            <a:extLst xmlns:a="http://schemas.openxmlformats.org/drawingml/2006/main">
              <a:ext uri="{FF2B5EF4-FFF2-40B4-BE49-F238E27FC236}">
                <a16:creationId xmlns:a16="http://schemas.microsoft.com/office/drawing/2014/main" id="{B7A91E01-8198-4A5E-AC85-3BE705E09361}"/>
              </a:ext>
            </a:extLst>
          </p:cNvPr>
          <p:cNvSpPr>
            <a:spLocks xmlns:a="http://schemas.openxmlformats.org/drawingml/2006/main" noGrp="1"/>
          </p:cNvSpPr>
          <p:nvPr/>
        </p:nvSpPr>
        <p:spPr>
          <a:xfrm xmlns:a="http://schemas.openxmlformats.org/drawingml/2006/main">
            <a:off x="3726180" y="1904238"/>
            <a:ext cx="1201522"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000">
                <a:solidFill>
                  <a:srgbClr val="0E2D69"/>
                </a:solidFill>
                <a:latin typeface="Arial"/>
                <a:ea typeface="Arial"/>
                <a:cs typeface="Arial"/>
              </a:rPr>
              <a:t>94</a:t>
            </a:r>
            <a:endParaRPr sz="1000"/>
          </a:p>
        </p:txBody>
      </p:sp>
      <p:sp>
        <p:nvSpPr>
          <p:cNvPr id="21" name="Text 17">
            <a:extLst xmlns:a="http://schemas.openxmlformats.org/drawingml/2006/main">
              <a:ext uri="{FF2B5EF4-FFF2-40B4-BE49-F238E27FC236}">
                <a16:creationId xmlns:a16="http://schemas.microsoft.com/office/drawing/2014/main" id="{F991EE5D-B381-431A-B5BA-56E7477B852E}"/>
              </a:ext>
            </a:extLst>
          </p:cNvPr>
          <p:cNvSpPr>
            <a:spLocks xmlns:a="http://schemas.openxmlformats.org/drawingml/2006/main" noGrp="1"/>
          </p:cNvSpPr>
          <p:nvPr/>
        </p:nvSpPr>
        <p:spPr>
          <a:xfrm xmlns:a="http://schemas.openxmlformats.org/drawingml/2006/main">
            <a:off x="2724912" y="3566160"/>
            <a:ext cx="236829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000">
                <a:solidFill>
                  <a:srgbClr val="0E2D69"/>
                </a:solidFill>
                <a:latin typeface="Arial"/>
                <a:ea typeface="Arial"/>
                <a:cs typeface="Arial"/>
              </a:rPr>
              <a:t>Все новые покупатели</a:t>
            </a:r>
            <a:endParaRPr sz="1000"/>
          </a:p>
        </p:txBody>
      </p:sp>
      <p:sp>
        <p:nvSpPr>
          <p:cNvPr id="22" name="Shape 18">
            <a:extLst xmlns:a="http://schemas.openxmlformats.org/drawingml/2006/main">
              <a:ext uri="{FF2B5EF4-FFF2-40B4-BE49-F238E27FC236}">
                <a16:creationId xmlns:a16="http://schemas.microsoft.com/office/drawing/2014/main" id="{C5C78FDE-CA3F-4719-A7DF-3490BBBCA9AA}"/>
              </a:ext>
            </a:extLst>
          </p:cNvPr>
          <p:cNvSpPr>
            <a:spLocks xmlns:a="http://schemas.openxmlformats.org/drawingml/2006/main" noGrp="1"/>
          </p:cNvSpPr>
          <p:nvPr/>
        </p:nvSpPr>
        <p:spPr>
          <a:xfrm xmlns:a="http://schemas.openxmlformats.org/drawingml/2006/main">
            <a:off x="1143000" y="4096512"/>
            <a:ext cx="137160" cy="137160"/>
          </a:xfrm>
          <a:prstGeom xmlns:a="http://schemas.openxmlformats.org/drawingml/2006/main" prst="rect">
            <a:avLst/>
          </a:prstGeom>
          <a:solidFill xmlns:a="http://schemas.openxmlformats.org/drawingml/2006/main">
            <a:srgbClr val="AFC4EE"/>
          </a:solidFill>
          <a:ln xmlns:a="http://schemas.openxmlformats.org/drawingml/2006/main" w="12700">
            <a:solidFill>
              <a:srgbClr val="AFC4EE"/>
            </a:solidFill>
            <a:prstDash val="solid"/>
          </a:ln>
        </p:spPr>
      </p:sp>
      <p:sp>
        <p:nvSpPr>
          <p:cNvPr id="23" name="Text 19">
            <a:extLst xmlns:a="http://schemas.openxmlformats.org/drawingml/2006/main">
              <a:ext uri="{FF2B5EF4-FFF2-40B4-BE49-F238E27FC236}">
                <a16:creationId xmlns:a16="http://schemas.microsoft.com/office/drawing/2014/main" id="{511D4B35-27F0-433A-A5C2-27098BF3B446}"/>
              </a:ext>
            </a:extLst>
          </p:cNvPr>
          <p:cNvSpPr>
            <a:spLocks xmlns:a="http://schemas.openxmlformats.org/drawingml/2006/main" noGrp="1"/>
          </p:cNvSpPr>
          <p:nvPr/>
        </p:nvSpPr>
        <p:spPr>
          <a:xfrm xmlns:a="http://schemas.openxmlformats.org/drawingml/2006/main">
            <a:off x="1344168" y="4050792"/>
            <a:ext cx="15544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a:solidFill>
                  <a:srgbClr val="5B6B8C"/>
                </a:solidFill>
                <a:latin typeface="Arial"/>
                <a:ea typeface="Arial"/>
                <a:cs typeface="Arial"/>
              </a:rPr>
              <a:t>2024</a:t>
            </a:r>
            <a:endParaRPr sz="1000"/>
          </a:p>
        </p:txBody>
      </p:sp>
      <p:sp>
        <p:nvSpPr>
          <p:cNvPr id="24" name="Shape 20">
            <a:extLst xmlns:a="http://schemas.openxmlformats.org/drawingml/2006/main">
              <a:ext uri="{FF2B5EF4-FFF2-40B4-BE49-F238E27FC236}">
                <a16:creationId xmlns:a16="http://schemas.microsoft.com/office/drawing/2014/main" id="{3F4BB9E2-691C-49B6-A446-1879FE2816BC}"/>
              </a:ext>
            </a:extLst>
          </p:cNvPr>
          <p:cNvSpPr>
            <a:spLocks xmlns:a="http://schemas.openxmlformats.org/drawingml/2006/main" noGrp="1"/>
          </p:cNvSpPr>
          <p:nvPr/>
        </p:nvSpPr>
        <p:spPr>
          <a:xfrm xmlns:a="http://schemas.openxmlformats.org/drawingml/2006/main">
            <a:off x="2971800" y="4096512"/>
            <a:ext cx="137160" cy="137160"/>
          </a:xfrm>
          <a:prstGeom xmlns:a="http://schemas.openxmlformats.org/drawingml/2006/main" prst="rect">
            <a:avLst/>
          </a:prstGeom>
          <a:solidFill xmlns:a="http://schemas.openxmlformats.org/drawingml/2006/main">
            <a:srgbClr val="244A9A"/>
          </a:solidFill>
          <a:ln xmlns:a="http://schemas.openxmlformats.org/drawingml/2006/main" w="12700">
            <a:solidFill>
              <a:srgbClr val="244A9A"/>
            </a:solidFill>
            <a:prstDash val="solid"/>
          </a:ln>
        </p:spPr>
      </p:sp>
      <p:sp>
        <p:nvSpPr>
          <p:cNvPr id="25" name="Text 21">
            <a:extLst xmlns:a="http://schemas.openxmlformats.org/drawingml/2006/main">
              <a:ext uri="{FF2B5EF4-FFF2-40B4-BE49-F238E27FC236}">
                <a16:creationId xmlns:a16="http://schemas.microsoft.com/office/drawing/2014/main" id="{76B3AEB9-71B9-4B73-87D8-2B2842AAFA35}"/>
              </a:ext>
            </a:extLst>
          </p:cNvPr>
          <p:cNvSpPr>
            <a:spLocks xmlns:a="http://schemas.openxmlformats.org/drawingml/2006/main" noGrp="1"/>
          </p:cNvSpPr>
          <p:nvPr/>
        </p:nvSpPr>
        <p:spPr>
          <a:xfrm xmlns:a="http://schemas.openxmlformats.org/drawingml/2006/main">
            <a:off x="3172968" y="4050792"/>
            <a:ext cx="15544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a:solidFill>
                  <a:srgbClr val="5B6B8C"/>
                </a:solidFill>
                <a:latin typeface="Arial"/>
                <a:ea typeface="Arial"/>
                <a:cs typeface="Arial"/>
              </a:rPr>
              <a:t>2025</a:t>
            </a:r>
            <a:endParaRPr sz="1000"/>
          </a:p>
        </p:txBody>
      </p:sp>
      <p:sp>
        <p:nvSpPr>
          <p:cNvPr id="26" name="Text 22">
            <a:extLst xmlns:a="http://schemas.openxmlformats.org/drawingml/2006/main">
              <a:ext uri="{FF2B5EF4-FFF2-40B4-BE49-F238E27FC236}">
                <a16:creationId xmlns:a16="http://schemas.microsoft.com/office/drawing/2014/main" id="{CED84737-E56F-4606-AE63-5515E7B3200E}"/>
              </a:ext>
            </a:extLst>
          </p:cNvPr>
          <p:cNvSpPr>
            <a:spLocks xmlns:a="http://schemas.openxmlformats.org/drawingml/2006/main" noGrp="1"/>
          </p:cNvSpPr>
          <p:nvPr/>
        </p:nvSpPr>
        <p:spPr>
          <a:xfrm xmlns:a="http://schemas.openxmlformats.org/drawingml/2006/main">
            <a:off x="365760" y="4343400"/>
            <a:ext cx="47548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5B6B8C"/>
                </a:solidFill>
                <a:latin typeface="Arial"/>
                <a:ea typeface="Arial"/>
                <a:cs typeface="Arial"/>
              </a:rPr>
              <a:t>Новые покупатели «Услуг» в июле–сентябре, 2024 = 100. Внешние — первое действие на Авито сразу в «Услугах» [14]</a:t>
            </a:r>
            <a:endParaRPr sz="1100"/>
          </a:p>
        </p:txBody>
      </p:sp>
      <p:sp>
        <p:nvSpPr>
          <p:cNvPr id="27" name="Shape 23">
            <a:extLst xmlns:a="http://schemas.openxmlformats.org/drawingml/2006/main">
              <a:ext uri="{FF2B5EF4-FFF2-40B4-BE49-F238E27FC236}">
                <a16:creationId xmlns:a16="http://schemas.microsoft.com/office/drawing/2014/main" id="{9C6CEB2A-81AE-489F-A913-69FC94F5BF3D}"/>
              </a:ext>
            </a:extLst>
          </p:cNvPr>
          <p:cNvSpPr>
            <a:spLocks xmlns:a="http://schemas.openxmlformats.org/drawingml/2006/main" noGrp="1"/>
          </p:cNvSpPr>
          <p:nvPr/>
        </p:nvSpPr>
        <p:spPr>
          <a:xfrm xmlns:a="http://schemas.openxmlformats.org/drawingml/2006/main">
            <a:off x="5303520" y="1371600"/>
            <a:ext cx="3474720" cy="960120"/>
          </a:xfrm>
          <a:prstGeom xmlns:a="http://schemas.openxmlformats.org/drawingml/2006/main" prst="roundRect">
            <a:avLst>
              <a:gd name="adj" fmla="val 7619"/>
            </a:avLst>
          </a:prstGeom>
          <a:solidFill xmlns:a="http://schemas.openxmlformats.org/drawingml/2006/main">
            <a:srgbClr val="0E2D69"/>
          </a:solidFill>
          <a:ln xmlns:a="http://schemas.openxmlformats.org/drawingml/2006/main" w="12700">
            <a:solidFill>
              <a:srgbClr val="0E2D69"/>
            </a:solidFill>
            <a:prstDash val="solid"/>
          </a:ln>
        </p:spPr>
      </p:sp>
      <p:sp>
        <p:nvSpPr>
          <p:cNvPr id="28" name="Text 24">
            <a:extLst xmlns:a="http://schemas.openxmlformats.org/drawingml/2006/main">
              <a:ext uri="{FF2B5EF4-FFF2-40B4-BE49-F238E27FC236}">
                <a16:creationId xmlns:a16="http://schemas.microsoft.com/office/drawing/2014/main" id="{764A6826-F0A6-452D-8EAA-39D243A4D15A}"/>
              </a:ext>
            </a:extLst>
          </p:cNvPr>
          <p:cNvSpPr>
            <a:spLocks xmlns:a="http://schemas.openxmlformats.org/drawingml/2006/main" noGrp="1"/>
          </p:cNvSpPr>
          <p:nvPr/>
        </p:nvSpPr>
        <p:spPr>
          <a:xfrm xmlns:a="http://schemas.openxmlformats.org/drawingml/2006/main">
            <a:off x="5303520" y="1463040"/>
            <a:ext cx="34747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2600" b="1">
                <a:solidFill>
                  <a:srgbClr val="FFFFFF"/>
                </a:solidFill>
                <a:latin typeface="Arial"/>
                <a:ea typeface="Arial"/>
                <a:cs typeface="Arial"/>
              </a:rPr>
              <a:t>−23%</a:t>
            </a:r>
            <a:endParaRPr sz="2600"/>
          </a:p>
        </p:txBody>
      </p:sp>
      <p:sp>
        <p:nvSpPr>
          <p:cNvPr id="29" name="Text 25">
            <a:extLst xmlns:a="http://schemas.openxmlformats.org/drawingml/2006/main">
              <a:ext uri="{FF2B5EF4-FFF2-40B4-BE49-F238E27FC236}">
                <a16:creationId xmlns:a16="http://schemas.microsoft.com/office/drawing/2014/main" id="{2CFEF6A1-B578-4736-BFEA-17727A88C4CE}"/>
              </a:ext>
            </a:extLst>
          </p:cNvPr>
          <p:cNvSpPr>
            <a:spLocks xmlns:a="http://schemas.openxmlformats.org/drawingml/2006/main" noGrp="1"/>
          </p:cNvSpPr>
          <p:nvPr/>
        </p:nvSpPr>
        <p:spPr>
          <a:xfrm xmlns:a="http://schemas.openxmlformats.org/drawingml/2006/main">
            <a:off x="5440680" y="1993392"/>
            <a:ext cx="3200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a:solidFill>
                  <a:srgbClr val="FFFFFF"/>
                </a:solidFill>
                <a:latin typeface="Arial"/>
                <a:ea typeface="Arial"/>
                <a:cs typeface="Arial"/>
              </a:rPr>
              <a:t>внешних новых покупателей, 2025 к 2024</a:t>
            </a:r>
            <a:endParaRPr sz="1100"/>
          </a:p>
        </p:txBody>
      </p:sp>
      <p:sp>
        <p:nvSpPr>
          <p:cNvPr id="30" name="Shape 26">
            <a:extLst xmlns:a="http://schemas.openxmlformats.org/drawingml/2006/main">
              <a:ext uri="{FF2B5EF4-FFF2-40B4-BE49-F238E27FC236}">
                <a16:creationId xmlns:a16="http://schemas.microsoft.com/office/drawing/2014/main" id="{060FADB7-7AC6-426E-96AB-B33EFA70DF1A}"/>
              </a:ext>
            </a:extLst>
          </p:cNvPr>
          <p:cNvSpPr>
            <a:spLocks xmlns:a="http://schemas.openxmlformats.org/drawingml/2006/main" noGrp="1"/>
          </p:cNvSpPr>
          <p:nvPr/>
        </p:nvSpPr>
        <p:spPr>
          <a:xfrm xmlns:a="http://schemas.openxmlformats.org/drawingml/2006/main">
            <a:off x="5303520" y="2468880"/>
            <a:ext cx="3474720" cy="960120"/>
          </a:xfrm>
          <a:prstGeom xmlns:a="http://schemas.openxmlformats.org/drawingml/2006/main" prst="roundRect">
            <a:avLst>
              <a:gd name="adj" fmla="val 7619"/>
            </a:avLst>
          </a:prstGeom>
          <a:solidFill xmlns:a="http://schemas.openxmlformats.org/drawingml/2006/main">
            <a:srgbClr val="244A9A"/>
          </a:solidFill>
          <a:ln xmlns:a="http://schemas.openxmlformats.org/drawingml/2006/main" w="12700">
            <a:solidFill>
              <a:srgbClr val="244A9A"/>
            </a:solidFill>
            <a:prstDash val="solid"/>
          </a:ln>
        </p:spPr>
      </p:sp>
      <p:sp>
        <p:nvSpPr>
          <p:cNvPr id="31" name="Text 27">
            <a:extLst xmlns:a="http://schemas.openxmlformats.org/drawingml/2006/main">
              <a:ext uri="{FF2B5EF4-FFF2-40B4-BE49-F238E27FC236}">
                <a16:creationId xmlns:a16="http://schemas.microsoft.com/office/drawing/2014/main" id="{F09ABFB2-1A0A-42DF-8532-6949235F56A1}"/>
              </a:ext>
            </a:extLst>
          </p:cNvPr>
          <p:cNvSpPr>
            <a:spLocks xmlns:a="http://schemas.openxmlformats.org/drawingml/2006/main" noGrp="1"/>
          </p:cNvSpPr>
          <p:nvPr/>
        </p:nvSpPr>
        <p:spPr>
          <a:xfrm xmlns:a="http://schemas.openxmlformats.org/drawingml/2006/main">
            <a:off x="5303520" y="2560320"/>
            <a:ext cx="34747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2600" b="1">
                <a:solidFill>
                  <a:srgbClr val="FFFFFF"/>
                </a:solidFill>
                <a:latin typeface="Arial"/>
                <a:ea typeface="Arial"/>
                <a:cs typeface="Arial"/>
              </a:rPr>
              <a:t>−6%</a:t>
            </a:r>
            <a:endParaRPr sz="2600"/>
          </a:p>
        </p:txBody>
      </p:sp>
      <p:sp>
        <p:nvSpPr>
          <p:cNvPr id="32" name="Text 28">
            <a:extLst xmlns:a="http://schemas.openxmlformats.org/drawingml/2006/main">
              <a:ext uri="{FF2B5EF4-FFF2-40B4-BE49-F238E27FC236}">
                <a16:creationId xmlns:a16="http://schemas.microsoft.com/office/drawing/2014/main" id="{9C2B595C-2F8E-4772-A335-20C592099E03}"/>
              </a:ext>
            </a:extLst>
          </p:cNvPr>
          <p:cNvSpPr>
            <a:spLocks xmlns:a="http://schemas.openxmlformats.org/drawingml/2006/main" noGrp="1"/>
          </p:cNvSpPr>
          <p:nvPr/>
        </p:nvSpPr>
        <p:spPr>
          <a:xfrm xmlns:a="http://schemas.openxmlformats.org/drawingml/2006/main">
            <a:off x="5440680" y="3090672"/>
            <a:ext cx="3200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a:solidFill>
                  <a:srgbClr val="FFFFFF"/>
                </a:solidFill>
                <a:latin typeface="Arial"/>
                <a:ea typeface="Arial"/>
                <a:cs typeface="Arial"/>
              </a:rPr>
              <a:t>всех новых покупателей, 2025 к 2024</a:t>
            </a:r>
            <a:endParaRPr sz="1100"/>
          </a:p>
        </p:txBody>
      </p:sp>
      <p:sp>
        <p:nvSpPr>
          <p:cNvPr id="33" name="Shape 29">
            <a:extLst xmlns:a="http://schemas.openxmlformats.org/drawingml/2006/main">
              <a:ext uri="{FF2B5EF4-FFF2-40B4-BE49-F238E27FC236}">
                <a16:creationId xmlns:a16="http://schemas.microsoft.com/office/drawing/2014/main" id="{DD40D846-1897-49B5-8073-EB2E794D1F84}"/>
              </a:ext>
            </a:extLst>
          </p:cNvPr>
          <p:cNvSpPr>
            <a:spLocks xmlns:a="http://schemas.openxmlformats.org/drawingml/2006/main" noGrp="1"/>
          </p:cNvSpPr>
          <p:nvPr/>
        </p:nvSpPr>
        <p:spPr>
          <a:xfrm xmlns:a="http://schemas.openxmlformats.org/drawingml/2006/main">
            <a:off x="5303520" y="3566160"/>
            <a:ext cx="3474720" cy="1188720"/>
          </a:xfrm>
          <a:prstGeom xmlns:a="http://schemas.openxmlformats.org/drawingml/2006/main" prst="roundRect">
            <a:avLst>
              <a:gd name="adj" fmla="val 6154"/>
            </a:avLst>
          </a:prstGeom>
          <a:solidFill xmlns:a="http://schemas.openxmlformats.org/drawingml/2006/main">
            <a:srgbClr val="EAF0FA"/>
          </a:solidFill>
          <a:ln xmlns:a="http://schemas.openxmlformats.org/drawingml/2006/main" w="12700">
            <a:solidFill>
              <a:srgbClr val="EAF0FA"/>
            </a:solidFill>
            <a:prstDash val="solid"/>
          </a:ln>
        </p:spPr>
      </p:sp>
      <p:sp>
        <p:nvSpPr>
          <p:cNvPr id="34" name="Text 30">
            <a:extLst xmlns:a="http://schemas.openxmlformats.org/drawingml/2006/main">
              <a:ext uri="{FF2B5EF4-FFF2-40B4-BE49-F238E27FC236}">
                <a16:creationId xmlns:a16="http://schemas.microsoft.com/office/drawing/2014/main" id="{5021B52E-B55F-4056-B9A4-B727908B6CB5}"/>
              </a:ext>
            </a:extLst>
          </p:cNvPr>
          <p:cNvSpPr>
            <a:spLocks xmlns:a="http://schemas.openxmlformats.org/drawingml/2006/main" noGrp="1"/>
          </p:cNvSpPr>
          <p:nvPr/>
        </p:nvSpPr>
        <p:spPr>
          <a:xfrm xmlns:a="http://schemas.openxmlformats.org/drawingml/2006/main">
            <a:off x="5440680" y="3566160"/>
            <a:ext cx="320040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E2D69"/>
                </a:solidFill>
                <a:latin typeface="Arial"/>
                <a:ea typeface="Arial"/>
                <a:cs typeface="Arial"/>
              </a:rPr>
              <a:t>Большая часть новых покупателей уже пользовалась другими разделами Авито: важно помогать им находить новые категории</a:t>
            </a:r>
            <a:endParaRPr sz="1200"/>
          </a:p>
        </p:txBody>
      </p:sp>
      <p:sp>
        <p:nvSpPr>
          <p:cNvPr id="35" name="Text 31">
            <a:extLst xmlns:a="http://schemas.openxmlformats.org/drawingml/2006/main">
              <a:ext uri="{FF2B5EF4-FFF2-40B4-BE49-F238E27FC236}">
                <a16:creationId xmlns:a16="http://schemas.microsoft.com/office/drawing/2014/main" id="{16097F0B-B32B-4CB7-9FCA-792BA4584084}"/>
              </a:ext>
            </a:extLst>
          </p:cNvPr>
          <p:cNvSpPr>
            <a:spLocks xmlns:a="http://schemas.openxmlformats.org/drawingml/2006/main" noGrp="1"/>
          </p:cNvSpPr>
          <p:nvPr/>
        </p:nvSpPr>
        <p:spPr>
          <a:xfrm xmlns:a="http://schemas.openxmlformats.org/drawingml/2006/main">
            <a:off x="8001000" y="201168"/>
            <a:ext cx="8686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defPPr algn="ctr">
              <a:defRPr sz="1200">
                <a:solidFill>
                  <a:srgbClr val="173773"/>
                </a:solidFill>
                <a:latin typeface="Arial"/>
                <a:ea typeface="Arial"/>
                <a:cs typeface="Arial"/>
              </a:defRPr>
            </a:defPPr>
          </a:lstStyle>
          <a:p xmlns:a="http://schemas.openxmlformats.org/drawingml/2006/main">
            <a:pPr marL="0" indent="0" algn="ctr">
              <a:buNone/>
            </a:pPr>
            <a:r>
              <a:rPr sz="1200">
                <a:solidFill>
                  <a:srgbClr val="173773"/>
                </a:solidFill>
                <a:latin typeface="Arial"/>
                <a:ea typeface="Arial"/>
                <a:cs typeface="Arial"/>
              </a:rPr>
              <a:t>2/20</a:t>
            </a:r>
            <a:endParaRPr sz="1200"/>
          </a:p>
        </p:txBody>
      </p:sp>
    </p:spTree>
    <p:extLst>
      <p:ext uri="{BB962C8B-B14F-4D97-AF65-F5344CB8AC3E}">
        <p14:creationId xmlns:p14="http://schemas.microsoft.com/office/powerpoint/2010/main" val="155851939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BAC5FF11-8FDB-48EC-AED3-6692C4CB7505}"/>
              </a:ext>
            </a:extLst>
          </p:cNvPr>
          <p:cNvPicPr>
            <a:picLocks xmlns:a="http://schemas.openxmlformats.org/drawingml/2006/main" noChangeAspect="1"/>
          </p:cNvPicPr>
          <p:nvPr/>
        </p:nvPicPr>
        <p:blipFill>
          <a:blip xmlns:r="http://schemas.openxmlformats.org/officeDocument/2006/relationships" xmlns:a="http://schemas.openxmlformats.org/drawingml/2006/main" r:embed="R9802566a177a4b8f"/>
          <a:stretch xmlns:a="http://schemas.openxmlformats.org/drawingml/2006/main">
            <a:fillRect l="0" t="0" r="0" b="0"/>
          </a:stretch>
        </p:blipFill>
        <p:spPr>
          <a:xfrm xmlns:a="http://schemas.openxmlformats.org/drawingml/2006/main">
            <a:off x="274320" y="137160"/>
            <a:ext cx="502920" cy="50292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AFEE6403-37A1-42B0-94DE-8F8D3F47DD68}"/>
              </a:ext>
            </a:extLst>
          </p:cNvPr>
          <p:cNvSpPr>
            <a:spLocks xmlns:a="http://schemas.openxmlformats.org/drawingml/2006/main" noGrp="1"/>
          </p:cNvSpPr>
          <p:nvPr/>
        </p:nvSpPr>
        <p:spPr>
          <a:xfrm xmlns:a="http://schemas.openxmlformats.org/drawingml/2006/main">
            <a:off x="868680" y="201168"/>
            <a:ext cx="173736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0E2D69"/>
                </a:solidFill>
                <a:latin typeface="Arial"/>
                <a:ea typeface="Arial"/>
                <a:cs typeface="Arial"/>
              </a:rPr>
              <a:t>Школа информатики, физики и технологий</a:t>
            </a:r>
            <a:endParaRPr sz="800"/>
          </a:p>
        </p:txBody>
      </p:sp>
      <p:sp>
        <p:nvSpPr>
          <p:cNvPr id="4" name="Text 1">
            <a:extLst xmlns:a="http://schemas.openxmlformats.org/drawingml/2006/main">
              <a:ext uri="{FF2B5EF4-FFF2-40B4-BE49-F238E27FC236}">
                <a16:creationId xmlns:a16="http://schemas.microsoft.com/office/drawing/2014/main" id="{05A933DA-5F77-4B05-B4D3-758640B8AC64}"/>
              </a:ext>
            </a:extLst>
          </p:cNvPr>
          <p:cNvSpPr>
            <a:spLocks xmlns:a="http://schemas.openxmlformats.org/drawingml/2006/main" noGrp="1"/>
          </p:cNvSpPr>
          <p:nvPr/>
        </p:nvSpPr>
        <p:spPr>
          <a:xfrm xmlns:a="http://schemas.openxmlformats.org/drawingml/2006/main">
            <a:off x="2834640" y="201168"/>
            <a:ext cx="29260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0E2D69"/>
                </a:solidFill>
                <a:latin typeface="Arial"/>
                <a:ea typeface="Arial"/>
                <a:cs typeface="Arial"/>
              </a:rPr>
              <a:t>Рекомендательная система на основе поведенческих эмбеддингов</a:t>
            </a:r>
            <a:endParaRPr sz="800"/>
          </a:p>
        </p:txBody>
      </p:sp>
      <p:sp>
        <p:nvSpPr>
          <p:cNvPr id="5" name="Text 2">
            <a:extLst xmlns:a="http://schemas.openxmlformats.org/drawingml/2006/main">
              <a:ext uri="{FF2B5EF4-FFF2-40B4-BE49-F238E27FC236}">
                <a16:creationId xmlns:a16="http://schemas.microsoft.com/office/drawing/2014/main" id="{9BCCC9A0-63A7-46FE-A5E9-80366DF7959B}"/>
              </a:ext>
            </a:extLst>
          </p:cNvPr>
          <p:cNvSpPr>
            <a:spLocks xmlns:a="http://schemas.openxmlformats.org/drawingml/2006/main" noGrp="1"/>
          </p:cNvSpPr>
          <p:nvPr/>
        </p:nvSpPr>
        <p:spPr>
          <a:xfrm xmlns:a="http://schemas.openxmlformats.org/drawingml/2006/main">
            <a:off x="5989320" y="201168"/>
            <a:ext cx="18288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defPPr algn="l">
              <a:defRPr sz="900">
                <a:solidFill>
                  <a:srgbClr val="173773"/>
                </a:solidFill>
                <a:latin typeface="Arial"/>
                <a:ea typeface="Arial"/>
                <a:cs typeface="Arial"/>
              </a:defRPr>
            </a:defPPr>
          </a:lstStyle>
          <a:p xmlns:a="http://schemas.openxmlformats.org/drawingml/2006/main">
            <a:pPr marL="0" indent="0" algn="l">
              <a:buNone/>
            </a:pPr>
            <a:r>
              <a:rPr sz="900">
                <a:solidFill>
                  <a:srgbClr val="173773"/>
                </a:solidFill>
                <a:latin typeface="Arial"/>
                <a:ea typeface="Arial"/>
                <a:cs typeface="Arial"/>
              </a:rPr>
              <a:t>Предыстория</a:t>
            </a:r>
            <a:endParaRPr sz="800"/>
          </a:p>
        </p:txBody>
      </p:sp>
      <p:sp>
        <p:nvSpPr>
          <p:cNvPr id="6" name="Shape 3">
            <a:extLst xmlns:a="http://schemas.openxmlformats.org/drawingml/2006/main">
              <a:ext uri="{FF2B5EF4-FFF2-40B4-BE49-F238E27FC236}">
                <a16:creationId xmlns:a16="http://schemas.microsoft.com/office/drawing/2014/main" id="{E60241A8-8E46-4EA5-9835-ED8F00422860}"/>
              </a:ext>
            </a:extLst>
          </p:cNvPr>
          <p:cNvSpPr>
            <a:spLocks xmlns:a="http://schemas.openxmlformats.org/drawingml/2006/main" noGrp="1"/>
          </p:cNvSpPr>
          <p:nvPr/>
        </p:nvSpPr>
        <p:spPr>
          <a:xfrm xmlns:a="http://schemas.openxmlformats.org/drawingml/2006/main">
            <a:off x="2697480" y="182880"/>
            <a:ext cx="0" cy="457200"/>
          </a:xfrm>
          <a:prstGeom xmlns:a="http://schemas.openxmlformats.org/drawingml/2006/main" prst="line">
            <a:avLst/>
          </a:prstGeom>
          <a:noFill xmlns:a="http://schemas.openxmlformats.org/drawingml/2006/main"/>
          <a:ln xmlns:a="http://schemas.openxmlformats.org/drawingml/2006/main" w="19050">
            <a:solidFill>
              <a:srgbClr val="0E2D69"/>
            </a:solidFill>
            <a:prstDash val="solid"/>
          </a:ln>
        </p:spPr>
      </p:sp>
      <p:sp>
        <p:nvSpPr>
          <p:cNvPr id="7" name="Shape 4">
            <a:extLst xmlns:a="http://schemas.openxmlformats.org/drawingml/2006/main">
              <a:ext uri="{FF2B5EF4-FFF2-40B4-BE49-F238E27FC236}">
                <a16:creationId xmlns:a16="http://schemas.microsoft.com/office/drawing/2014/main" id="{168DFBC0-1990-4DA8-A02B-92F473CA5A77}"/>
              </a:ext>
            </a:extLst>
          </p:cNvPr>
          <p:cNvSpPr>
            <a:spLocks xmlns:a="http://schemas.openxmlformats.org/drawingml/2006/main" noGrp="1"/>
          </p:cNvSpPr>
          <p:nvPr/>
        </p:nvSpPr>
        <p:spPr>
          <a:xfrm xmlns:a="http://schemas.openxmlformats.org/drawingml/2006/main">
            <a:off x="5852160" y="182880"/>
            <a:ext cx="0" cy="457200"/>
          </a:xfrm>
          <a:prstGeom xmlns:a="http://schemas.openxmlformats.org/drawingml/2006/main" prst="line">
            <a:avLst/>
          </a:prstGeom>
          <a:noFill xmlns:a="http://schemas.openxmlformats.org/drawingml/2006/main"/>
          <a:ln xmlns:a="http://schemas.openxmlformats.org/drawingml/2006/main" w="19050">
            <a:solidFill>
              <a:srgbClr val="0E2D69"/>
            </a:solidFill>
            <a:prstDash val="solid"/>
          </a:ln>
        </p:spPr>
      </p:sp>
      <p:sp>
        <p:nvSpPr>
          <p:cNvPr id="8" name="Shape 5">
            <a:extLst xmlns:a="http://schemas.openxmlformats.org/drawingml/2006/main">
              <a:ext uri="{FF2B5EF4-FFF2-40B4-BE49-F238E27FC236}">
                <a16:creationId xmlns:a16="http://schemas.microsoft.com/office/drawing/2014/main" id="{6C08FD03-D127-4547-B2BF-BBB01F16CB7E}"/>
              </a:ext>
            </a:extLst>
          </p:cNvPr>
          <p:cNvSpPr>
            <a:spLocks xmlns:a="http://schemas.openxmlformats.org/drawingml/2006/main" noGrp="1"/>
          </p:cNvSpPr>
          <p:nvPr/>
        </p:nvSpPr>
        <p:spPr>
          <a:xfrm xmlns:a="http://schemas.openxmlformats.org/drawingml/2006/main">
            <a:off x="7909560" y="182880"/>
            <a:ext cx="0" cy="457200"/>
          </a:xfrm>
          <a:prstGeom xmlns:a="http://schemas.openxmlformats.org/drawingml/2006/main" prst="line">
            <a:avLst/>
          </a:prstGeom>
          <a:noFill xmlns:a="http://schemas.openxmlformats.org/drawingml/2006/main"/>
          <a:ln xmlns:a="http://schemas.openxmlformats.org/drawingml/2006/main" w="19050">
            <a:solidFill>
              <a:srgbClr val="0E2D69"/>
            </a:solidFill>
            <a:prstDash val="solid"/>
          </a:ln>
        </p:spPr>
      </p:sp>
      <p:sp>
        <p:nvSpPr>
          <p:cNvPr id="9" name="Text 6">
            <a:extLst xmlns:a="http://schemas.openxmlformats.org/drawingml/2006/main">
              <a:ext uri="{FF2B5EF4-FFF2-40B4-BE49-F238E27FC236}">
                <a16:creationId xmlns:a16="http://schemas.microsoft.com/office/drawing/2014/main" id="{145D96F4-BF37-4D20-8319-DA8977C7BE1C}"/>
              </a:ext>
            </a:extLst>
          </p:cNvPr>
          <p:cNvSpPr>
            <a:spLocks xmlns:a="http://schemas.openxmlformats.org/drawingml/2006/main" noGrp="1"/>
          </p:cNvSpPr>
          <p:nvPr/>
        </p:nvSpPr>
        <p:spPr>
          <a:xfrm xmlns:a="http://schemas.openxmlformats.org/drawingml/2006/main">
            <a:off x="365760" y="777240"/>
            <a:ext cx="84124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b="1">
                <a:solidFill>
                  <a:srgbClr val="0E2D69"/>
                </a:solidFill>
                <a:latin typeface="Arial"/>
                <a:ea typeface="Arial"/>
                <a:cs typeface="Arial"/>
              </a:rPr>
              <a:t>Модель перетоков между категориями</a:t>
            </a:r>
            <a:endParaRPr sz="2400"/>
          </a:p>
        </p:txBody>
      </p:sp>
      <p:sp>
        <p:nvSpPr>
          <p:cNvPr id="11" name="Shape 7">
            <a:extLst xmlns:a="http://schemas.openxmlformats.org/drawingml/2006/main">
              <a:ext uri="{FF2B5EF4-FFF2-40B4-BE49-F238E27FC236}">
                <a16:creationId xmlns:a16="http://schemas.microsoft.com/office/drawing/2014/main" id="{BB1C32A9-E937-4D53-B944-20FF4C6D7CBA}"/>
              </a:ext>
            </a:extLst>
          </p:cNvPr>
          <p:cNvSpPr>
            <a:spLocks xmlns:a="http://schemas.openxmlformats.org/drawingml/2006/main" noGrp="1"/>
          </p:cNvSpPr>
          <p:nvPr/>
        </p:nvSpPr>
        <p:spPr>
          <a:xfrm xmlns:a="http://schemas.openxmlformats.org/drawingml/2006/main">
            <a:off x="365760" y="1554480"/>
            <a:ext cx="2590800" cy="914400"/>
          </a:xfrm>
          <a:prstGeom xmlns:a="http://schemas.openxmlformats.org/drawingml/2006/main" prst="roundRect">
            <a:avLst>
              <a:gd name="adj" fmla="val 8000"/>
            </a:avLst>
          </a:prstGeom>
          <a:solidFill xmlns:a="http://schemas.openxmlformats.org/drawingml/2006/main">
            <a:srgbClr val="EAF0FA"/>
          </a:solidFill>
          <a:ln xmlns:a="http://schemas.openxmlformats.org/drawingml/2006/main" w="12700">
            <a:solidFill>
              <a:srgbClr val="EAF0FA"/>
            </a:solidFill>
            <a:prstDash val="solid"/>
          </a:ln>
        </p:spPr>
      </p:sp>
      <p:sp>
        <p:nvSpPr>
          <p:cNvPr id="12" name="Text 8">
            <a:extLst xmlns:a="http://schemas.openxmlformats.org/drawingml/2006/main">
              <a:ext uri="{FF2B5EF4-FFF2-40B4-BE49-F238E27FC236}">
                <a16:creationId xmlns:a16="http://schemas.microsoft.com/office/drawing/2014/main" id="{A58422A6-3293-46FA-A18C-E27B8FA467D0}"/>
              </a:ext>
            </a:extLst>
          </p:cNvPr>
          <p:cNvSpPr>
            <a:spLocks xmlns:a="http://schemas.openxmlformats.org/drawingml/2006/main" noGrp="1"/>
          </p:cNvSpPr>
          <p:nvPr/>
        </p:nvSpPr>
        <p:spPr>
          <a:xfrm xmlns:a="http://schemas.openxmlformats.org/drawingml/2006/main">
            <a:off x="438912" y="1554480"/>
            <a:ext cx="2444496"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0E2D69"/>
                </a:solidFill>
                <a:latin typeface="Arial"/>
                <a:ea typeface="Arial"/>
                <a:cs typeface="Arial"/>
              </a:rPr>
              <a:t>Goods.Food</a:t>
            </a:r>
            <a:endParaRPr sz="1300"/>
          </a:p>
          <a:p xmlns:a="http://schemas.openxmlformats.org/drawingml/2006/main">
            <a:pPr marL="0" indent="0" algn="ctr">
              <a:buNone/>
            </a:pPr>
            <a:r>
              <a:rPr sz="1300" b="1">
                <a:solidFill>
                  <a:srgbClr val="0E2D69"/>
                </a:solidFill>
                <a:latin typeface="Arial"/>
                <a:ea typeface="Arial"/>
                <a:cs typeface="Arial"/>
              </a:rPr>
              <a:t>продавец</a:t>
            </a:r>
            <a:endParaRPr sz="1300"/>
          </a:p>
        </p:txBody>
      </p:sp>
      <p:sp>
        <p:nvSpPr>
          <p:cNvPr id="13" name="Text 9">
            <a:extLst xmlns:a="http://schemas.openxmlformats.org/drawingml/2006/main">
              <a:ext uri="{FF2B5EF4-FFF2-40B4-BE49-F238E27FC236}">
                <a16:creationId xmlns:a16="http://schemas.microsoft.com/office/drawing/2014/main" id="{E7F4793B-6145-47A9-AD4D-A2E70D5FFFBD}"/>
              </a:ext>
            </a:extLst>
          </p:cNvPr>
          <p:cNvSpPr>
            <a:spLocks xmlns:a="http://schemas.openxmlformats.org/drawingml/2006/main" noGrp="1"/>
          </p:cNvSpPr>
          <p:nvPr/>
        </p:nvSpPr>
        <p:spPr>
          <a:xfrm xmlns:a="http://schemas.openxmlformats.org/drawingml/2006/main">
            <a:off x="2956560" y="1554480"/>
            <a:ext cx="32004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244A9A"/>
                </a:solidFill>
                <a:latin typeface="Arial"/>
                <a:ea typeface="Arial"/>
                <a:cs typeface="Arial"/>
              </a:rPr>
              <a:t>→</a:t>
            </a:r>
            <a:endParaRPr sz="2000"/>
          </a:p>
        </p:txBody>
      </p:sp>
      <p:sp>
        <p:nvSpPr>
          <p:cNvPr id="14" name="Shape 10">
            <a:extLst xmlns:a="http://schemas.openxmlformats.org/drawingml/2006/main">
              <a:ext uri="{FF2B5EF4-FFF2-40B4-BE49-F238E27FC236}">
                <a16:creationId xmlns:a16="http://schemas.microsoft.com/office/drawing/2014/main" id="{7489B839-EF84-4F23-9394-82388F96996F}"/>
              </a:ext>
            </a:extLst>
          </p:cNvPr>
          <p:cNvSpPr>
            <a:spLocks xmlns:a="http://schemas.openxmlformats.org/drawingml/2006/main" noGrp="1"/>
          </p:cNvSpPr>
          <p:nvPr/>
        </p:nvSpPr>
        <p:spPr>
          <a:xfrm xmlns:a="http://schemas.openxmlformats.org/drawingml/2006/main">
            <a:off x="3276600" y="1554480"/>
            <a:ext cx="2590800" cy="914400"/>
          </a:xfrm>
          <a:prstGeom xmlns:a="http://schemas.openxmlformats.org/drawingml/2006/main" prst="roundRect">
            <a:avLst>
              <a:gd name="adj" fmla="val 8000"/>
            </a:avLst>
          </a:prstGeom>
          <a:solidFill xmlns:a="http://schemas.openxmlformats.org/drawingml/2006/main">
            <a:srgbClr val="EAF0FA"/>
          </a:solidFill>
          <a:ln xmlns:a="http://schemas.openxmlformats.org/drawingml/2006/main" w="12700">
            <a:solidFill>
              <a:srgbClr val="EAF0FA"/>
            </a:solidFill>
            <a:prstDash val="solid"/>
          </a:ln>
        </p:spPr>
      </p:sp>
      <p:sp>
        <p:nvSpPr>
          <p:cNvPr id="15" name="Text 11">
            <a:extLst xmlns:a="http://schemas.openxmlformats.org/drawingml/2006/main">
              <a:ext uri="{FF2B5EF4-FFF2-40B4-BE49-F238E27FC236}">
                <a16:creationId xmlns:a16="http://schemas.microsoft.com/office/drawing/2014/main" id="{BB996DB3-CFC9-4571-9ED0-A4C9D5F5D9C6}"/>
              </a:ext>
            </a:extLst>
          </p:cNvPr>
          <p:cNvSpPr>
            <a:spLocks xmlns:a="http://schemas.openxmlformats.org/drawingml/2006/main" noGrp="1"/>
          </p:cNvSpPr>
          <p:nvPr/>
        </p:nvSpPr>
        <p:spPr>
          <a:xfrm xmlns:a="http://schemas.openxmlformats.org/drawingml/2006/main">
            <a:off x="3349752" y="1554480"/>
            <a:ext cx="2444496"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0E2D69"/>
                </a:solidFill>
                <a:latin typeface="Arial"/>
                <a:ea typeface="Arial"/>
                <a:cs typeface="Arial"/>
              </a:rPr>
              <a:t>Services.Business</a:t>
            </a:r>
            <a:endParaRPr sz="1300"/>
          </a:p>
          <a:p xmlns:a="http://schemas.openxmlformats.org/drawingml/2006/main">
            <a:pPr marL="0" indent="0" algn="ctr">
              <a:buNone/>
            </a:pPr>
            <a:r>
              <a:rPr sz="1300" b="1">
                <a:solidFill>
                  <a:srgbClr val="0E2D69"/>
                </a:solidFill>
                <a:latin typeface="Arial"/>
                <a:ea typeface="Arial"/>
                <a:cs typeface="Arial"/>
              </a:rPr>
              <a:t>покупатель</a:t>
            </a:r>
            <a:endParaRPr sz="1300"/>
          </a:p>
        </p:txBody>
      </p:sp>
      <p:sp>
        <p:nvSpPr>
          <p:cNvPr id="16" name="Text 12">
            <a:extLst xmlns:a="http://schemas.openxmlformats.org/drawingml/2006/main">
              <a:ext uri="{FF2B5EF4-FFF2-40B4-BE49-F238E27FC236}">
                <a16:creationId xmlns:a16="http://schemas.microsoft.com/office/drawing/2014/main" id="{2A2A6C2D-FE3B-4CB0-B157-3A6FA705FBA8}"/>
              </a:ext>
            </a:extLst>
          </p:cNvPr>
          <p:cNvSpPr>
            <a:spLocks xmlns:a="http://schemas.openxmlformats.org/drawingml/2006/main" noGrp="1"/>
          </p:cNvSpPr>
          <p:nvPr/>
        </p:nvSpPr>
        <p:spPr>
          <a:xfrm xmlns:a="http://schemas.openxmlformats.org/drawingml/2006/main">
            <a:off x="5867400" y="1554480"/>
            <a:ext cx="32004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244A9A"/>
                </a:solidFill>
                <a:latin typeface="Arial"/>
                <a:ea typeface="Arial"/>
                <a:cs typeface="Arial"/>
              </a:rPr>
              <a:t>→</a:t>
            </a:r>
            <a:endParaRPr sz="2000"/>
          </a:p>
        </p:txBody>
      </p:sp>
      <p:sp>
        <p:nvSpPr>
          <p:cNvPr id="17" name="Shape 13">
            <a:extLst xmlns:a="http://schemas.openxmlformats.org/drawingml/2006/main">
              <a:ext uri="{FF2B5EF4-FFF2-40B4-BE49-F238E27FC236}">
                <a16:creationId xmlns:a16="http://schemas.microsoft.com/office/drawing/2014/main" id="{15801C97-9323-49FB-A01A-DC346D8D57E1}"/>
              </a:ext>
            </a:extLst>
          </p:cNvPr>
          <p:cNvSpPr>
            <a:spLocks xmlns:a="http://schemas.openxmlformats.org/drawingml/2006/main" noGrp="1"/>
          </p:cNvSpPr>
          <p:nvPr/>
        </p:nvSpPr>
        <p:spPr>
          <a:xfrm xmlns:a="http://schemas.openxmlformats.org/drawingml/2006/main">
            <a:off x="6187440" y="1554480"/>
            <a:ext cx="2590800" cy="914400"/>
          </a:xfrm>
          <a:prstGeom xmlns:a="http://schemas.openxmlformats.org/drawingml/2006/main" prst="roundRect">
            <a:avLst>
              <a:gd name="adj" fmla="val 8000"/>
            </a:avLst>
          </a:prstGeom>
          <a:solidFill xmlns:a="http://schemas.openxmlformats.org/drawingml/2006/main">
            <a:srgbClr val="EAF0FA"/>
          </a:solidFill>
          <a:ln xmlns:a="http://schemas.openxmlformats.org/drawingml/2006/main" w="12700">
            <a:solidFill>
              <a:srgbClr val="EAF0FA"/>
            </a:solidFill>
            <a:prstDash val="solid"/>
          </a:ln>
        </p:spPr>
      </p:sp>
      <p:sp>
        <p:nvSpPr>
          <p:cNvPr id="18" name="Text 14">
            <a:extLst xmlns:a="http://schemas.openxmlformats.org/drawingml/2006/main">
              <a:ext uri="{FF2B5EF4-FFF2-40B4-BE49-F238E27FC236}">
                <a16:creationId xmlns:a16="http://schemas.microsoft.com/office/drawing/2014/main" id="{605B279F-72B1-4BEB-8213-555A6FB52930}"/>
              </a:ext>
            </a:extLst>
          </p:cNvPr>
          <p:cNvSpPr>
            <a:spLocks xmlns:a="http://schemas.openxmlformats.org/drawingml/2006/main" noGrp="1"/>
          </p:cNvSpPr>
          <p:nvPr/>
        </p:nvSpPr>
        <p:spPr>
          <a:xfrm xmlns:a="http://schemas.openxmlformats.org/drawingml/2006/main">
            <a:off x="6260592" y="1554480"/>
            <a:ext cx="2444496"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0E2D69"/>
                </a:solidFill>
                <a:latin typeface="Arial"/>
                <a:ea typeface="Arial"/>
                <a:cs typeface="Arial"/>
              </a:rPr>
              <a:t>Services.Appliances</a:t>
            </a:r>
            <a:endParaRPr sz="1300"/>
          </a:p>
          <a:p xmlns:a="http://schemas.openxmlformats.org/drawingml/2006/main">
            <a:pPr marL="0" indent="0" algn="ctr">
              <a:buNone/>
            </a:pPr>
            <a:r>
              <a:rPr sz="1300" b="1">
                <a:solidFill>
                  <a:srgbClr val="0E2D69"/>
                </a:solidFill>
                <a:latin typeface="Arial"/>
                <a:ea typeface="Arial"/>
                <a:cs typeface="Arial"/>
              </a:rPr>
              <a:t>покупатель</a:t>
            </a:r>
            <a:endParaRPr sz="1300"/>
          </a:p>
        </p:txBody>
      </p:sp>
      <p:sp>
        <p:nvSpPr>
          <p:cNvPr id="19" name="Text 15">
            <a:extLst xmlns:a="http://schemas.openxmlformats.org/drawingml/2006/main">
              <a:ext uri="{FF2B5EF4-FFF2-40B4-BE49-F238E27FC236}">
                <a16:creationId xmlns:a16="http://schemas.microsoft.com/office/drawing/2014/main" id="{4F7FE496-6FEF-4B07-9386-D176622E26DD}"/>
              </a:ext>
            </a:extLst>
          </p:cNvPr>
          <p:cNvSpPr>
            <a:spLocks xmlns:a="http://schemas.openxmlformats.org/drawingml/2006/main" noGrp="1"/>
          </p:cNvSpPr>
          <p:nvPr/>
        </p:nvSpPr>
        <p:spPr>
          <a:xfrm xmlns:a="http://schemas.openxmlformats.org/drawingml/2006/main">
            <a:off x="365760" y="256032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rgbClr val="5B6B8C"/>
                </a:solidFill>
                <a:latin typeface="Arial"/>
                <a:ea typeface="Arial"/>
                <a:cs typeface="Arial"/>
              </a:rPr>
              <a:t>Последовательность действий одного пользователя</a:t>
            </a:r>
            <a:endParaRPr sz="1200"/>
          </a:p>
        </p:txBody>
      </p:sp>
      <p:sp>
        <p:nvSpPr>
          <p:cNvPr id="20" name="Shape 16">
            <a:extLst xmlns:a="http://schemas.openxmlformats.org/drawingml/2006/main">
              <a:ext uri="{FF2B5EF4-FFF2-40B4-BE49-F238E27FC236}">
                <a16:creationId xmlns:a16="http://schemas.microsoft.com/office/drawing/2014/main" id="{CD58BEBC-E8CD-4BD4-A53F-E92E327F08EF}"/>
              </a:ext>
            </a:extLst>
          </p:cNvPr>
          <p:cNvSpPr>
            <a:spLocks xmlns:a="http://schemas.openxmlformats.org/drawingml/2006/main" noGrp="1"/>
          </p:cNvSpPr>
          <p:nvPr/>
        </p:nvSpPr>
        <p:spPr>
          <a:xfrm xmlns:a="http://schemas.openxmlformats.org/drawingml/2006/main">
            <a:off x="365760" y="3017520"/>
            <a:ext cx="2697480" cy="731520"/>
          </a:xfrm>
          <a:prstGeom xmlns:a="http://schemas.openxmlformats.org/drawingml/2006/main" prst="roundRect">
            <a:avLst>
              <a:gd name="adj" fmla="val 10000"/>
            </a:avLst>
          </a:prstGeom>
          <a:solidFill xmlns:a="http://schemas.openxmlformats.org/drawingml/2006/main">
            <a:srgbClr val="EAF0FA"/>
          </a:solidFill>
          <a:ln xmlns:a="http://schemas.openxmlformats.org/drawingml/2006/main" w="12700">
            <a:solidFill>
              <a:srgbClr val="EAF0FA"/>
            </a:solidFill>
            <a:prstDash val="solid"/>
          </a:ln>
        </p:spPr>
      </p:sp>
      <p:sp>
        <p:nvSpPr>
          <p:cNvPr id="21" name="Text 17">
            <a:extLst xmlns:a="http://schemas.openxmlformats.org/drawingml/2006/main">
              <a:ext uri="{FF2B5EF4-FFF2-40B4-BE49-F238E27FC236}">
                <a16:creationId xmlns:a16="http://schemas.microsoft.com/office/drawing/2014/main" id="{7E3DE1DD-8C0F-4930-B047-F71F15E217A2}"/>
              </a:ext>
            </a:extLst>
          </p:cNvPr>
          <p:cNvSpPr>
            <a:spLocks xmlns:a="http://schemas.openxmlformats.org/drawingml/2006/main" noGrp="1"/>
          </p:cNvSpPr>
          <p:nvPr/>
        </p:nvSpPr>
        <p:spPr>
          <a:xfrm xmlns:a="http://schemas.openxmlformats.org/drawingml/2006/main">
            <a:off x="457200" y="3017520"/>
            <a:ext cx="25146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0E2D69"/>
                </a:solidFill>
                <a:latin typeface="Arial"/>
                <a:ea typeface="Arial"/>
                <a:cs typeface="Arial"/>
              </a:rPr>
              <a:t>Goods.Food  →  Services.Business</a:t>
            </a:r>
            <a:endParaRPr sz="1200"/>
          </a:p>
        </p:txBody>
      </p:sp>
      <p:sp>
        <p:nvSpPr>
          <p:cNvPr id="22" name="Shape 18">
            <a:extLst xmlns:a="http://schemas.openxmlformats.org/drawingml/2006/main">
              <a:ext uri="{FF2B5EF4-FFF2-40B4-BE49-F238E27FC236}">
                <a16:creationId xmlns:a16="http://schemas.microsoft.com/office/drawing/2014/main" id="{13425C7D-A79F-4168-8097-8A995448054C}"/>
              </a:ext>
            </a:extLst>
          </p:cNvPr>
          <p:cNvSpPr>
            <a:spLocks xmlns:a="http://schemas.openxmlformats.org/drawingml/2006/main" noGrp="1"/>
          </p:cNvSpPr>
          <p:nvPr/>
        </p:nvSpPr>
        <p:spPr>
          <a:xfrm xmlns:a="http://schemas.openxmlformats.org/drawingml/2006/main">
            <a:off x="3200400" y="3017520"/>
            <a:ext cx="2697480" cy="731520"/>
          </a:xfrm>
          <a:prstGeom xmlns:a="http://schemas.openxmlformats.org/drawingml/2006/main" prst="roundRect">
            <a:avLst>
              <a:gd name="adj" fmla="val 10000"/>
            </a:avLst>
          </a:prstGeom>
          <a:solidFill xmlns:a="http://schemas.openxmlformats.org/drawingml/2006/main">
            <a:srgbClr val="EAF0FA"/>
          </a:solidFill>
          <a:ln xmlns:a="http://schemas.openxmlformats.org/drawingml/2006/main" w="12700">
            <a:solidFill>
              <a:srgbClr val="EAF0FA"/>
            </a:solidFill>
            <a:prstDash val="solid"/>
          </a:ln>
        </p:spPr>
      </p:sp>
      <p:sp>
        <p:nvSpPr>
          <p:cNvPr id="23" name="Text 19">
            <a:extLst xmlns:a="http://schemas.openxmlformats.org/drawingml/2006/main">
              <a:ext uri="{FF2B5EF4-FFF2-40B4-BE49-F238E27FC236}">
                <a16:creationId xmlns:a16="http://schemas.microsoft.com/office/drawing/2014/main" id="{2D17632C-EC4A-4F76-93AB-6B20DCDCDA37}"/>
              </a:ext>
            </a:extLst>
          </p:cNvPr>
          <p:cNvSpPr>
            <a:spLocks xmlns:a="http://schemas.openxmlformats.org/drawingml/2006/main" noGrp="1"/>
          </p:cNvSpPr>
          <p:nvPr/>
        </p:nvSpPr>
        <p:spPr>
          <a:xfrm xmlns:a="http://schemas.openxmlformats.org/drawingml/2006/main">
            <a:off x="3291840" y="3017520"/>
            <a:ext cx="25146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0E2D69"/>
                </a:solidFill>
                <a:latin typeface="Arial"/>
                <a:ea typeface="Arial"/>
                <a:cs typeface="Arial"/>
              </a:rPr>
              <a:t>Goods.Food  →  Services.Appliances</a:t>
            </a:r>
            <a:endParaRPr sz="1200"/>
          </a:p>
        </p:txBody>
      </p:sp>
      <p:sp>
        <p:nvSpPr>
          <p:cNvPr id="24" name="Shape 20">
            <a:extLst xmlns:a="http://schemas.openxmlformats.org/drawingml/2006/main">
              <a:ext uri="{FF2B5EF4-FFF2-40B4-BE49-F238E27FC236}">
                <a16:creationId xmlns:a16="http://schemas.microsoft.com/office/drawing/2014/main" id="{5EE63289-C1D0-4F26-AC42-FF9AF482C5AF}"/>
              </a:ext>
            </a:extLst>
          </p:cNvPr>
          <p:cNvSpPr>
            <a:spLocks xmlns:a="http://schemas.openxmlformats.org/drawingml/2006/main" noGrp="1"/>
          </p:cNvSpPr>
          <p:nvPr/>
        </p:nvSpPr>
        <p:spPr>
          <a:xfrm xmlns:a="http://schemas.openxmlformats.org/drawingml/2006/main">
            <a:off x="6035040" y="3017520"/>
            <a:ext cx="2697480" cy="731520"/>
          </a:xfrm>
          <a:prstGeom xmlns:a="http://schemas.openxmlformats.org/drawingml/2006/main" prst="roundRect">
            <a:avLst>
              <a:gd name="adj" fmla="val 10000"/>
            </a:avLst>
          </a:prstGeom>
          <a:solidFill xmlns:a="http://schemas.openxmlformats.org/drawingml/2006/main">
            <a:srgbClr val="EAF0FA"/>
          </a:solidFill>
          <a:ln xmlns:a="http://schemas.openxmlformats.org/drawingml/2006/main" w="12700">
            <a:solidFill>
              <a:srgbClr val="EAF0FA"/>
            </a:solidFill>
            <a:prstDash val="solid"/>
          </a:ln>
        </p:spPr>
      </p:sp>
      <p:sp>
        <p:nvSpPr>
          <p:cNvPr id="25" name="Text 21">
            <a:extLst xmlns:a="http://schemas.openxmlformats.org/drawingml/2006/main">
              <a:ext uri="{FF2B5EF4-FFF2-40B4-BE49-F238E27FC236}">
                <a16:creationId xmlns:a16="http://schemas.microsoft.com/office/drawing/2014/main" id="{7F34CDD8-E16B-4856-87F7-7A434AB10807}"/>
              </a:ext>
            </a:extLst>
          </p:cNvPr>
          <p:cNvSpPr>
            <a:spLocks xmlns:a="http://schemas.openxmlformats.org/drawingml/2006/main" noGrp="1"/>
          </p:cNvSpPr>
          <p:nvPr/>
        </p:nvSpPr>
        <p:spPr>
          <a:xfrm xmlns:a="http://schemas.openxmlformats.org/drawingml/2006/main">
            <a:off x="6126480" y="3017520"/>
            <a:ext cx="25146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0E2D69"/>
                </a:solidFill>
                <a:latin typeface="Arial"/>
                <a:ea typeface="Arial"/>
                <a:cs typeface="Arial"/>
              </a:rPr>
              <a:t>Services.Business  →  Services.Appliances</a:t>
            </a:r>
            <a:endParaRPr sz="1200"/>
          </a:p>
        </p:txBody>
      </p:sp>
      <p:sp>
        <p:nvSpPr>
          <p:cNvPr id="26" name="Text 22">
            <a:extLst xmlns:a="http://schemas.openxmlformats.org/drawingml/2006/main">
              <a:ext uri="{FF2B5EF4-FFF2-40B4-BE49-F238E27FC236}">
                <a16:creationId xmlns:a16="http://schemas.microsoft.com/office/drawing/2014/main" id="{FDAEB060-F452-49B7-9B64-19BF2FF7F53B}"/>
              </a:ext>
            </a:extLst>
          </p:cNvPr>
          <p:cNvSpPr>
            <a:spLocks xmlns:a="http://schemas.openxmlformats.org/drawingml/2006/main" noGrp="1"/>
          </p:cNvSpPr>
          <p:nvPr/>
        </p:nvSpPr>
        <p:spPr>
          <a:xfrm xmlns:a="http://schemas.openxmlformats.org/drawingml/2006/main">
            <a:off x="365760" y="4023360"/>
            <a:ext cx="84124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rgbClr val="0E2D69"/>
                </a:solidFill>
                <a:latin typeface="Arial"/>
                <a:ea typeface="Arial"/>
                <a:cs typeface="Arial"/>
              </a:rPr>
              <a:t>По действиям за месяц ищем категории, между которыми часто происходят последовательные переходы</a:t>
            </a:r>
            <a:endParaRPr sz="1500"/>
          </a:p>
        </p:txBody>
      </p:sp>
      <p:sp>
        <p:nvSpPr>
          <p:cNvPr id="27" name="Text 23">
            <a:extLst xmlns:a="http://schemas.openxmlformats.org/drawingml/2006/main">
              <a:ext uri="{FF2B5EF4-FFF2-40B4-BE49-F238E27FC236}">
                <a16:creationId xmlns:a16="http://schemas.microsoft.com/office/drawing/2014/main" id="{6C73C93C-95C7-4DD0-A5E9-46E364208B5A}"/>
              </a:ext>
            </a:extLst>
          </p:cNvPr>
          <p:cNvSpPr>
            <a:spLocks xmlns:a="http://schemas.openxmlformats.org/drawingml/2006/main" noGrp="1"/>
          </p:cNvSpPr>
          <p:nvPr/>
        </p:nvSpPr>
        <p:spPr>
          <a:xfrm xmlns:a="http://schemas.openxmlformats.org/drawingml/2006/main">
            <a:off x="8001000" y="201168"/>
            <a:ext cx="8686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defPPr algn="ctr">
              <a:defRPr sz="1200">
                <a:solidFill>
                  <a:srgbClr val="173773"/>
                </a:solidFill>
                <a:latin typeface="Arial"/>
                <a:ea typeface="Arial"/>
                <a:cs typeface="Arial"/>
              </a:defRPr>
            </a:defPPr>
          </a:lstStyle>
          <a:p xmlns:a="http://schemas.openxmlformats.org/drawingml/2006/main">
            <a:pPr marL="0" indent="0" algn="ctr">
              <a:buNone/>
            </a:pPr>
            <a:r>
              <a:rPr sz="1200">
                <a:solidFill>
                  <a:srgbClr val="173773"/>
                </a:solidFill>
                <a:latin typeface="Arial"/>
                <a:ea typeface="Arial"/>
                <a:cs typeface="Arial"/>
              </a:rPr>
              <a:t>3/20</a:t>
            </a:r>
            <a:endParaRPr sz="1200"/>
          </a:p>
        </p:txBody>
      </p:sp>
    </p:spTree>
    <p:extLst>
      <p:ext uri="{BB962C8B-B14F-4D97-AF65-F5344CB8AC3E}">
        <p14:creationId xmlns:p14="http://schemas.microsoft.com/office/powerpoint/2010/main" val="62647542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E3ADA793-2C49-4159-9CDA-3BA8B9386EE8}"/>
              </a:ext>
            </a:extLst>
          </p:cNvPr>
          <p:cNvPicPr>
            <a:picLocks xmlns:a="http://schemas.openxmlformats.org/drawingml/2006/main" noChangeAspect="1"/>
          </p:cNvPicPr>
          <p:nvPr/>
        </p:nvPicPr>
        <p:blipFill>
          <a:blip xmlns:r="http://schemas.openxmlformats.org/officeDocument/2006/relationships" xmlns:a="http://schemas.openxmlformats.org/drawingml/2006/main" r:embed="Racb26df6f5e64d7a"/>
          <a:stretch xmlns:a="http://schemas.openxmlformats.org/drawingml/2006/main">
            <a:fillRect l="0" t="0" r="0" b="0"/>
          </a:stretch>
        </p:blipFill>
        <p:spPr>
          <a:xfrm xmlns:a="http://schemas.openxmlformats.org/drawingml/2006/main">
            <a:off x="274320" y="137160"/>
            <a:ext cx="502920" cy="50292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5C1CA449-5FC9-4602-AD02-3B31985DECFA}"/>
              </a:ext>
            </a:extLst>
          </p:cNvPr>
          <p:cNvSpPr>
            <a:spLocks xmlns:a="http://schemas.openxmlformats.org/drawingml/2006/main" noGrp="1"/>
          </p:cNvSpPr>
          <p:nvPr/>
        </p:nvSpPr>
        <p:spPr>
          <a:xfrm xmlns:a="http://schemas.openxmlformats.org/drawingml/2006/main">
            <a:off x="868680" y="201168"/>
            <a:ext cx="173736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0E2D69"/>
                </a:solidFill>
                <a:latin typeface="Arial"/>
                <a:ea typeface="Arial"/>
                <a:cs typeface="Arial"/>
              </a:rPr>
              <a:t>Школа информатики, физики и технологий</a:t>
            </a:r>
            <a:endParaRPr sz="800"/>
          </a:p>
        </p:txBody>
      </p:sp>
      <p:sp>
        <p:nvSpPr>
          <p:cNvPr id="4" name="Text 1">
            <a:extLst xmlns:a="http://schemas.openxmlformats.org/drawingml/2006/main">
              <a:ext uri="{FF2B5EF4-FFF2-40B4-BE49-F238E27FC236}">
                <a16:creationId xmlns:a16="http://schemas.microsoft.com/office/drawing/2014/main" id="{C2EBE5FA-5446-4E39-AE7A-487DBF82A57C}"/>
              </a:ext>
            </a:extLst>
          </p:cNvPr>
          <p:cNvSpPr>
            <a:spLocks xmlns:a="http://schemas.openxmlformats.org/drawingml/2006/main" noGrp="1"/>
          </p:cNvSpPr>
          <p:nvPr/>
        </p:nvSpPr>
        <p:spPr>
          <a:xfrm xmlns:a="http://schemas.openxmlformats.org/drawingml/2006/main">
            <a:off x="2834640" y="201168"/>
            <a:ext cx="29260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0E2D69"/>
                </a:solidFill>
                <a:latin typeface="Arial"/>
                <a:ea typeface="Arial"/>
                <a:cs typeface="Arial"/>
              </a:rPr>
              <a:t>Рекомендательная система на основе поведенческих эмбеддингов</a:t>
            </a:r>
            <a:endParaRPr sz="800"/>
          </a:p>
        </p:txBody>
      </p:sp>
      <p:sp>
        <p:nvSpPr>
          <p:cNvPr id="5" name="Text 2">
            <a:extLst xmlns:a="http://schemas.openxmlformats.org/drawingml/2006/main">
              <a:ext uri="{FF2B5EF4-FFF2-40B4-BE49-F238E27FC236}">
                <a16:creationId xmlns:a16="http://schemas.microsoft.com/office/drawing/2014/main" id="{8F5B5E39-4C8A-488C-9097-4751F37A1A87}"/>
              </a:ext>
            </a:extLst>
          </p:cNvPr>
          <p:cNvSpPr>
            <a:spLocks xmlns:a="http://schemas.openxmlformats.org/drawingml/2006/main" noGrp="1"/>
          </p:cNvSpPr>
          <p:nvPr/>
        </p:nvSpPr>
        <p:spPr>
          <a:xfrm xmlns:a="http://schemas.openxmlformats.org/drawingml/2006/main">
            <a:off x="5989320" y="201168"/>
            <a:ext cx="18288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defPPr algn="l">
              <a:defRPr sz="900">
                <a:solidFill>
                  <a:srgbClr val="173773"/>
                </a:solidFill>
                <a:latin typeface="Arial"/>
                <a:ea typeface="Arial"/>
                <a:cs typeface="Arial"/>
              </a:defRPr>
            </a:defPPr>
          </a:lstStyle>
          <a:p xmlns:a="http://schemas.openxmlformats.org/drawingml/2006/main">
            <a:pPr marL="0" indent="0" algn="l">
              <a:buNone/>
            </a:pPr>
            <a:r>
              <a:rPr sz="900">
                <a:solidFill>
                  <a:srgbClr val="173773"/>
                </a:solidFill>
                <a:latin typeface="Arial"/>
                <a:ea typeface="Arial"/>
                <a:cs typeface="Arial"/>
              </a:rPr>
              <a:t>Предыстория</a:t>
            </a:r>
            <a:endParaRPr sz="800"/>
          </a:p>
        </p:txBody>
      </p:sp>
      <p:sp>
        <p:nvSpPr>
          <p:cNvPr id="6" name="Shape 3">
            <a:extLst xmlns:a="http://schemas.openxmlformats.org/drawingml/2006/main">
              <a:ext uri="{FF2B5EF4-FFF2-40B4-BE49-F238E27FC236}">
                <a16:creationId xmlns:a16="http://schemas.microsoft.com/office/drawing/2014/main" id="{49C3BC3B-890E-4290-87DB-D8571A1A2BD6}"/>
              </a:ext>
            </a:extLst>
          </p:cNvPr>
          <p:cNvSpPr>
            <a:spLocks xmlns:a="http://schemas.openxmlformats.org/drawingml/2006/main" noGrp="1"/>
          </p:cNvSpPr>
          <p:nvPr/>
        </p:nvSpPr>
        <p:spPr>
          <a:xfrm xmlns:a="http://schemas.openxmlformats.org/drawingml/2006/main">
            <a:off x="2697480" y="182880"/>
            <a:ext cx="0" cy="457200"/>
          </a:xfrm>
          <a:prstGeom xmlns:a="http://schemas.openxmlformats.org/drawingml/2006/main" prst="line">
            <a:avLst/>
          </a:prstGeom>
          <a:noFill xmlns:a="http://schemas.openxmlformats.org/drawingml/2006/main"/>
          <a:ln xmlns:a="http://schemas.openxmlformats.org/drawingml/2006/main" w="19050">
            <a:solidFill>
              <a:srgbClr val="0E2D69"/>
            </a:solidFill>
            <a:prstDash val="solid"/>
          </a:ln>
        </p:spPr>
      </p:sp>
      <p:sp>
        <p:nvSpPr>
          <p:cNvPr id="7" name="Shape 4">
            <a:extLst xmlns:a="http://schemas.openxmlformats.org/drawingml/2006/main">
              <a:ext uri="{FF2B5EF4-FFF2-40B4-BE49-F238E27FC236}">
                <a16:creationId xmlns:a16="http://schemas.microsoft.com/office/drawing/2014/main" id="{31FFD86B-E93D-47DE-B719-4460C2EC85E8}"/>
              </a:ext>
            </a:extLst>
          </p:cNvPr>
          <p:cNvSpPr>
            <a:spLocks xmlns:a="http://schemas.openxmlformats.org/drawingml/2006/main" noGrp="1"/>
          </p:cNvSpPr>
          <p:nvPr/>
        </p:nvSpPr>
        <p:spPr>
          <a:xfrm xmlns:a="http://schemas.openxmlformats.org/drawingml/2006/main">
            <a:off x="5852160" y="182880"/>
            <a:ext cx="0" cy="457200"/>
          </a:xfrm>
          <a:prstGeom xmlns:a="http://schemas.openxmlformats.org/drawingml/2006/main" prst="line">
            <a:avLst/>
          </a:prstGeom>
          <a:noFill xmlns:a="http://schemas.openxmlformats.org/drawingml/2006/main"/>
          <a:ln xmlns:a="http://schemas.openxmlformats.org/drawingml/2006/main" w="19050">
            <a:solidFill>
              <a:srgbClr val="0E2D69"/>
            </a:solidFill>
            <a:prstDash val="solid"/>
          </a:ln>
        </p:spPr>
      </p:sp>
      <p:sp>
        <p:nvSpPr>
          <p:cNvPr id="8" name="Shape 5">
            <a:extLst xmlns:a="http://schemas.openxmlformats.org/drawingml/2006/main">
              <a:ext uri="{FF2B5EF4-FFF2-40B4-BE49-F238E27FC236}">
                <a16:creationId xmlns:a16="http://schemas.microsoft.com/office/drawing/2014/main" id="{922B16BC-DCC8-4321-A7B2-EA9186B0751F}"/>
              </a:ext>
            </a:extLst>
          </p:cNvPr>
          <p:cNvSpPr>
            <a:spLocks xmlns:a="http://schemas.openxmlformats.org/drawingml/2006/main" noGrp="1"/>
          </p:cNvSpPr>
          <p:nvPr/>
        </p:nvSpPr>
        <p:spPr>
          <a:xfrm xmlns:a="http://schemas.openxmlformats.org/drawingml/2006/main">
            <a:off x="7909560" y="182880"/>
            <a:ext cx="0" cy="457200"/>
          </a:xfrm>
          <a:prstGeom xmlns:a="http://schemas.openxmlformats.org/drawingml/2006/main" prst="line">
            <a:avLst/>
          </a:prstGeom>
          <a:noFill xmlns:a="http://schemas.openxmlformats.org/drawingml/2006/main"/>
          <a:ln xmlns:a="http://schemas.openxmlformats.org/drawingml/2006/main" w="19050">
            <a:solidFill>
              <a:srgbClr val="0E2D69"/>
            </a:solidFill>
            <a:prstDash val="solid"/>
          </a:ln>
        </p:spPr>
      </p:sp>
      <p:sp>
        <p:nvSpPr>
          <p:cNvPr id="9" name="Text 6">
            <a:extLst xmlns:a="http://schemas.openxmlformats.org/drawingml/2006/main">
              <a:ext uri="{FF2B5EF4-FFF2-40B4-BE49-F238E27FC236}">
                <a16:creationId xmlns:a16="http://schemas.microsoft.com/office/drawing/2014/main" id="{9252873E-E48E-4EE9-8F67-1AEDB9FCC02D}"/>
              </a:ext>
            </a:extLst>
          </p:cNvPr>
          <p:cNvSpPr>
            <a:spLocks xmlns:a="http://schemas.openxmlformats.org/drawingml/2006/main" noGrp="1"/>
          </p:cNvSpPr>
          <p:nvPr/>
        </p:nvSpPr>
        <p:spPr>
          <a:xfrm xmlns:a="http://schemas.openxmlformats.org/drawingml/2006/main">
            <a:off x="365760" y="777240"/>
            <a:ext cx="84124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b="1">
                <a:solidFill>
                  <a:srgbClr val="0E2D69"/>
                </a:solidFill>
                <a:latin typeface="Arial"/>
                <a:ea typeface="Arial"/>
                <a:cs typeface="Arial"/>
              </a:rPr>
              <a:t>Ограничения модели перетоков</a:t>
            </a:r>
            <a:endParaRPr sz="2400"/>
          </a:p>
        </p:txBody>
      </p:sp>
      <p:sp>
        <p:nvSpPr>
          <p:cNvPr id="11" name="Shape 7">
            <a:extLst xmlns:a="http://schemas.openxmlformats.org/drawingml/2006/main">
              <a:ext uri="{FF2B5EF4-FFF2-40B4-BE49-F238E27FC236}">
                <a16:creationId xmlns:a16="http://schemas.microsoft.com/office/drawing/2014/main" id="{2881A903-A43E-4ACB-B24D-830419496941}"/>
              </a:ext>
            </a:extLst>
          </p:cNvPr>
          <p:cNvSpPr>
            <a:spLocks xmlns:a="http://schemas.openxmlformats.org/drawingml/2006/main" noGrp="1"/>
          </p:cNvSpPr>
          <p:nvPr/>
        </p:nvSpPr>
        <p:spPr>
          <a:xfrm xmlns:a="http://schemas.openxmlformats.org/drawingml/2006/main">
            <a:off x="365760" y="1463040"/>
            <a:ext cx="8412480" cy="731520"/>
          </a:xfrm>
          <a:prstGeom xmlns:a="http://schemas.openxmlformats.org/drawingml/2006/main" prst="roundRect">
            <a:avLst>
              <a:gd name="adj" fmla="val 10000"/>
            </a:avLst>
          </a:prstGeom>
          <a:solidFill xmlns:a="http://schemas.openxmlformats.org/drawingml/2006/main">
            <a:srgbClr val="FDEBDD"/>
          </a:solidFill>
          <a:ln xmlns:a="http://schemas.openxmlformats.org/drawingml/2006/main" w="12700">
            <a:solidFill>
              <a:srgbClr val="FDEBDD"/>
            </a:solidFill>
            <a:prstDash val="solid"/>
          </a:ln>
        </p:spPr>
      </p:sp>
      <p:sp>
        <p:nvSpPr>
          <p:cNvPr id="12" name="Text 8">
            <a:extLst xmlns:a="http://schemas.openxmlformats.org/drawingml/2006/main">
              <a:ext uri="{FF2B5EF4-FFF2-40B4-BE49-F238E27FC236}">
                <a16:creationId xmlns:a16="http://schemas.microsoft.com/office/drawing/2014/main" id="{A2F0E1CF-466F-48EC-9ECC-397AD55BCDD0}"/>
              </a:ext>
            </a:extLst>
          </p:cNvPr>
          <p:cNvSpPr>
            <a:spLocks xmlns:a="http://schemas.openxmlformats.org/drawingml/2006/main" noGrp="1"/>
          </p:cNvSpPr>
          <p:nvPr/>
        </p:nvSpPr>
        <p:spPr>
          <a:xfrm xmlns:a="http://schemas.openxmlformats.org/drawingml/2006/main">
            <a:off x="548640" y="1463040"/>
            <a:ext cx="804672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0E2D69"/>
                </a:solidFill>
                <a:latin typeface="Arial"/>
                <a:ea typeface="Arial"/>
                <a:cs typeface="Arial"/>
              </a:rPr>
              <a:t>В двух кампаниях вырос поиск, но значимого роста контактов и покупателей не получили</a:t>
            </a:r>
            <a:endParaRPr sz="1500"/>
          </a:p>
        </p:txBody>
      </p:sp>
      <p:sp>
        <p:nvSpPr>
          <p:cNvPr id="13" name="Shape 9">
            <a:extLst xmlns:a="http://schemas.openxmlformats.org/drawingml/2006/main">
              <a:ext uri="{FF2B5EF4-FFF2-40B4-BE49-F238E27FC236}">
                <a16:creationId xmlns:a16="http://schemas.microsoft.com/office/drawing/2014/main" id="{0338D781-05FF-4236-A7C3-241AB348BF02}"/>
              </a:ext>
            </a:extLst>
          </p:cNvPr>
          <p:cNvSpPr>
            <a:spLocks xmlns:a="http://schemas.openxmlformats.org/drawingml/2006/main" noGrp="1"/>
          </p:cNvSpPr>
          <p:nvPr/>
        </p:nvSpPr>
        <p:spPr>
          <a:xfrm xmlns:a="http://schemas.openxmlformats.org/drawingml/2006/main">
            <a:off x="365760" y="2377440"/>
            <a:ext cx="4114800" cy="960120"/>
          </a:xfrm>
          <a:prstGeom xmlns:a="http://schemas.openxmlformats.org/drawingml/2006/main" prst="roundRect">
            <a:avLst>
              <a:gd name="adj" fmla="val 7619"/>
            </a:avLst>
          </a:prstGeom>
          <a:solidFill xmlns:a="http://schemas.openxmlformats.org/drawingml/2006/main">
            <a:srgbClr val="EAF0FA"/>
          </a:solidFill>
          <a:ln xmlns:a="http://schemas.openxmlformats.org/drawingml/2006/main" w="12700">
            <a:solidFill>
              <a:srgbClr val="EAF0FA"/>
            </a:solidFill>
            <a:prstDash val="solid"/>
          </a:ln>
        </p:spPr>
      </p:sp>
      <p:sp>
        <p:nvSpPr>
          <p:cNvPr id="14" name="Text 10">
            <a:extLst xmlns:a="http://schemas.openxmlformats.org/drawingml/2006/main">
              <a:ext uri="{FF2B5EF4-FFF2-40B4-BE49-F238E27FC236}">
                <a16:creationId xmlns:a16="http://schemas.microsoft.com/office/drawing/2014/main" id="{4BC1C3FB-E917-41D3-AE3C-93DA7BCD02AB}"/>
              </a:ext>
            </a:extLst>
          </p:cNvPr>
          <p:cNvSpPr>
            <a:spLocks xmlns:a="http://schemas.openxmlformats.org/drawingml/2006/main" noGrp="1"/>
          </p:cNvSpPr>
          <p:nvPr/>
        </p:nvSpPr>
        <p:spPr>
          <a:xfrm xmlns:a="http://schemas.openxmlformats.org/drawingml/2006/main">
            <a:off x="502920" y="2377440"/>
            <a:ext cx="3840480"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0E2D69"/>
                </a:solidFill>
                <a:latin typeface="Arial"/>
                <a:ea typeface="Arial"/>
                <a:cs typeface="Arial"/>
              </a:rPr>
              <a:t>Одна рекомендация для всей аудитории</a:t>
            </a:r>
            <a:endParaRPr sz="1700"/>
          </a:p>
        </p:txBody>
      </p:sp>
      <p:sp>
        <p:nvSpPr>
          <p:cNvPr id="15" name="Shape 11">
            <a:extLst xmlns:a="http://schemas.openxmlformats.org/drawingml/2006/main">
              <a:ext uri="{FF2B5EF4-FFF2-40B4-BE49-F238E27FC236}">
                <a16:creationId xmlns:a16="http://schemas.microsoft.com/office/drawing/2014/main" id="{59DE9F75-4696-4D08-8907-F4F67D14390F}"/>
              </a:ext>
            </a:extLst>
          </p:cNvPr>
          <p:cNvSpPr>
            <a:spLocks xmlns:a="http://schemas.openxmlformats.org/drawingml/2006/main" noGrp="1"/>
          </p:cNvSpPr>
          <p:nvPr/>
        </p:nvSpPr>
        <p:spPr>
          <a:xfrm xmlns:a="http://schemas.openxmlformats.org/drawingml/2006/main">
            <a:off x="4663440" y="2377440"/>
            <a:ext cx="4114800" cy="960120"/>
          </a:xfrm>
          <a:prstGeom xmlns:a="http://schemas.openxmlformats.org/drawingml/2006/main" prst="roundRect">
            <a:avLst>
              <a:gd name="adj" fmla="val 7619"/>
            </a:avLst>
          </a:prstGeom>
          <a:solidFill xmlns:a="http://schemas.openxmlformats.org/drawingml/2006/main">
            <a:srgbClr val="EAF0FA"/>
          </a:solidFill>
          <a:ln xmlns:a="http://schemas.openxmlformats.org/drawingml/2006/main" w="12700">
            <a:solidFill>
              <a:srgbClr val="EAF0FA"/>
            </a:solidFill>
            <a:prstDash val="solid"/>
          </a:ln>
        </p:spPr>
      </p:sp>
      <p:sp>
        <p:nvSpPr>
          <p:cNvPr id="16" name="Text 12">
            <a:extLst xmlns:a="http://schemas.openxmlformats.org/drawingml/2006/main">
              <a:ext uri="{FF2B5EF4-FFF2-40B4-BE49-F238E27FC236}">
                <a16:creationId xmlns:a16="http://schemas.microsoft.com/office/drawing/2014/main" id="{55CD1ACB-B1AA-475B-AD41-5EC79CDF3B2A}"/>
              </a:ext>
            </a:extLst>
          </p:cNvPr>
          <p:cNvSpPr>
            <a:spLocks xmlns:a="http://schemas.openxmlformats.org/drawingml/2006/main" noGrp="1"/>
          </p:cNvSpPr>
          <p:nvPr/>
        </p:nvSpPr>
        <p:spPr>
          <a:xfrm xmlns:a="http://schemas.openxmlformats.org/drawingml/2006/main">
            <a:off x="4800600" y="2377440"/>
            <a:ext cx="3840480"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0E2D69"/>
                </a:solidFill>
                <a:latin typeface="Arial"/>
                <a:ea typeface="Arial"/>
                <a:cs typeface="Arial"/>
              </a:rPr>
              <a:t>Учитываются только парные связи</a:t>
            </a:r>
            <a:endParaRPr sz="1700"/>
          </a:p>
        </p:txBody>
      </p:sp>
      <p:sp>
        <p:nvSpPr>
          <p:cNvPr id="17" name="Shape 13">
            <a:extLst xmlns:a="http://schemas.openxmlformats.org/drawingml/2006/main">
              <a:ext uri="{FF2B5EF4-FFF2-40B4-BE49-F238E27FC236}">
                <a16:creationId xmlns:a16="http://schemas.microsoft.com/office/drawing/2014/main" id="{EF66220D-CADC-485F-88C1-6E7DCA21CADB}"/>
              </a:ext>
            </a:extLst>
          </p:cNvPr>
          <p:cNvSpPr>
            <a:spLocks xmlns:a="http://schemas.openxmlformats.org/drawingml/2006/main" noGrp="1"/>
          </p:cNvSpPr>
          <p:nvPr/>
        </p:nvSpPr>
        <p:spPr>
          <a:xfrm xmlns:a="http://schemas.openxmlformats.org/drawingml/2006/main">
            <a:off x="365760" y="3474720"/>
            <a:ext cx="4114800" cy="960120"/>
          </a:xfrm>
          <a:prstGeom xmlns:a="http://schemas.openxmlformats.org/drawingml/2006/main" prst="roundRect">
            <a:avLst>
              <a:gd name="adj" fmla="val 7619"/>
            </a:avLst>
          </a:prstGeom>
          <a:solidFill xmlns:a="http://schemas.openxmlformats.org/drawingml/2006/main">
            <a:srgbClr val="EAF0FA"/>
          </a:solidFill>
          <a:ln xmlns:a="http://schemas.openxmlformats.org/drawingml/2006/main" w="12700">
            <a:solidFill>
              <a:srgbClr val="EAF0FA"/>
            </a:solidFill>
            <a:prstDash val="solid"/>
          </a:ln>
        </p:spPr>
      </p:sp>
      <p:sp>
        <p:nvSpPr>
          <p:cNvPr id="18" name="Text 14">
            <a:extLst xmlns:a="http://schemas.openxmlformats.org/drawingml/2006/main">
              <a:ext uri="{FF2B5EF4-FFF2-40B4-BE49-F238E27FC236}">
                <a16:creationId xmlns:a16="http://schemas.microsoft.com/office/drawing/2014/main" id="{B7FA3AF2-5E0D-4013-BCBD-8B0A8EF7A8CA}"/>
              </a:ext>
            </a:extLst>
          </p:cNvPr>
          <p:cNvSpPr>
            <a:spLocks xmlns:a="http://schemas.openxmlformats.org/drawingml/2006/main" noGrp="1"/>
          </p:cNvSpPr>
          <p:nvPr/>
        </p:nvSpPr>
        <p:spPr>
          <a:xfrm xmlns:a="http://schemas.openxmlformats.org/drawingml/2006/main">
            <a:off x="502920" y="3474720"/>
            <a:ext cx="3840480"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0E2D69"/>
                </a:solidFill>
                <a:latin typeface="Arial"/>
                <a:ea typeface="Arial"/>
                <a:cs typeface="Arial"/>
              </a:rPr>
              <a:t>Тип действия задан строго</a:t>
            </a:r>
            <a:endParaRPr sz="1700"/>
          </a:p>
        </p:txBody>
      </p:sp>
      <p:sp>
        <p:nvSpPr>
          <p:cNvPr id="19" name="Shape 15">
            <a:extLst xmlns:a="http://schemas.openxmlformats.org/drawingml/2006/main">
              <a:ext uri="{FF2B5EF4-FFF2-40B4-BE49-F238E27FC236}">
                <a16:creationId xmlns:a16="http://schemas.microsoft.com/office/drawing/2014/main" id="{09E2CCDB-56AD-40E7-BC8B-00A54B54955E}"/>
              </a:ext>
            </a:extLst>
          </p:cNvPr>
          <p:cNvSpPr>
            <a:spLocks xmlns:a="http://schemas.openxmlformats.org/drawingml/2006/main" noGrp="1"/>
          </p:cNvSpPr>
          <p:nvPr/>
        </p:nvSpPr>
        <p:spPr>
          <a:xfrm xmlns:a="http://schemas.openxmlformats.org/drawingml/2006/main">
            <a:off x="4663440" y="3474720"/>
            <a:ext cx="4114800" cy="960120"/>
          </a:xfrm>
          <a:prstGeom xmlns:a="http://schemas.openxmlformats.org/drawingml/2006/main" prst="roundRect">
            <a:avLst>
              <a:gd name="adj" fmla="val 7619"/>
            </a:avLst>
          </a:prstGeom>
          <a:solidFill xmlns:a="http://schemas.openxmlformats.org/drawingml/2006/main">
            <a:srgbClr val="EAF0FA"/>
          </a:solidFill>
          <a:ln xmlns:a="http://schemas.openxmlformats.org/drawingml/2006/main" w="12700">
            <a:solidFill>
              <a:srgbClr val="EAF0FA"/>
            </a:solidFill>
            <a:prstDash val="solid"/>
          </a:ln>
        </p:spPr>
      </p:sp>
      <p:sp>
        <p:nvSpPr>
          <p:cNvPr id="20" name="Text 16">
            <a:extLst xmlns:a="http://schemas.openxmlformats.org/drawingml/2006/main">
              <a:ext uri="{FF2B5EF4-FFF2-40B4-BE49-F238E27FC236}">
                <a16:creationId xmlns:a16="http://schemas.microsoft.com/office/drawing/2014/main" id="{00555646-4810-4A72-97DB-0AAF54AA3889}"/>
              </a:ext>
            </a:extLst>
          </p:cNvPr>
          <p:cNvSpPr>
            <a:spLocks xmlns:a="http://schemas.openxmlformats.org/drawingml/2006/main" noGrp="1"/>
          </p:cNvSpPr>
          <p:nvPr/>
        </p:nvSpPr>
        <p:spPr>
          <a:xfrm xmlns:a="http://schemas.openxmlformats.org/drawingml/2006/main">
            <a:off x="4800600" y="3474720"/>
            <a:ext cx="3840480"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0E2D69"/>
                </a:solidFill>
                <a:latin typeface="Arial"/>
                <a:ea typeface="Arial"/>
                <a:cs typeface="Arial"/>
              </a:rPr>
              <a:t>Используются данные за месяц</a:t>
            </a:r>
            <a:endParaRPr sz="1700"/>
          </a:p>
        </p:txBody>
      </p:sp>
      <p:sp>
        <p:nvSpPr>
          <p:cNvPr id="21" name="Text 17">
            <a:extLst xmlns:a="http://schemas.openxmlformats.org/drawingml/2006/main">
              <a:ext uri="{FF2B5EF4-FFF2-40B4-BE49-F238E27FC236}">
                <a16:creationId xmlns:a16="http://schemas.microsoft.com/office/drawing/2014/main" id="{F159DA9B-3AE4-4489-ADBF-667A089BBB21}"/>
              </a:ext>
            </a:extLst>
          </p:cNvPr>
          <p:cNvSpPr>
            <a:spLocks xmlns:a="http://schemas.openxmlformats.org/drawingml/2006/main" noGrp="1"/>
          </p:cNvSpPr>
          <p:nvPr/>
        </p:nvSpPr>
        <p:spPr>
          <a:xfrm xmlns:a="http://schemas.openxmlformats.org/drawingml/2006/main">
            <a:off x="365760" y="4754880"/>
            <a:ext cx="84124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a:solidFill>
                  <a:srgbClr val="5B6B8C"/>
                </a:solidFill>
                <a:latin typeface="Arial"/>
                <a:ea typeface="Arial"/>
                <a:cs typeface="Arial"/>
              </a:rPr>
              <a:t>Кампании: ремонт техники и ремонт мобильных устройств, 2026 [15]</a:t>
            </a:r>
            <a:endParaRPr sz="1000"/>
          </a:p>
        </p:txBody>
      </p:sp>
      <p:sp>
        <p:nvSpPr>
          <p:cNvPr id="22" name="Text 18">
            <a:extLst xmlns:a="http://schemas.openxmlformats.org/drawingml/2006/main">
              <a:ext uri="{FF2B5EF4-FFF2-40B4-BE49-F238E27FC236}">
                <a16:creationId xmlns:a16="http://schemas.microsoft.com/office/drawing/2014/main" id="{C9D965FE-20A7-424D-83AF-B074D7D2110B}"/>
              </a:ext>
            </a:extLst>
          </p:cNvPr>
          <p:cNvSpPr>
            <a:spLocks xmlns:a="http://schemas.openxmlformats.org/drawingml/2006/main" noGrp="1"/>
          </p:cNvSpPr>
          <p:nvPr/>
        </p:nvSpPr>
        <p:spPr>
          <a:xfrm xmlns:a="http://schemas.openxmlformats.org/drawingml/2006/main">
            <a:off x="8001000" y="201168"/>
            <a:ext cx="8686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defPPr algn="ctr">
              <a:defRPr sz="1200">
                <a:solidFill>
                  <a:srgbClr val="173773"/>
                </a:solidFill>
                <a:latin typeface="Arial"/>
                <a:ea typeface="Arial"/>
                <a:cs typeface="Arial"/>
              </a:defRPr>
            </a:defPPr>
          </a:lstStyle>
          <a:p xmlns:a="http://schemas.openxmlformats.org/drawingml/2006/main">
            <a:pPr marL="0" indent="0" algn="ctr">
              <a:buNone/>
            </a:pPr>
            <a:r>
              <a:rPr sz="1200">
                <a:solidFill>
                  <a:srgbClr val="173773"/>
                </a:solidFill>
                <a:latin typeface="Arial"/>
                <a:ea typeface="Arial"/>
                <a:cs typeface="Arial"/>
              </a:rPr>
              <a:t>4/20</a:t>
            </a:r>
            <a:endParaRPr sz="1200"/>
          </a:p>
        </p:txBody>
      </p:sp>
    </p:spTree>
    <p:extLst>
      <p:ext uri="{BB962C8B-B14F-4D97-AF65-F5344CB8AC3E}">
        <p14:creationId xmlns:p14="http://schemas.microsoft.com/office/powerpoint/2010/main" val="211636123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1BF8D730-0B80-46F1-9E67-CD82E1B6A560}"/>
              </a:ext>
            </a:extLst>
          </p:cNvPr>
          <p:cNvPicPr>
            <a:picLocks xmlns:a="http://schemas.openxmlformats.org/drawingml/2006/main" noChangeAspect="1"/>
          </p:cNvPicPr>
          <p:nvPr/>
        </p:nvPicPr>
        <p:blipFill>
          <a:blip xmlns:r="http://schemas.openxmlformats.org/officeDocument/2006/relationships" xmlns:a="http://schemas.openxmlformats.org/drawingml/2006/main" r:embed="R04718e7c0c3544e3"/>
          <a:stretch xmlns:a="http://schemas.openxmlformats.org/drawingml/2006/main">
            <a:fillRect l="0" t="0" r="0" b="0"/>
          </a:stretch>
        </p:blipFill>
        <p:spPr>
          <a:xfrm xmlns:a="http://schemas.openxmlformats.org/drawingml/2006/main">
            <a:off x="274320" y="137160"/>
            <a:ext cx="502920" cy="50292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2155E4E6-3E29-47A6-825E-4C81BD62F04D}"/>
              </a:ext>
            </a:extLst>
          </p:cNvPr>
          <p:cNvSpPr>
            <a:spLocks xmlns:a="http://schemas.openxmlformats.org/drawingml/2006/main" noGrp="1"/>
          </p:cNvSpPr>
          <p:nvPr/>
        </p:nvSpPr>
        <p:spPr>
          <a:xfrm xmlns:a="http://schemas.openxmlformats.org/drawingml/2006/main">
            <a:off x="868680" y="201168"/>
            <a:ext cx="173736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0E2D69"/>
                </a:solidFill>
                <a:latin typeface="Arial"/>
                <a:ea typeface="Arial"/>
                <a:cs typeface="Arial"/>
              </a:rPr>
              <a:t>Школа информатики, физики и технологий</a:t>
            </a:r>
            <a:endParaRPr sz="800"/>
          </a:p>
        </p:txBody>
      </p:sp>
      <p:sp>
        <p:nvSpPr>
          <p:cNvPr id="4" name="Text 1">
            <a:extLst xmlns:a="http://schemas.openxmlformats.org/drawingml/2006/main">
              <a:ext uri="{FF2B5EF4-FFF2-40B4-BE49-F238E27FC236}">
                <a16:creationId xmlns:a16="http://schemas.microsoft.com/office/drawing/2014/main" id="{FAE9A70D-139D-444A-ADCA-73D3F420A841}"/>
              </a:ext>
            </a:extLst>
          </p:cNvPr>
          <p:cNvSpPr>
            <a:spLocks xmlns:a="http://schemas.openxmlformats.org/drawingml/2006/main" noGrp="1"/>
          </p:cNvSpPr>
          <p:nvPr/>
        </p:nvSpPr>
        <p:spPr>
          <a:xfrm xmlns:a="http://schemas.openxmlformats.org/drawingml/2006/main">
            <a:off x="2834640" y="201168"/>
            <a:ext cx="29260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0E2D69"/>
                </a:solidFill>
                <a:latin typeface="Arial"/>
                <a:ea typeface="Arial"/>
                <a:cs typeface="Arial"/>
              </a:rPr>
              <a:t>Рекомендательная система на основе поведенческих эмбеддингов</a:t>
            </a:r>
            <a:endParaRPr sz="800"/>
          </a:p>
        </p:txBody>
      </p:sp>
      <p:sp>
        <p:nvSpPr>
          <p:cNvPr id="5" name="Text 2">
            <a:extLst xmlns:a="http://schemas.openxmlformats.org/drawingml/2006/main">
              <a:ext uri="{FF2B5EF4-FFF2-40B4-BE49-F238E27FC236}">
                <a16:creationId xmlns:a16="http://schemas.microsoft.com/office/drawing/2014/main" id="{0907D580-6FA5-4EF3-B94C-D89BD10EDB0F}"/>
              </a:ext>
            </a:extLst>
          </p:cNvPr>
          <p:cNvSpPr>
            <a:spLocks xmlns:a="http://schemas.openxmlformats.org/drawingml/2006/main" noGrp="1"/>
          </p:cNvSpPr>
          <p:nvPr/>
        </p:nvSpPr>
        <p:spPr>
          <a:xfrm xmlns:a="http://schemas.openxmlformats.org/drawingml/2006/main">
            <a:off x="5989320" y="201168"/>
            <a:ext cx="18288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defPPr algn="l">
              <a:defRPr sz="900">
                <a:solidFill>
                  <a:srgbClr val="173773"/>
                </a:solidFill>
                <a:latin typeface="Arial"/>
                <a:ea typeface="Arial"/>
                <a:cs typeface="Arial"/>
              </a:defRPr>
            </a:defPPr>
          </a:lstStyle>
          <a:p xmlns:a="http://schemas.openxmlformats.org/drawingml/2006/main">
            <a:pPr marL="0" indent="0" algn="l">
              <a:buNone/>
            </a:pPr>
            <a:r>
              <a:rPr sz="900">
                <a:solidFill>
                  <a:srgbClr val="173773"/>
                </a:solidFill>
                <a:latin typeface="Arial"/>
                <a:ea typeface="Arial"/>
                <a:cs typeface="Arial"/>
              </a:rPr>
              <a:t>Новый подход</a:t>
            </a:r>
            <a:endParaRPr sz="800"/>
          </a:p>
        </p:txBody>
      </p:sp>
      <p:sp>
        <p:nvSpPr>
          <p:cNvPr id="6" name="Shape 3">
            <a:extLst xmlns:a="http://schemas.openxmlformats.org/drawingml/2006/main">
              <a:ext uri="{FF2B5EF4-FFF2-40B4-BE49-F238E27FC236}">
                <a16:creationId xmlns:a16="http://schemas.microsoft.com/office/drawing/2014/main" id="{E5F0BCFB-4032-4396-A899-ECD9F9BCC8BA}"/>
              </a:ext>
            </a:extLst>
          </p:cNvPr>
          <p:cNvSpPr>
            <a:spLocks xmlns:a="http://schemas.openxmlformats.org/drawingml/2006/main" noGrp="1"/>
          </p:cNvSpPr>
          <p:nvPr/>
        </p:nvSpPr>
        <p:spPr>
          <a:xfrm xmlns:a="http://schemas.openxmlformats.org/drawingml/2006/main">
            <a:off x="2697480" y="182880"/>
            <a:ext cx="0" cy="457200"/>
          </a:xfrm>
          <a:prstGeom xmlns:a="http://schemas.openxmlformats.org/drawingml/2006/main" prst="line">
            <a:avLst/>
          </a:prstGeom>
          <a:noFill xmlns:a="http://schemas.openxmlformats.org/drawingml/2006/main"/>
          <a:ln xmlns:a="http://schemas.openxmlformats.org/drawingml/2006/main" w="19050">
            <a:solidFill>
              <a:srgbClr val="0E2D69"/>
            </a:solidFill>
            <a:prstDash val="solid"/>
          </a:ln>
        </p:spPr>
      </p:sp>
      <p:sp>
        <p:nvSpPr>
          <p:cNvPr id="7" name="Shape 4">
            <a:extLst xmlns:a="http://schemas.openxmlformats.org/drawingml/2006/main">
              <a:ext uri="{FF2B5EF4-FFF2-40B4-BE49-F238E27FC236}">
                <a16:creationId xmlns:a16="http://schemas.microsoft.com/office/drawing/2014/main" id="{4AAA6E62-D7BB-489D-B649-D2E02EE9A13E}"/>
              </a:ext>
            </a:extLst>
          </p:cNvPr>
          <p:cNvSpPr>
            <a:spLocks xmlns:a="http://schemas.openxmlformats.org/drawingml/2006/main" noGrp="1"/>
          </p:cNvSpPr>
          <p:nvPr/>
        </p:nvSpPr>
        <p:spPr>
          <a:xfrm xmlns:a="http://schemas.openxmlformats.org/drawingml/2006/main">
            <a:off x="5852160" y="182880"/>
            <a:ext cx="0" cy="457200"/>
          </a:xfrm>
          <a:prstGeom xmlns:a="http://schemas.openxmlformats.org/drawingml/2006/main" prst="line">
            <a:avLst/>
          </a:prstGeom>
          <a:noFill xmlns:a="http://schemas.openxmlformats.org/drawingml/2006/main"/>
          <a:ln xmlns:a="http://schemas.openxmlformats.org/drawingml/2006/main" w="19050">
            <a:solidFill>
              <a:srgbClr val="0E2D69"/>
            </a:solidFill>
            <a:prstDash val="solid"/>
          </a:ln>
        </p:spPr>
      </p:sp>
      <p:sp>
        <p:nvSpPr>
          <p:cNvPr id="8" name="Shape 5">
            <a:extLst xmlns:a="http://schemas.openxmlformats.org/drawingml/2006/main">
              <a:ext uri="{FF2B5EF4-FFF2-40B4-BE49-F238E27FC236}">
                <a16:creationId xmlns:a16="http://schemas.microsoft.com/office/drawing/2014/main" id="{B3B741DC-E0B2-4A82-B349-FE9CA30CE8AA}"/>
              </a:ext>
            </a:extLst>
          </p:cNvPr>
          <p:cNvSpPr>
            <a:spLocks xmlns:a="http://schemas.openxmlformats.org/drawingml/2006/main" noGrp="1"/>
          </p:cNvSpPr>
          <p:nvPr/>
        </p:nvSpPr>
        <p:spPr>
          <a:xfrm xmlns:a="http://schemas.openxmlformats.org/drawingml/2006/main">
            <a:off x="7909560" y="182880"/>
            <a:ext cx="0" cy="457200"/>
          </a:xfrm>
          <a:prstGeom xmlns:a="http://schemas.openxmlformats.org/drawingml/2006/main" prst="line">
            <a:avLst/>
          </a:prstGeom>
          <a:noFill xmlns:a="http://schemas.openxmlformats.org/drawingml/2006/main"/>
          <a:ln xmlns:a="http://schemas.openxmlformats.org/drawingml/2006/main" w="19050">
            <a:solidFill>
              <a:srgbClr val="0E2D69"/>
            </a:solidFill>
            <a:prstDash val="solid"/>
          </a:ln>
        </p:spPr>
      </p:sp>
      <p:sp>
        <p:nvSpPr>
          <p:cNvPr id="9" name="Text 6">
            <a:extLst xmlns:a="http://schemas.openxmlformats.org/drawingml/2006/main">
              <a:ext uri="{FF2B5EF4-FFF2-40B4-BE49-F238E27FC236}">
                <a16:creationId xmlns:a16="http://schemas.microsoft.com/office/drawing/2014/main" id="{1E4AF196-D306-4D6B-8173-9F23A0FBA06D}"/>
              </a:ext>
            </a:extLst>
          </p:cNvPr>
          <p:cNvSpPr>
            <a:spLocks xmlns:a="http://schemas.openxmlformats.org/drawingml/2006/main" noGrp="1"/>
          </p:cNvSpPr>
          <p:nvPr/>
        </p:nvSpPr>
        <p:spPr>
          <a:xfrm xmlns:a="http://schemas.openxmlformats.org/drawingml/2006/main">
            <a:off x="365760" y="777240"/>
            <a:ext cx="84124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defPPr algn="l">
              <a:defRPr sz="2400" b="1">
                <a:solidFill>
                  <a:srgbClr val="173773"/>
                </a:solidFill>
                <a:latin typeface="Arial"/>
                <a:ea typeface="Arial"/>
                <a:cs typeface="Arial"/>
              </a:defRPr>
            </a:defPPr>
          </a:lstStyle>
          <a:p xmlns:a="http://schemas.openxmlformats.org/drawingml/2006/main">
            <a:pPr marL="0" indent="0" algn="l">
              <a:buNone/>
            </a:pPr>
            <a:r>
              <a:rPr sz="2400" b="1">
                <a:solidFill>
                  <a:srgbClr val="173773"/>
                </a:solidFill>
                <a:latin typeface="Arial"/>
                <a:ea typeface="Arial"/>
                <a:cs typeface="Arial"/>
              </a:rPr>
              <a:t>Персонализированные рекомендации и ранжирование</a:t>
            </a:r>
            <a:endParaRPr sz="2400"/>
          </a:p>
        </p:txBody>
      </p:sp>
      <p:sp>
        <p:nvSpPr>
          <p:cNvPr id="11" name="Shape 7">
            <a:extLst xmlns:a="http://schemas.openxmlformats.org/drawingml/2006/main">
              <a:ext uri="{FF2B5EF4-FFF2-40B4-BE49-F238E27FC236}">
                <a16:creationId xmlns:a16="http://schemas.microsoft.com/office/drawing/2014/main" id="{01F47B7A-4535-411A-ACB2-1A7CB569EC0F}"/>
              </a:ext>
            </a:extLst>
          </p:cNvPr>
          <p:cNvSpPr>
            <a:spLocks xmlns:a="http://schemas.openxmlformats.org/drawingml/2006/main" noGrp="1"/>
          </p:cNvSpPr>
          <p:nvPr/>
        </p:nvSpPr>
        <p:spPr>
          <a:xfrm xmlns:a="http://schemas.openxmlformats.org/drawingml/2006/main">
            <a:off x="365760" y="1645920"/>
            <a:ext cx="1863090" cy="1280160"/>
          </a:xfrm>
          <a:prstGeom xmlns:a="http://schemas.openxmlformats.org/drawingml/2006/main" prst="roundRect">
            <a:avLst>
              <a:gd name="adj" fmla="val 5714"/>
            </a:avLst>
          </a:prstGeom>
          <a:solidFill xmlns:a="http://schemas.openxmlformats.org/drawingml/2006/main">
            <a:srgbClr val="EAF0FA"/>
          </a:solidFill>
          <a:ln xmlns:a="http://schemas.openxmlformats.org/drawingml/2006/main" w="12700">
            <a:solidFill>
              <a:srgbClr val="EAF0FA"/>
            </a:solidFill>
            <a:prstDash val="solid"/>
          </a:ln>
        </p:spPr>
      </p:sp>
      <p:sp>
        <p:nvSpPr>
          <p:cNvPr id="12" name="Text 8">
            <a:extLst xmlns:a="http://schemas.openxmlformats.org/drawingml/2006/main">
              <a:ext uri="{FF2B5EF4-FFF2-40B4-BE49-F238E27FC236}">
                <a16:creationId xmlns:a16="http://schemas.microsoft.com/office/drawing/2014/main" id="{BA71EB32-C678-471B-9A97-137AC442011F}"/>
              </a:ext>
            </a:extLst>
          </p:cNvPr>
          <p:cNvSpPr>
            <a:spLocks xmlns:a="http://schemas.openxmlformats.org/drawingml/2006/main" noGrp="1"/>
          </p:cNvSpPr>
          <p:nvPr/>
        </p:nvSpPr>
        <p:spPr>
          <a:xfrm xmlns:a="http://schemas.openxmlformats.org/drawingml/2006/main">
            <a:off x="438912" y="1645920"/>
            <a:ext cx="1716786"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0E2D69"/>
                </a:solidFill>
                <a:latin typeface="Arial"/>
                <a:ea typeface="Arial"/>
                <a:cs typeface="Arial"/>
              </a:rPr>
              <a:t>История действий пользователя</a:t>
            </a:r>
            <a:endParaRPr sz="1400"/>
          </a:p>
        </p:txBody>
      </p:sp>
      <p:sp>
        <p:nvSpPr>
          <p:cNvPr id="13" name="Text 9">
            <a:extLst xmlns:a="http://schemas.openxmlformats.org/drawingml/2006/main">
              <a:ext uri="{FF2B5EF4-FFF2-40B4-BE49-F238E27FC236}">
                <a16:creationId xmlns:a16="http://schemas.microsoft.com/office/drawing/2014/main" id="{67618FAD-8800-452A-B6CA-1DEBF76329D5}"/>
              </a:ext>
            </a:extLst>
          </p:cNvPr>
          <p:cNvSpPr>
            <a:spLocks xmlns:a="http://schemas.openxmlformats.org/drawingml/2006/main" noGrp="1"/>
          </p:cNvSpPr>
          <p:nvPr/>
        </p:nvSpPr>
        <p:spPr>
          <a:xfrm xmlns:a="http://schemas.openxmlformats.org/drawingml/2006/main">
            <a:off x="2228850" y="1645920"/>
            <a:ext cx="32004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244A9A"/>
                </a:solidFill>
                <a:latin typeface="Arial"/>
                <a:ea typeface="Arial"/>
                <a:cs typeface="Arial"/>
              </a:rPr>
              <a:t>→</a:t>
            </a:r>
            <a:endParaRPr sz="2000"/>
          </a:p>
        </p:txBody>
      </p:sp>
      <p:sp>
        <p:nvSpPr>
          <p:cNvPr id="14" name="Shape 10">
            <a:extLst xmlns:a="http://schemas.openxmlformats.org/drawingml/2006/main">
              <a:ext uri="{FF2B5EF4-FFF2-40B4-BE49-F238E27FC236}">
                <a16:creationId xmlns:a16="http://schemas.microsoft.com/office/drawing/2014/main" id="{53ED078A-E7C1-4FBF-8173-737936726B19}"/>
              </a:ext>
            </a:extLst>
          </p:cNvPr>
          <p:cNvSpPr>
            <a:spLocks xmlns:a="http://schemas.openxmlformats.org/drawingml/2006/main" noGrp="1"/>
          </p:cNvSpPr>
          <p:nvPr/>
        </p:nvSpPr>
        <p:spPr>
          <a:xfrm xmlns:a="http://schemas.openxmlformats.org/drawingml/2006/main">
            <a:off x="2548890" y="1645920"/>
            <a:ext cx="1863090" cy="1280160"/>
          </a:xfrm>
          <a:prstGeom xmlns:a="http://schemas.openxmlformats.org/drawingml/2006/main" prst="roundRect">
            <a:avLst>
              <a:gd name="adj" fmla="val 5714"/>
            </a:avLst>
          </a:prstGeom>
          <a:solidFill xmlns:a="http://schemas.openxmlformats.org/drawingml/2006/main">
            <a:srgbClr val="244A9A"/>
          </a:solidFill>
          <a:ln xmlns:a="http://schemas.openxmlformats.org/drawingml/2006/main" w="12700">
            <a:solidFill>
              <a:srgbClr val="244A9A"/>
            </a:solidFill>
            <a:prstDash val="solid"/>
          </a:ln>
        </p:spPr>
      </p:sp>
      <p:sp>
        <p:nvSpPr>
          <p:cNvPr id="15" name="Text 11">
            <a:extLst xmlns:a="http://schemas.openxmlformats.org/drawingml/2006/main">
              <a:ext uri="{FF2B5EF4-FFF2-40B4-BE49-F238E27FC236}">
                <a16:creationId xmlns:a16="http://schemas.microsoft.com/office/drawing/2014/main" id="{41EF9B13-F615-4A79-A30D-80702AB8B4C4}"/>
              </a:ext>
            </a:extLst>
          </p:cNvPr>
          <p:cNvSpPr>
            <a:spLocks xmlns:a="http://schemas.openxmlformats.org/drawingml/2006/main" noGrp="1"/>
          </p:cNvSpPr>
          <p:nvPr/>
        </p:nvSpPr>
        <p:spPr>
          <a:xfrm xmlns:a="http://schemas.openxmlformats.org/drawingml/2006/main">
            <a:off x="2622042" y="1645920"/>
            <a:ext cx="1716786"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Arial"/>
                <a:ea typeface="Arial"/>
                <a:cs typeface="Arial"/>
              </a:rPr>
              <a:t>Эмбеддинг пользователя</a:t>
            </a:r>
            <a:endParaRPr sz="1400"/>
          </a:p>
        </p:txBody>
      </p:sp>
      <p:sp>
        <p:nvSpPr>
          <p:cNvPr id="16" name="Text 12">
            <a:extLst xmlns:a="http://schemas.openxmlformats.org/drawingml/2006/main">
              <a:ext uri="{FF2B5EF4-FFF2-40B4-BE49-F238E27FC236}">
                <a16:creationId xmlns:a16="http://schemas.microsoft.com/office/drawing/2014/main" id="{E2E15D5F-7058-43C6-9BF7-73F9B8B931D4}"/>
              </a:ext>
            </a:extLst>
          </p:cNvPr>
          <p:cNvSpPr>
            <a:spLocks xmlns:a="http://schemas.openxmlformats.org/drawingml/2006/main" noGrp="1"/>
          </p:cNvSpPr>
          <p:nvPr/>
        </p:nvSpPr>
        <p:spPr>
          <a:xfrm xmlns:a="http://schemas.openxmlformats.org/drawingml/2006/main">
            <a:off x="4411980" y="1645920"/>
            <a:ext cx="32004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244A9A"/>
                </a:solidFill>
                <a:latin typeface="Arial"/>
                <a:ea typeface="Arial"/>
                <a:cs typeface="Arial"/>
              </a:rPr>
              <a:t>→</a:t>
            </a:r>
            <a:endParaRPr sz="2000"/>
          </a:p>
        </p:txBody>
      </p:sp>
      <p:sp>
        <p:nvSpPr>
          <p:cNvPr id="17" name="Shape 13">
            <a:extLst xmlns:a="http://schemas.openxmlformats.org/drawingml/2006/main">
              <a:ext uri="{FF2B5EF4-FFF2-40B4-BE49-F238E27FC236}">
                <a16:creationId xmlns:a16="http://schemas.microsoft.com/office/drawing/2014/main" id="{40136028-1F46-4660-A8C3-90B71769C0C1}"/>
              </a:ext>
            </a:extLst>
          </p:cNvPr>
          <p:cNvSpPr>
            <a:spLocks xmlns:a="http://schemas.openxmlformats.org/drawingml/2006/main" noGrp="1"/>
          </p:cNvSpPr>
          <p:nvPr/>
        </p:nvSpPr>
        <p:spPr>
          <a:xfrm xmlns:a="http://schemas.openxmlformats.org/drawingml/2006/main">
            <a:off x="4732020" y="1645920"/>
            <a:ext cx="1863090" cy="1280160"/>
          </a:xfrm>
          <a:prstGeom xmlns:a="http://schemas.openxmlformats.org/drawingml/2006/main" prst="roundRect">
            <a:avLst>
              <a:gd name="adj" fmla="val 5714"/>
            </a:avLst>
          </a:prstGeom>
          <a:solidFill xmlns:a="http://schemas.openxmlformats.org/drawingml/2006/main">
            <a:srgbClr val="EAF0FA"/>
          </a:solidFill>
          <a:ln xmlns:a="http://schemas.openxmlformats.org/drawingml/2006/main" w="12700">
            <a:solidFill>
              <a:srgbClr val="EAF0FA"/>
            </a:solidFill>
            <a:prstDash val="solid"/>
          </a:ln>
        </p:spPr>
      </p:sp>
      <p:sp>
        <p:nvSpPr>
          <p:cNvPr id="18" name="Text 14">
            <a:extLst xmlns:a="http://schemas.openxmlformats.org/drawingml/2006/main">
              <a:ext uri="{FF2B5EF4-FFF2-40B4-BE49-F238E27FC236}">
                <a16:creationId xmlns:a16="http://schemas.microsoft.com/office/drawing/2014/main" id="{1CE00970-4875-49AD-B4D7-2133E748E073}"/>
              </a:ext>
            </a:extLst>
          </p:cNvPr>
          <p:cNvSpPr>
            <a:spLocks xmlns:a="http://schemas.openxmlformats.org/drawingml/2006/main" noGrp="1"/>
          </p:cNvSpPr>
          <p:nvPr/>
        </p:nvSpPr>
        <p:spPr>
          <a:xfrm xmlns:a="http://schemas.openxmlformats.org/drawingml/2006/main">
            <a:off x="4805172" y="1645920"/>
            <a:ext cx="1716786"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0E2D69"/>
                </a:solidFill>
                <a:latin typeface="Arial"/>
                <a:ea typeface="Arial"/>
                <a:cs typeface="Arial"/>
              </a:rPr>
              <a:t>Близость к эмбеддингу каждой категории</a:t>
            </a:r>
            <a:endParaRPr sz="1400"/>
          </a:p>
        </p:txBody>
      </p:sp>
      <p:sp>
        <p:nvSpPr>
          <p:cNvPr id="19" name="Text 15">
            <a:extLst xmlns:a="http://schemas.openxmlformats.org/drawingml/2006/main">
              <a:ext uri="{FF2B5EF4-FFF2-40B4-BE49-F238E27FC236}">
                <a16:creationId xmlns:a16="http://schemas.microsoft.com/office/drawing/2014/main" id="{B8DA2C83-CDA1-432D-A75C-4DF653967000}"/>
              </a:ext>
            </a:extLst>
          </p:cNvPr>
          <p:cNvSpPr>
            <a:spLocks xmlns:a="http://schemas.openxmlformats.org/drawingml/2006/main" noGrp="1"/>
          </p:cNvSpPr>
          <p:nvPr/>
        </p:nvSpPr>
        <p:spPr>
          <a:xfrm xmlns:a="http://schemas.openxmlformats.org/drawingml/2006/main">
            <a:off x="6595110" y="1645920"/>
            <a:ext cx="32004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244A9A"/>
                </a:solidFill>
                <a:latin typeface="Arial"/>
                <a:ea typeface="Arial"/>
                <a:cs typeface="Arial"/>
              </a:rPr>
              <a:t>→</a:t>
            </a:r>
            <a:endParaRPr sz="2000"/>
          </a:p>
        </p:txBody>
      </p:sp>
      <p:sp>
        <p:nvSpPr>
          <p:cNvPr id="20" name="Shape 16">
            <a:extLst xmlns:a="http://schemas.openxmlformats.org/drawingml/2006/main">
              <a:ext uri="{FF2B5EF4-FFF2-40B4-BE49-F238E27FC236}">
                <a16:creationId xmlns:a16="http://schemas.microsoft.com/office/drawing/2014/main" id="{804EF6E0-F54B-4502-BC02-988A8EC195E2}"/>
              </a:ext>
            </a:extLst>
          </p:cNvPr>
          <p:cNvSpPr>
            <a:spLocks xmlns:a="http://schemas.openxmlformats.org/drawingml/2006/main" noGrp="1"/>
          </p:cNvSpPr>
          <p:nvPr/>
        </p:nvSpPr>
        <p:spPr>
          <a:xfrm xmlns:a="http://schemas.openxmlformats.org/drawingml/2006/main">
            <a:off x="6915150" y="1645920"/>
            <a:ext cx="1863090" cy="1280160"/>
          </a:xfrm>
          <a:prstGeom xmlns:a="http://schemas.openxmlformats.org/drawingml/2006/main" prst="roundRect">
            <a:avLst>
              <a:gd name="adj" fmla="val 5714"/>
            </a:avLst>
          </a:prstGeom>
          <a:solidFill xmlns:a="http://schemas.openxmlformats.org/drawingml/2006/main">
            <a:srgbClr val="EAF0FA"/>
          </a:solidFill>
          <a:ln xmlns:a="http://schemas.openxmlformats.org/drawingml/2006/main" w="12700">
            <a:solidFill>
              <a:srgbClr val="EAF0FA"/>
            </a:solidFill>
            <a:prstDash val="solid"/>
          </a:ln>
        </p:spPr>
      </p:sp>
      <p:sp>
        <p:nvSpPr>
          <p:cNvPr id="21" name="Text 17">
            <a:extLst xmlns:a="http://schemas.openxmlformats.org/drawingml/2006/main">
              <a:ext uri="{FF2B5EF4-FFF2-40B4-BE49-F238E27FC236}">
                <a16:creationId xmlns:a16="http://schemas.microsoft.com/office/drawing/2014/main" id="{5387FDE8-6670-43E7-9A71-76367F2EE012}"/>
              </a:ext>
            </a:extLst>
          </p:cNvPr>
          <p:cNvSpPr>
            <a:spLocks xmlns:a="http://schemas.openxmlformats.org/drawingml/2006/main" noGrp="1"/>
          </p:cNvSpPr>
          <p:nvPr/>
        </p:nvSpPr>
        <p:spPr>
          <a:xfrm xmlns:a="http://schemas.openxmlformats.org/drawingml/2006/main">
            <a:off x="6988302" y="1645920"/>
            <a:ext cx="1716786"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0E2D69"/>
                </a:solidFill>
                <a:latin typeface="Arial"/>
                <a:ea typeface="Arial"/>
                <a:cs typeface="Arial"/>
              </a:rPr>
              <a:t>Топ новых категорий</a:t>
            </a:r>
            <a:endParaRPr sz="1400"/>
          </a:p>
        </p:txBody>
      </p:sp>
      <p:sp>
        <p:nvSpPr>
          <p:cNvPr id="22" name="Shape 18">
            <a:extLst xmlns:a="http://schemas.openxmlformats.org/drawingml/2006/main">
              <a:ext uri="{FF2B5EF4-FFF2-40B4-BE49-F238E27FC236}">
                <a16:creationId xmlns:a16="http://schemas.microsoft.com/office/drawing/2014/main" id="{6A30B87A-3727-4CCA-889B-65779B19C080}"/>
              </a:ext>
            </a:extLst>
          </p:cNvPr>
          <p:cNvSpPr>
            <a:spLocks xmlns:a="http://schemas.openxmlformats.org/drawingml/2006/main" noGrp="1"/>
          </p:cNvSpPr>
          <p:nvPr/>
        </p:nvSpPr>
        <p:spPr>
          <a:xfrm xmlns:a="http://schemas.openxmlformats.org/drawingml/2006/main">
            <a:off x="365760" y="3291840"/>
            <a:ext cx="8412480" cy="1005840"/>
          </a:xfrm>
          <a:prstGeom xmlns:a="http://schemas.openxmlformats.org/drawingml/2006/main" prst="roundRect">
            <a:avLst>
              <a:gd name="adj" fmla="val 7273"/>
            </a:avLst>
          </a:prstGeom>
          <a:solidFill xmlns:a="http://schemas.openxmlformats.org/drawingml/2006/main">
            <a:srgbClr val="EAF0FA"/>
          </a:solidFill>
          <a:ln xmlns:a="http://schemas.openxmlformats.org/drawingml/2006/main" w="12700">
            <a:solidFill>
              <a:srgbClr val="EAF0FA"/>
            </a:solidFill>
            <a:prstDash val="solid"/>
          </a:ln>
        </p:spPr>
      </p:sp>
      <p:sp>
        <p:nvSpPr>
          <p:cNvPr id="23" name="Text 19">
            <a:extLst xmlns:a="http://schemas.openxmlformats.org/drawingml/2006/main">
              <a:ext uri="{FF2B5EF4-FFF2-40B4-BE49-F238E27FC236}">
                <a16:creationId xmlns:a16="http://schemas.microsoft.com/office/drawing/2014/main" id="{FFEE103C-2C57-4985-9374-E28D08349D62}"/>
              </a:ext>
            </a:extLst>
          </p:cNvPr>
          <p:cNvSpPr>
            <a:spLocks xmlns:a="http://schemas.openxmlformats.org/drawingml/2006/main" noGrp="1"/>
          </p:cNvSpPr>
          <p:nvPr/>
        </p:nvSpPr>
        <p:spPr>
          <a:xfrm xmlns:a="http://schemas.openxmlformats.org/drawingml/2006/main">
            <a:off x="502920" y="3291840"/>
            <a:ext cx="813816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0E2D69"/>
                </a:solidFill>
                <a:latin typeface="Arial"/>
                <a:ea typeface="Arial"/>
                <a:cs typeface="Arial"/>
              </a:rPr>
              <a:t>Чем ближе эмбеддинг категории к эмбеддингу пользователя, тем выше категория в списке</a:t>
            </a:r>
            <a:endParaRPr sz="1600"/>
          </a:p>
        </p:txBody>
      </p:sp>
      <p:sp>
        <p:nvSpPr>
          <p:cNvPr id="24" name="Text 20">
            <a:extLst xmlns:a="http://schemas.openxmlformats.org/drawingml/2006/main">
              <a:ext uri="{FF2B5EF4-FFF2-40B4-BE49-F238E27FC236}">
                <a16:creationId xmlns:a16="http://schemas.microsoft.com/office/drawing/2014/main" id="{613EAE0C-719E-4C50-AE14-872DFB7809B8}"/>
              </a:ext>
            </a:extLst>
          </p:cNvPr>
          <p:cNvSpPr>
            <a:spLocks xmlns:a="http://schemas.openxmlformats.org/drawingml/2006/main" noGrp="1"/>
          </p:cNvSpPr>
          <p:nvPr/>
        </p:nvSpPr>
        <p:spPr>
          <a:xfrm xmlns:a="http://schemas.openxmlformats.org/drawingml/2006/main">
            <a:off x="8001000" y="201168"/>
            <a:ext cx="8686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defPPr algn="ctr">
              <a:defRPr sz="1200">
                <a:solidFill>
                  <a:srgbClr val="173773"/>
                </a:solidFill>
                <a:latin typeface="Arial"/>
                <a:ea typeface="Arial"/>
                <a:cs typeface="Arial"/>
              </a:defRPr>
            </a:defPPr>
          </a:lstStyle>
          <a:p xmlns:a="http://schemas.openxmlformats.org/drawingml/2006/main">
            <a:pPr marL="0" indent="0" algn="ctr">
              <a:buNone/>
            </a:pPr>
            <a:r>
              <a:rPr sz="1200">
                <a:solidFill>
                  <a:srgbClr val="173773"/>
                </a:solidFill>
                <a:latin typeface="Arial"/>
                <a:ea typeface="Arial"/>
                <a:cs typeface="Arial"/>
              </a:rPr>
              <a:t>5/20</a:t>
            </a:r>
            <a:endParaRPr sz="1200"/>
          </a:p>
        </p:txBody>
      </p:sp>
    </p:spTree>
    <p:extLst>
      <p:ext uri="{BB962C8B-B14F-4D97-AF65-F5344CB8AC3E}">
        <p14:creationId xmlns:p14="http://schemas.microsoft.com/office/powerpoint/2010/main" val="7810963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F2225EFD-E04C-4252-934D-3BF6023F166E}"/>
              </a:ext>
            </a:extLst>
          </p:cNvPr>
          <p:cNvPicPr>
            <a:picLocks xmlns:a="http://schemas.openxmlformats.org/drawingml/2006/main" noChangeAspect="1"/>
          </p:cNvPicPr>
          <p:nvPr/>
        </p:nvPicPr>
        <p:blipFill>
          <a:blip xmlns:r="http://schemas.openxmlformats.org/officeDocument/2006/relationships" xmlns:a="http://schemas.openxmlformats.org/drawingml/2006/main" r:embed="Rbb2ec029cd3e4351"/>
          <a:stretch xmlns:a="http://schemas.openxmlformats.org/drawingml/2006/main">
            <a:fillRect l="0" t="0" r="0" b="0"/>
          </a:stretch>
        </p:blipFill>
        <p:spPr>
          <a:xfrm xmlns:a="http://schemas.openxmlformats.org/drawingml/2006/main">
            <a:off x="274320" y="137160"/>
            <a:ext cx="502920" cy="50292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03CEDA4A-17E1-4D4A-BC35-C8B76AB31CB6}"/>
              </a:ext>
            </a:extLst>
          </p:cNvPr>
          <p:cNvSpPr>
            <a:spLocks xmlns:a="http://schemas.openxmlformats.org/drawingml/2006/main" noGrp="1"/>
          </p:cNvSpPr>
          <p:nvPr/>
        </p:nvSpPr>
        <p:spPr>
          <a:xfrm xmlns:a="http://schemas.openxmlformats.org/drawingml/2006/main">
            <a:off x="868680" y="201168"/>
            <a:ext cx="173736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0E2D69"/>
                </a:solidFill>
                <a:latin typeface="Arial"/>
                <a:ea typeface="Arial"/>
                <a:cs typeface="Arial"/>
              </a:rPr>
              <a:t>Школа информатики, физики и технологий</a:t>
            </a:r>
            <a:endParaRPr sz="800"/>
          </a:p>
        </p:txBody>
      </p:sp>
      <p:sp>
        <p:nvSpPr>
          <p:cNvPr id="4" name="Text 1">
            <a:extLst xmlns:a="http://schemas.openxmlformats.org/drawingml/2006/main">
              <a:ext uri="{FF2B5EF4-FFF2-40B4-BE49-F238E27FC236}">
                <a16:creationId xmlns:a16="http://schemas.microsoft.com/office/drawing/2014/main" id="{A1943025-8712-48A0-922C-6D0C03F9CAA5}"/>
              </a:ext>
            </a:extLst>
          </p:cNvPr>
          <p:cNvSpPr>
            <a:spLocks xmlns:a="http://schemas.openxmlformats.org/drawingml/2006/main" noGrp="1"/>
          </p:cNvSpPr>
          <p:nvPr/>
        </p:nvSpPr>
        <p:spPr>
          <a:xfrm xmlns:a="http://schemas.openxmlformats.org/drawingml/2006/main">
            <a:off x="2834640" y="201168"/>
            <a:ext cx="29260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0E2D69"/>
                </a:solidFill>
                <a:latin typeface="Arial"/>
                <a:ea typeface="Arial"/>
                <a:cs typeface="Arial"/>
              </a:rPr>
              <a:t>Рекомендательная система на основе поведенческих эмбеддингов</a:t>
            </a:r>
            <a:endParaRPr sz="800"/>
          </a:p>
        </p:txBody>
      </p:sp>
      <p:sp>
        <p:nvSpPr>
          <p:cNvPr id="5" name="Text 2">
            <a:extLst xmlns:a="http://schemas.openxmlformats.org/drawingml/2006/main">
              <a:ext uri="{FF2B5EF4-FFF2-40B4-BE49-F238E27FC236}">
                <a16:creationId xmlns:a16="http://schemas.microsoft.com/office/drawing/2014/main" id="{195C831F-5D64-4837-9634-8BAD5C031AD7}"/>
              </a:ext>
            </a:extLst>
          </p:cNvPr>
          <p:cNvSpPr>
            <a:spLocks xmlns:a="http://schemas.openxmlformats.org/drawingml/2006/main" noGrp="1"/>
          </p:cNvSpPr>
          <p:nvPr/>
        </p:nvSpPr>
        <p:spPr>
          <a:xfrm xmlns:a="http://schemas.openxmlformats.org/drawingml/2006/main">
            <a:off x="5989320" y="201168"/>
            <a:ext cx="18288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defPPr algn="l">
              <a:defRPr sz="900">
                <a:solidFill>
                  <a:srgbClr val="173773"/>
                </a:solidFill>
                <a:latin typeface="Arial"/>
                <a:ea typeface="Arial"/>
                <a:cs typeface="Arial"/>
              </a:defRPr>
            </a:defPPr>
          </a:lstStyle>
          <a:p xmlns:a="http://schemas.openxmlformats.org/drawingml/2006/main">
            <a:pPr marL="0" indent="0" algn="l">
              <a:buNone/>
            </a:pPr>
            <a:r>
              <a:rPr sz="900">
                <a:solidFill>
                  <a:srgbClr val="173773"/>
                </a:solidFill>
                <a:latin typeface="Arial"/>
                <a:ea typeface="Arial"/>
                <a:cs typeface="Arial"/>
              </a:rPr>
              <a:t>Цель</a:t>
            </a:r>
            <a:endParaRPr sz="800"/>
          </a:p>
        </p:txBody>
      </p:sp>
      <p:sp>
        <p:nvSpPr>
          <p:cNvPr id="6" name="Shape 3">
            <a:extLst xmlns:a="http://schemas.openxmlformats.org/drawingml/2006/main">
              <a:ext uri="{FF2B5EF4-FFF2-40B4-BE49-F238E27FC236}">
                <a16:creationId xmlns:a16="http://schemas.microsoft.com/office/drawing/2014/main" id="{1477B74A-CF30-44E0-A8FD-9BDF2D804EB0}"/>
              </a:ext>
            </a:extLst>
          </p:cNvPr>
          <p:cNvSpPr>
            <a:spLocks xmlns:a="http://schemas.openxmlformats.org/drawingml/2006/main" noGrp="1"/>
          </p:cNvSpPr>
          <p:nvPr/>
        </p:nvSpPr>
        <p:spPr>
          <a:xfrm xmlns:a="http://schemas.openxmlformats.org/drawingml/2006/main">
            <a:off x="2697480" y="182880"/>
            <a:ext cx="0" cy="457200"/>
          </a:xfrm>
          <a:prstGeom xmlns:a="http://schemas.openxmlformats.org/drawingml/2006/main" prst="line">
            <a:avLst/>
          </a:prstGeom>
          <a:noFill xmlns:a="http://schemas.openxmlformats.org/drawingml/2006/main"/>
          <a:ln xmlns:a="http://schemas.openxmlformats.org/drawingml/2006/main" w="19050">
            <a:solidFill>
              <a:srgbClr val="0E2D69"/>
            </a:solidFill>
            <a:prstDash val="solid"/>
          </a:ln>
        </p:spPr>
      </p:sp>
      <p:sp>
        <p:nvSpPr>
          <p:cNvPr id="7" name="Shape 4">
            <a:extLst xmlns:a="http://schemas.openxmlformats.org/drawingml/2006/main">
              <a:ext uri="{FF2B5EF4-FFF2-40B4-BE49-F238E27FC236}">
                <a16:creationId xmlns:a16="http://schemas.microsoft.com/office/drawing/2014/main" id="{582FD071-6648-4D68-A25A-10A09DB5BED7}"/>
              </a:ext>
            </a:extLst>
          </p:cNvPr>
          <p:cNvSpPr>
            <a:spLocks xmlns:a="http://schemas.openxmlformats.org/drawingml/2006/main" noGrp="1"/>
          </p:cNvSpPr>
          <p:nvPr/>
        </p:nvSpPr>
        <p:spPr>
          <a:xfrm xmlns:a="http://schemas.openxmlformats.org/drawingml/2006/main">
            <a:off x="5852160" y="182880"/>
            <a:ext cx="0" cy="457200"/>
          </a:xfrm>
          <a:prstGeom xmlns:a="http://schemas.openxmlformats.org/drawingml/2006/main" prst="line">
            <a:avLst/>
          </a:prstGeom>
          <a:noFill xmlns:a="http://schemas.openxmlformats.org/drawingml/2006/main"/>
          <a:ln xmlns:a="http://schemas.openxmlformats.org/drawingml/2006/main" w="19050">
            <a:solidFill>
              <a:srgbClr val="0E2D69"/>
            </a:solidFill>
            <a:prstDash val="solid"/>
          </a:ln>
        </p:spPr>
      </p:sp>
      <p:sp>
        <p:nvSpPr>
          <p:cNvPr id="8" name="Shape 5">
            <a:extLst xmlns:a="http://schemas.openxmlformats.org/drawingml/2006/main">
              <a:ext uri="{FF2B5EF4-FFF2-40B4-BE49-F238E27FC236}">
                <a16:creationId xmlns:a16="http://schemas.microsoft.com/office/drawing/2014/main" id="{D2CBA3F9-79C8-4E3D-ADC8-3FD814D42DAA}"/>
              </a:ext>
            </a:extLst>
          </p:cNvPr>
          <p:cNvSpPr>
            <a:spLocks xmlns:a="http://schemas.openxmlformats.org/drawingml/2006/main" noGrp="1"/>
          </p:cNvSpPr>
          <p:nvPr/>
        </p:nvSpPr>
        <p:spPr>
          <a:xfrm xmlns:a="http://schemas.openxmlformats.org/drawingml/2006/main">
            <a:off x="7909560" y="182880"/>
            <a:ext cx="0" cy="457200"/>
          </a:xfrm>
          <a:prstGeom xmlns:a="http://schemas.openxmlformats.org/drawingml/2006/main" prst="line">
            <a:avLst/>
          </a:prstGeom>
          <a:noFill xmlns:a="http://schemas.openxmlformats.org/drawingml/2006/main"/>
          <a:ln xmlns:a="http://schemas.openxmlformats.org/drawingml/2006/main" w="19050">
            <a:solidFill>
              <a:srgbClr val="0E2D69"/>
            </a:solidFill>
            <a:prstDash val="solid"/>
          </a:ln>
        </p:spPr>
      </p:sp>
      <p:sp>
        <p:nvSpPr>
          <p:cNvPr id="9" name="Text 6">
            <a:extLst xmlns:a="http://schemas.openxmlformats.org/drawingml/2006/main">
              <a:ext uri="{FF2B5EF4-FFF2-40B4-BE49-F238E27FC236}">
                <a16:creationId xmlns:a16="http://schemas.microsoft.com/office/drawing/2014/main" id="{FEC16B44-A446-49E8-907B-39E7A7050004}"/>
              </a:ext>
            </a:extLst>
          </p:cNvPr>
          <p:cNvSpPr>
            <a:spLocks xmlns:a="http://schemas.openxmlformats.org/drawingml/2006/main" noGrp="1"/>
          </p:cNvSpPr>
          <p:nvPr/>
        </p:nvSpPr>
        <p:spPr>
          <a:xfrm xmlns:a="http://schemas.openxmlformats.org/drawingml/2006/main">
            <a:off x="365760" y="777240"/>
            <a:ext cx="84124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b="1">
                <a:solidFill>
                  <a:srgbClr val="0E2D69"/>
                </a:solidFill>
                <a:latin typeface="Arial"/>
                <a:ea typeface="Arial"/>
                <a:cs typeface="Arial"/>
              </a:rPr>
              <a:t>Цель работы</a:t>
            </a:r>
            <a:endParaRPr sz="2400"/>
          </a:p>
        </p:txBody>
      </p:sp>
      <p:sp>
        <p:nvSpPr>
          <p:cNvPr id="11" name="Shape 7">
            <a:extLst xmlns:a="http://schemas.openxmlformats.org/drawingml/2006/main">
              <a:ext uri="{FF2B5EF4-FFF2-40B4-BE49-F238E27FC236}">
                <a16:creationId xmlns:a16="http://schemas.microsoft.com/office/drawing/2014/main" id="{D095022A-A84B-43A0-90E5-C3F93980FD0D}"/>
              </a:ext>
            </a:extLst>
          </p:cNvPr>
          <p:cNvSpPr>
            <a:spLocks xmlns:a="http://schemas.openxmlformats.org/drawingml/2006/main" noGrp="1"/>
          </p:cNvSpPr>
          <p:nvPr/>
        </p:nvSpPr>
        <p:spPr>
          <a:xfrm xmlns:a="http://schemas.openxmlformats.org/drawingml/2006/main">
            <a:off x="365760" y="1463040"/>
            <a:ext cx="8412480" cy="1554480"/>
          </a:xfrm>
          <a:prstGeom xmlns:a="http://schemas.openxmlformats.org/drawingml/2006/main" prst="roundRect">
            <a:avLst>
              <a:gd name="adj" fmla="val 4706"/>
            </a:avLst>
          </a:prstGeom>
          <a:solidFill xmlns:a="http://schemas.openxmlformats.org/drawingml/2006/main">
            <a:srgbClr val="0E2D69"/>
          </a:solidFill>
          <a:ln xmlns:a="http://schemas.openxmlformats.org/drawingml/2006/main" w="12700">
            <a:solidFill>
              <a:srgbClr val="0E2D69"/>
            </a:solidFill>
            <a:prstDash val="solid"/>
          </a:ln>
        </p:spPr>
      </p:sp>
      <p:sp>
        <p:nvSpPr>
          <p:cNvPr id="12" name="Text 8">
            <a:extLst xmlns:a="http://schemas.openxmlformats.org/drawingml/2006/main">
              <a:ext uri="{FF2B5EF4-FFF2-40B4-BE49-F238E27FC236}">
                <a16:creationId xmlns:a16="http://schemas.microsoft.com/office/drawing/2014/main" id="{4AFFB998-B18D-4CD1-9642-932C91C2A0BD}"/>
              </a:ext>
            </a:extLst>
          </p:cNvPr>
          <p:cNvSpPr>
            <a:spLocks xmlns:a="http://schemas.openxmlformats.org/drawingml/2006/main" noGrp="1"/>
          </p:cNvSpPr>
          <p:nvPr/>
        </p:nvSpPr>
        <p:spPr>
          <a:xfrm xmlns:a="http://schemas.openxmlformats.org/drawingml/2006/main">
            <a:off x="594360" y="1463040"/>
            <a:ext cx="795528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900" b="1">
                <a:solidFill>
                  <a:srgbClr val="FFFFFF"/>
                </a:solidFill>
                <a:latin typeface="Arial"/>
                <a:ea typeface="Arial"/>
                <a:cs typeface="Arial"/>
              </a:rPr>
              <a:t>По истории действий пользователя отобрать новые категории для рекомендации и использовать оценки модели для формирования CRM-аудитории</a:t>
            </a:r>
            <a:endParaRPr sz="1900"/>
          </a:p>
        </p:txBody>
      </p:sp>
      <p:sp>
        <p:nvSpPr>
          <p:cNvPr id="13" name="Shape 9">
            <a:extLst xmlns:a="http://schemas.openxmlformats.org/drawingml/2006/main">
              <a:ext uri="{FF2B5EF4-FFF2-40B4-BE49-F238E27FC236}">
                <a16:creationId xmlns:a16="http://schemas.microsoft.com/office/drawing/2014/main" id="{E9C1CB67-E71E-4481-8821-2C7025E4A56B}"/>
              </a:ext>
            </a:extLst>
          </p:cNvPr>
          <p:cNvSpPr>
            <a:spLocks xmlns:a="http://schemas.openxmlformats.org/drawingml/2006/main" noGrp="1"/>
          </p:cNvSpPr>
          <p:nvPr/>
        </p:nvSpPr>
        <p:spPr>
          <a:xfrm xmlns:a="http://schemas.openxmlformats.org/drawingml/2006/main">
            <a:off x="365760" y="3200400"/>
            <a:ext cx="4114800" cy="1280160"/>
          </a:xfrm>
          <a:prstGeom xmlns:a="http://schemas.openxmlformats.org/drawingml/2006/main" prst="roundRect">
            <a:avLst>
              <a:gd name="adj" fmla="val 5714"/>
            </a:avLst>
          </a:prstGeom>
          <a:solidFill xmlns:a="http://schemas.openxmlformats.org/drawingml/2006/main">
            <a:srgbClr val="EAF0FA"/>
          </a:solidFill>
          <a:ln xmlns:a="http://schemas.openxmlformats.org/drawingml/2006/main" w="12700">
            <a:solidFill>
              <a:srgbClr val="EAF0FA"/>
            </a:solidFill>
            <a:prstDash val="solid"/>
          </a:ln>
        </p:spPr>
      </p:sp>
      <p:sp>
        <p:nvSpPr>
          <p:cNvPr id="14" name="Text 10">
            <a:extLst xmlns:a="http://schemas.openxmlformats.org/drawingml/2006/main">
              <a:ext uri="{FF2B5EF4-FFF2-40B4-BE49-F238E27FC236}">
                <a16:creationId xmlns:a16="http://schemas.microsoft.com/office/drawing/2014/main" id="{9FE2CEE2-E428-4477-9968-2B4C4798AADC}"/>
              </a:ext>
            </a:extLst>
          </p:cNvPr>
          <p:cNvSpPr>
            <a:spLocks xmlns:a="http://schemas.openxmlformats.org/drawingml/2006/main" noGrp="1"/>
          </p:cNvSpPr>
          <p:nvPr/>
        </p:nvSpPr>
        <p:spPr>
          <a:xfrm xmlns:a="http://schemas.openxmlformats.org/drawingml/2006/main">
            <a:off x="548640" y="3310128"/>
            <a:ext cx="37490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rgbClr val="0E2D69"/>
                </a:solidFill>
                <a:latin typeface="Arial"/>
                <a:ea typeface="Arial"/>
                <a:cs typeface="Arial"/>
              </a:rPr>
              <a:t>Пользователь → категории</a:t>
            </a:r>
            <a:endParaRPr sz="1600"/>
          </a:p>
        </p:txBody>
      </p:sp>
      <p:sp>
        <p:nvSpPr>
          <p:cNvPr id="15" name="Text 11">
            <a:extLst xmlns:a="http://schemas.openxmlformats.org/drawingml/2006/main">
              <a:ext uri="{FF2B5EF4-FFF2-40B4-BE49-F238E27FC236}">
                <a16:creationId xmlns:a16="http://schemas.microsoft.com/office/drawing/2014/main" id="{AA9BB53E-FDC2-4043-8FD3-FCAFFFEAE37D}"/>
              </a:ext>
            </a:extLst>
          </p:cNvPr>
          <p:cNvSpPr>
            <a:spLocks xmlns:a="http://schemas.openxmlformats.org/drawingml/2006/main" noGrp="1"/>
          </p:cNvSpPr>
          <p:nvPr/>
        </p:nvSpPr>
        <p:spPr>
          <a:xfrm xmlns:a="http://schemas.openxmlformats.org/drawingml/2006/main">
            <a:off x="548640" y="3703320"/>
            <a:ext cx="374904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rgbClr val="0E2D69"/>
                </a:solidFill>
                <a:latin typeface="Arial"/>
                <a:ea typeface="Arial"/>
                <a:cs typeface="Arial"/>
              </a:rPr>
              <a:t>список новых категорий для пользователя</a:t>
            </a:r>
            <a:endParaRPr sz="1400"/>
          </a:p>
        </p:txBody>
      </p:sp>
      <p:sp>
        <p:nvSpPr>
          <p:cNvPr id="16" name="Shape 12">
            <a:extLst xmlns:a="http://schemas.openxmlformats.org/drawingml/2006/main">
              <a:ext uri="{FF2B5EF4-FFF2-40B4-BE49-F238E27FC236}">
                <a16:creationId xmlns:a16="http://schemas.microsoft.com/office/drawing/2014/main" id="{166851EF-B4F4-467F-A587-62BEA904C58F}"/>
              </a:ext>
            </a:extLst>
          </p:cNvPr>
          <p:cNvSpPr>
            <a:spLocks xmlns:a="http://schemas.openxmlformats.org/drawingml/2006/main" noGrp="1"/>
          </p:cNvSpPr>
          <p:nvPr/>
        </p:nvSpPr>
        <p:spPr>
          <a:xfrm xmlns:a="http://schemas.openxmlformats.org/drawingml/2006/main">
            <a:off x="4663440" y="3200400"/>
            <a:ext cx="4114800" cy="1280160"/>
          </a:xfrm>
          <a:prstGeom xmlns:a="http://schemas.openxmlformats.org/drawingml/2006/main" prst="roundRect">
            <a:avLst>
              <a:gd name="adj" fmla="val 5714"/>
            </a:avLst>
          </a:prstGeom>
          <a:solidFill xmlns:a="http://schemas.openxmlformats.org/drawingml/2006/main">
            <a:srgbClr val="EAF0FA"/>
          </a:solidFill>
          <a:ln xmlns:a="http://schemas.openxmlformats.org/drawingml/2006/main" w="12700">
            <a:solidFill>
              <a:srgbClr val="EAF0FA"/>
            </a:solidFill>
            <a:prstDash val="solid"/>
          </a:ln>
        </p:spPr>
      </p:sp>
      <p:sp>
        <p:nvSpPr>
          <p:cNvPr id="17" name="Text 13">
            <a:extLst xmlns:a="http://schemas.openxmlformats.org/drawingml/2006/main">
              <a:ext uri="{FF2B5EF4-FFF2-40B4-BE49-F238E27FC236}">
                <a16:creationId xmlns:a16="http://schemas.microsoft.com/office/drawing/2014/main" id="{E48354CF-8C58-4765-96DB-CC40C48A43C9}"/>
              </a:ext>
            </a:extLst>
          </p:cNvPr>
          <p:cNvSpPr>
            <a:spLocks xmlns:a="http://schemas.openxmlformats.org/drawingml/2006/main" noGrp="1"/>
          </p:cNvSpPr>
          <p:nvPr/>
        </p:nvSpPr>
        <p:spPr>
          <a:xfrm xmlns:a="http://schemas.openxmlformats.org/drawingml/2006/main">
            <a:off x="4846320" y="3310128"/>
            <a:ext cx="37490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rgbClr val="0E2D69"/>
                </a:solidFill>
                <a:latin typeface="Arial"/>
                <a:ea typeface="Arial"/>
                <a:cs typeface="Arial"/>
              </a:rPr>
              <a:t>Категория → пользователи</a:t>
            </a:r>
            <a:endParaRPr sz="1600"/>
          </a:p>
        </p:txBody>
      </p:sp>
      <p:sp>
        <p:nvSpPr>
          <p:cNvPr id="18" name="Text 14">
            <a:extLst xmlns:a="http://schemas.openxmlformats.org/drawingml/2006/main">
              <a:ext uri="{FF2B5EF4-FFF2-40B4-BE49-F238E27FC236}">
                <a16:creationId xmlns:a16="http://schemas.microsoft.com/office/drawing/2014/main" id="{5B47A52A-0AFE-485E-9866-0F7B44706C54}"/>
              </a:ext>
            </a:extLst>
          </p:cNvPr>
          <p:cNvSpPr>
            <a:spLocks xmlns:a="http://schemas.openxmlformats.org/drawingml/2006/main" noGrp="1"/>
          </p:cNvSpPr>
          <p:nvPr/>
        </p:nvSpPr>
        <p:spPr>
          <a:xfrm xmlns:a="http://schemas.openxmlformats.org/drawingml/2006/main">
            <a:off x="4846320" y="3703320"/>
            <a:ext cx="374904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rgbClr val="0E2D69"/>
                </a:solidFill>
                <a:latin typeface="Arial"/>
                <a:ea typeface="Arial"/>
                <a:cs typeface="Arial"/>
              </a:rPr>
              <a:t>оцениваем всех допустимых пользователей и сортируем по оценке</a:t>
            </a:r>
            <a:endParaRPr sz="1400"/>
          </a:p>
        </p:txBody>
      </p:sp>
      <p:sp>
        <p:nvSpPr>
          <p:cNvPr id="19" name="Text 15">
            <a:extLst xmlns:a="http://schemas.openxmlformats.org/drawingml/2006/main">
              <a:ext uri="{FF2B5EF4-FFF2-40B4-BE49-F238E27FC236}">
                <a16:creationId xmlns:a16="http://schemas.microsoft.com/office/drawing/2014/main" id="{54A34F48-D7F0-4975-A641-DF9F52B2C1F0}"/>
              </a:ext>
            </a:extLst>
          </p:cNvPr>
          <p:cNvSpPr>
            <a:spLocks xmlns:a="http://schemas.openxmlformats.org/drawingml/2006/main" noGrp="1"/>
          </p:cNvSpPr>
          <p:nvPr/>
        </p:nvSpPr>
        <p:spPr>
          <a:xfrm xmlns:a="http://schemas.openxmlformats.org/drawingml/2006/main">
            <a:off x="8001000" y="201168"/>
            <a:ext cx="8686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defPPr algn="ctr">
              <a:defRPr sz="1200">
                <a:solidFill>
                  <a:srgbClr val="173773"/>
                </a:solidFill>
                <a:latin typeface="Arial"/>
                <a:ea typeface="Arial"/>
                <a:cs typeface="Arial"/>
              </a:defRPr>
            </a:defPPr>
          </a:lstStyle>
          <a:p xmlns:a="http://schemas.openxmlformats.org/drawingml/2006/main">
            <a:pPr marL="0" indent="0" algn="ctr">
              <a:buNone/>
            </a:pPr>
            <a:r>
              <a:rPr sz="1200">
                <a:solidFill>
                  <a:srgbClr val="173773"/>
                </a:solidFill>
                <a:latin typeface="Arial"/>
                <a:ea typeface="Arial"/>
                <a:cs typeface="Arial"/>
              </a:rPr>
              <a:t>6/20</a:t>
            </a:r>
            <a:endParaRPr sz="1200"/>
          </a:p>
        </p:txBody>
      </p:sp>
    </p:spTree>
    <p:extLst>
      <p:ext uri="{BB962C8B-B14F-4D97-AF65-F5344CB8AC3E}">
        <p14:creationId xmlns:p14="http://schemas.microsoft.com/office/powerpoint/2010/main" val="200727170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31A6E291-5F14-498D-8495-8DA172681118}"/>
              </a:ext>
            </a:extLst>
          </p:cNvPr>
          <p:cNvPicPr>
            <a:picLocks xmlns:a="http://schemas.openxmlformats.org/drawingml/2006/main" noChangeAspect="1"/>
          </p:cNvPicPr>
          <p:nvPr/>
        </p:nvPicPr>
        <p:blipFill>
          <a:blip xmlns:r="http://schemas.openxmlformats.org/officeDocument/2006/relationships" xmlns:a="http://schemas.openxmlformats.org/drawingml/2006/main" r:embed="R686d1f1a68c44ba1"/>
          <a:stretch xmlns:a="http://schemas.openxmlformats.org/drawingml/2006/main">
            <a:fillRect l="0" t="0" r="0" b="0"/>
          </a:stretch>
        </p:blipFill>
        <p:spPr>
          <a:xfrm xmlns:a="http://schemas.openxmlformats.org/drawingml/2006/main">
            <a:off x="274320" y="137160"/>
            <a:ext cx="502920" cy="50292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7785D3FE-1D74-4BC9-A5ED-6A50394DBA7F}"/>
              </a:ext>
            </a:extLst>
          </p:cNvPr>
          <p:cNvSpPr>
            <a:spLocks xmlns:a="http://schemas.openxmlformats.org/drawingml/2006/main" noGrp="1"/>
          </p:cNvSpPr>
          <p:nvPr/>
        </p:nvSpPr>
        <p:spPr>
          <a:xfrm xmlns:a="http://schemas.openxmlformats.org/drawingml/2006/main">
            <a:off x="868680" y="201168"/>
            <a:ext cx="173736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0E2D69"/>
                </a:solidFill>
                <a:latin typeface="Arial"/>
                <a:ea typeface="Arial"/>
                <a:cs typeface="Arial"/>
              </a:rPr>
              <a:t>Школа информатики, физики и технологий</a:t>
            </a:r>
            <a:endParaRPr sz="800"/>
          </a:p>
        </p:txBody>
      </p:sp>
      <p:sp>
        <p:nvSpPr>
          <p:cNvPr id="4" name="Text 1">
            <a:extLst xmlns:a="http://schemas.openxmlformats.org/drawingml/2006/main">
              <a:ext uri="{FF2B5EF4-FFF2-40B4-BE49-F238E27FC236}">
                <a16:creationId xmlns:a16="http://schemas.microsoft.com/office/drawing/2014/main" id="{DC614A04-DD9C-4894-9A90-F2F4382508B9}"/>
              </a:ext>
            </a:extLst>
          </p:cNvPr>
          <p:cNvSpPr>
            <a:spLocks xmlns:a="http://schemas.openxmlformats.org/drawingml/2006/main" noGrp="1"/>
          </p:cNvSpPr>
          <p:nvPr/>
        </p:nvSpPr>
        <p:spPr>
          <a:xfrm xmlns:a="http://schemas.openxmlformats.org/drawingml/2006/main">
            <a:off x="2834640" y="201168"/>
            <a:ext cx="29260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0E2D69"/>
                </a:solidFill>
                <a:latin typeface="Arial"/>
                <a:ea typeface="Arial"/>
                <a:cs typeface="Arial"/>
              </a:rPr>
              <a:t>Рекомендательная система на основе поведенческих эмбеддингов</a:t>
            </a:r>
            <a:endParaRPr sz="800"/>
          </a:p>
        </p:txBody>
      </p:sp>
      <p:sp>
        <p:nvSpPr>
          <p:cNvPr id="5" name="Text 2">
            <a:extLst xmlns:a="http://schemas.openxmlformats.org/drawingml/2006/main">
              <a:ext uri="{FF2B5EF4-FFF2-40B4-BE49-F238E27FC236}">
                <a16:creationId xmlns:a16="http://schemas.microsoft.com/office/drawing/2014/main" id="{D23F6B57-64BE-4564-85E1-4BF8329CA2DB}"/>
              </a:ext>
            </a:extLst>
          </p:cNvPr>
          <p:cNvSpPr>
            <a:spLocks xmlns:a="http://schemas.openxmlformats.org/drawingml/2006/main" noGrp="1"/>
          </p:cNvSpPr>
          <p:nvPr/>
        </p:nvSpPr>
        <p:spPr>
          <a:xfrm xmlns:a="http://schemas.openxmlformats.org/drawingml/2006/main">
            <a:off x="5989320" y="201168"/>
            <a:ext cx="18288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defPPr algn="l">
              <a:defRPr sz="900">
                <a:solidFill>
                  <a:srgbClr val="173773"/>
                </a:solidFill>
                <a:latin typeface="Arial"/>
                <a:ea typeface="Arial"/>
                <a:cs typeface="Arial"/>
              </a:defRPr>
            </a:defPPr>
          </a:lstStyle>
          <a:p xmlns:a="http://schemas.openxmlformats.org/drawingml/2006/main">
            <a:pPr marL="0" indent="0" algn="l">
              <a:buNone/>
            </a:pPr>
            <a:r>
              <a:rPr sz="900">
                <a:solidFill>
                  <a:srgbClr val="173773"/>
                </a:solidFill>
                <a:latin typeface="Arial"/>
                <a:ea typeface="Arial"/>
                <a:cs typeface="Arial"/>
              </a:rPr>
              <a:t>Постановка задачи</a:t>
            </a:r>
            <a:endParaRPr sz="800"/>
          </a:p>
        </p:txBody>
      </p:sp>
      <p:sp>
        <p:nvSpPr>
          <p:cNvPr id="6" name="Shape 3">
            <a:extLst xmlns:a="http://schemas.openxmlformats.org/drawingml/2006/main">
              <a:ext uri="{FF2B5EF4-FFF2-40B4-BE49-F238E27FC236}">
                <a16:creationId xmlns:a16="http://schemas.microsoft.com/office/drawing/2014/main" id="{DB04BA94-3A74-4B6D-B4F8-952651C2FF4C}"/>
              </a:ext>
            </a:extLst>
          </p:cNvPr>
          <p:cNvSpPr>
            <a:spLocks xmlns:a="http://schemas.openxmlformats.org/drawingml/2006/main" noGrp="1"/>
          </p:cNvSpPr>
          <p:nvPr/>
        </p:nvSpPr>
        <p:spPr>
          <a:xfrm xmlns:a="http://schemas.openxmlformats.org/drawingml/2006/main">
            <a:off x="2697480" y="182880"/>
            <a:ext cx="0" cy="457200"/>
          </a:xfrm>
          <a:prstGeom xmlns:a="http://schemas.openxmlformats.org/drawingml/2006/main" prst="line">
            <a:avLst/>
          </a:prstGeom>
          <a:noFill xmlns:a="http://schemas.openxmlformats.org/drawingml/2006/main"/>
          <a:ln xmlns:a="http://schemas.openxmlformats.org/drawingml/2006/main" w="19050">
            <a:solidFill>
              <a:srgbClr val="0E2D69"/>
            </a:solidFill>
            <a:prstDash val="solid"/>
          </a:ln>
        </p:spPr>
      </p:sp>
      <p:sp>
        <p:nvSpPr>
          <p:cNvPr id="7" name="Shape 4">
            <a:extLst xmlns:a="http://schemas.openxmlformats.org/drawingml/2006/main">
              <a:ext uri="{FF2B5EF4-FFF2-40B4-BE49-F238E27FC236}">
                <a16:creationId xmlns:a16="http://schemas.microsoft.com/office/drawing/2014/main" id="{CE1CE80D-8692-400F-AADF-65F7F2787435}"/>
              </a:ext>
            </a:extLst>
          </p:cNvPr>
          <p:cNvSpPr>
            <a:spLocks xmlns:a="http://schemas.openxmlformats.org/drawingml/2006/main" noGrp="1"/>
          </p:cNvSpPr>
          <p:nvPr/>
        </p:nvSpPr>
        <p:spPr>
          <a:xfrm xmlns:a="http://schemas.openxmlformats.org/drawingml/2006/main">
            <a:off x="5852160" y="182880"/>
            <a:ext cx="0" cy="457200"/>
          </a:xfrm>
          <a:prstGeom xmlns:a="http://schemas.openxmlformats.org/drawingml/2006/main" prst="line">
            <a:avLst/>
          </a:prstGeom>
          <a:noFill xmlns:a="http://schemas.openxmlformats.org/drawingml/2006/main"/>
          <a:ln xmlns:a="http://schemas.openxmlformats.org/drawingml/2006/main" w="19050">
            <a:solidFill>
              <a:srgbClr val="0E2D69"/>
            </a:solidFill>
            <a:prstDash val="solid"/>
          </a:ln>
        </p:spPr>
      </p:sp>
      <p:sp>
        <p:nvSpPr>
          <p:cNvPr id="8" name="Shape 5">
            <a:extLst xmlns:a="http://schemas.openxmlformats.org/drawingml/2006/main">
              <a:ext uri="{FF2B5EF4-FFF2-40B4-BE49-F238E27FC236}">
                <a16:creationId xmlns:a16="http://schemas.microsoft.com/office/drawing/2014/main" id="{7B9847B3-65E3-4B6E-8505-D81C1BABDCD6}"/>
              </a:ext>
            </a:extLst>
          </p:cNvPr>
          <p:cNvSpPr>
            <a:spLocks xmlns:a="http://schemas.openxmlformats.org/drawingml/2006/main" noGrp="1"/>
          </p:cNvSpPr>
          <p:nvPr/>
        </p:nvSpPr>
        <p:spPr>
          <a:xfrm xmlns:a="http://schemas.openxmlformats.org/drawingml/2006/main">
            <a:off x="7909560" y="182880"/>
            <a:ext cx="0" cy="457200"/>
          </a:xfrm>
          <a:prstGeom xmlns:a="http://schemas.openxmlformats.org/drawingml/2006/main" prst="line">
            <a:avLst/>
          </a:prstGeom>
          <a:noFill xmlns:a="http://schemas.openxmlformats.org/drawingml/2006/main"/>
          <a:ln xmlns:a="http://schemas.openxmlformats.org/drawingml/2006/main" w="19050">
            <a:solidFill>
              <a:srgbClr val="0E2D69"/>
            </a:solidFill>
            <a:prstDash val="solid"/>
          </a:ln>
        </p:spPr>
      </p:sp>
      <p:sp>
        <p:nvSpPr>
          <p:cNvPr id="9" name="Text 6">
            <a:extLst xmlns:a="http://schemas.openxmlformats.org/drawingml/2006/main">
              <a:ext uri="{FF2B5EF4-FFF2-40B4-BE49-F238E27FC236}">
                <a16:creationId xmlns:a16="http://schemas.microsoft.com/office/drawing/2014/main" id="{1668EE22-B958-48FE-803D-47E55753E71F}"/>
              </a:ext>
            </a:extLst>
          </p:cNvPr>
          <p:cNvSpPr>
            <a:spLocks xmlns:a="http://schemas.openxmlformats.org/drawingml/2006/main" noGrp="1"/>
          </p:cNvSpPr>
          <p:nvPr/>
        </p:nvSpPr>
        <p:spPr>
          <a:xfrm xmlns:a="http://schemas.openxmlformats.org/drawingml/2006/main">
            <a:off x="365760" y="777240"/>
            <a:ext cx="84124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b="1">
                <a:solidFill>
                  <a:srgbClr val="0E2D69"/>
                </a:solidFill>
                <a:latin typeface="Arial"/>
                <a:ea typeface="Arial"/>
                <a:cs typeface="Arial"/>
              </a:rPr>
              <a:t>Постановка задачи</a:t>
            </a:r>
            <a:endParaRPr sz="2400"/>
          </a:p>
        </p:txBody>
      </p:sp>
      <p:sp>
        <p:nvSpPr>
          <p:cNvPr id="11" name="Shape 7">
            <a:extLst xmlns:a="http://schemas.openxmlformats.org/drawingml/2006/main">
              <a:ext uri="{FF2B5EF4-FFF2-40B4-BE49-F238E27FC236}">
                <a16:creationId xmlns:a16="http://schemas.microsoft.com/office/drawing/2014/main" id="{41CC30D5-3B8A-4A39-94A2-6303C6988B12}"/>
              </a:ext>
            </a:extLst>
          </p:cNvPr>
          <p:cNvSpPr>
            <a:spLocks xmlns:a="http://schemas.openxmlformats.org/drawingml/2006/main" noGrp="1"/>
          </p:cNvSpPr>
          <p:nvPr/>
        </p:nvSpPr>
        <p:spPr>
          <a:xfrm xmlns:a="http://schemas.openxmlformats.org/drawingml/2006/main">
            <a:off x="365760" y="1463040"/>
            <a:ext cx="4937760" cy="640080"/>
          </a:xfrm>
          <a:prstGeom xmlns:a="http://schemas.openxmlformats.org/drawingml/2006/main" prst="rect">
            <a:avLst/>
          </a:prstGeom>
          <a:solidFill xmlns:a="http://schemas.openxmlformats.org/drawingml/2006/main">
            <a:srgbClr val="244A9A"/>
          </a:solidFill>
          <a:ln xmlns:a="http://schemas.openxmlformats.org/drawingml/2006/main" w="12700">
            <a:solidFill>
              <a:srgbClr val="244A9A"/>
            </a:solidFill>
            <a:prstDash val="solid"/>
          </a:ln>
        </p:spPr>
      </p:sp>
      <p:sp>
        <p:nvSpPr>
          <p:cNvPr id="12" name="Text 8">
            <a:extLst xmlns:a="http://schemas.openxmlformats.org/drawingml/2006/main">
              <a:ext uri="{FF2B5EF4-FFF2-40B4-BE49-F238E27FC236}">
                <a16:creationId xmlns:a16="http://schemas.microsoft.com/office/drawing/2014/main" id="{415D8BC1-E285-4429-B2F9-A13E2B6C5D8D}"/>
              </a:ext>
            </a:extLst>
          </p:cNvPr>
          <p:cNvSpPr>
            <a:spLocks xmlns:a="http://schemas.openxmlformats.org/drawingml/2006/main" noGrp="1"/>
          </p:cNvSpPr>
          <p:nvPr/>
        </p:nvSpPr>
        <p:spPr>
          <a:xfrm xmlns:a="http://schemas.openxmlformats.org/drawingml/2006/main">
            <a:off x="365760" y="1463040"/>
            <a:ext cx="49377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Arial"/>
                <a:ea typeface="Arial"/>
                <a:cs typeface="Arial"/>
              </a:rPr>
              <a:t>История: 90 дней до даты прогноза</a:t>
            </a:r>
            <a:endParaRPr sz="1400"/>
          </a:p>
        </p:txBody>
      </p:sp>
      <p:sp>
        <p:nvSpPr>
          <p:cNvPr id="13" name="Shape 9">
            <a:extLst xmlns:a="http://schemas.openxmlformats.org/drawingml/2006/main">
              <a:ext uri="{FF2B5EF4-FFF2-40B4-BE49-F238E27FC236}">
                <a16:creationId xmlns:a16="http://schemas.microsoft.com/office/drawing/2014/main" id="{EF92A7E1-B6DB-4A79-9803-A2DB1121ECF5}"/>
              </a:ext>
            </a:extLst>
          </p:cNvPr>
          <p:cNvSpPr>
            <a:spLocks xmlns:a="http://schemas.openxmlformats.org/drawingml/2006/main" noGrp="1"/>
          </p:cNvSpPr>
          <p:nvPr/>
        </p:nvSpPr>
        <p:spPr>
          <a:xfrm xmlns:a="http://schemas.openxmlformats.org/drawingml/2006/main">
            <a:off x="5303520" y="1463040"/>
            <a:ext cx="3474720" cy="640080"/>
          </a:xfrm>
          <a:prstGeom xmlns:a="http://schemas.openxmlformats.org/drawingml/2006/main" prst="rect">
            <a:avLst/>
          </a:prstGeom>
          <a:solidFill xmlns:a="http://schemas.openxmlformats.org/drawingml/2006/main">
            <a:srgbClr val="E8743B"/>
          </a:solidFill>
          <a:ln xmlns:a="http://schemas.openxmlformats.org/drawingml/2006/main" w="12700">
            <a:solidFill>
              <a:srgbClr val="E8743B"/>
            </a:solidFill>
            <a:prstDash val="solid"/>
          </a:ln>
        </p:spPr>
      </p:sp>
      <p:sp>
        <p:nvSpPr>
          <p:cNvPr id="14" name="Text 10">
            <a:extLst xmlns:a="http://schemas.openxmlformats.org/drawingml/2006/main">
              <a:ext uri="{FF2B5EF4-FFF2-40B4-BE49-F238E27FC236}">
                <a16:creationId xmlns:a16="http://schemas.microsoft.com/office/drawing/2014/main" id="{5066D4F0-B30C-48AA-92A0-623D63BA6F4F}"/>
              </a:ext>
            </a:extLst>
          </p:cNvPr>
          <p:cNvSpPr>
            <a:spLocks xmlns:a="http://schemas.openxmlformats.org/drawingml/2006/main" noGrp="1"/>
          </p:cNvSpPr>
          <p:nvPr/>
        </p:nvSpPr>
        <p:spPr>
          <a:xfrm xmlns:a="http://schemas.openxmlformats.org/drawingml/2006/main">
            <a:off x="5303520" y="1463040"/>
            <a:ext cx="347472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Arial"/>
                <a:ea typeface="Arial"/>
                <a:cs typeface="Arial"/>
              </a:rPr>
              <a:t>Цель: 14 дней после</a:t>
            </a:r>
            <a:endParaRPr sz="1400"/>
          </a:p>
        </p:txBody>
      </p:sp>
      <p:sp>
        <p:nvSpPr>
          <p:cNvPr id="15" name="Shape 11">
            <a:extLst xmlns:a="http://schemas.openxmlformats.org/drawingml/2006/main">
              <a:ext uri="{FF2B5EF4-FFF2-40B4-BE49-F238E27FC236}">
                <a16:creationId xmlns:a16="http://schemas.microsoft.com/office/drawing/2014/main" id="{E736C93F-CE0D-4D49-9B28-579AAF11D153}"/>
              </a:ext>
            </a:extLst>
          </p:cNvPr>
          <p:cNvSpPr>
            <a:spLocks xmlns:a="http://schemas.openxmlformats.org/drawingml/2006/main" noGrp="1"/>
          </p:cNvSpPr>
          <p:nvPr/>
        </p:nvSpPr>
        <p:spPr>
          <a:xfrm xmlns:a="http://schemas.openxmlformats.org/drawingml/2006/main">
            <a:off x="365760" y="2286000"/>
            <a:ext cx="2712720" cy="1737360"/>
          </a:xfrm>
          <a:prstGeom xmlns:a="http://schemas.openxmlformats.org/drawingml/2006/main" prst="roundRect">
            <a:avLst>
              <a:gd name="adj" fmla="val 4211"/>
            </a:avLst>
          </a:prstGeom>
          <a:solidFill xmlns:a="http://schemas.openxmlformats.org/drawingml/2006/main">
            <a:srgbClr val="EAF0FA"/>
          </a:solidFill>
          <a:ln xmlns:a="http://schemas.openxmlformats.org/drawingml/2006/main" w="12700">
            <a:solidFill>
              <a:srgbClr val="EAF0FA"/>
            </a:solidFill>
            <a:prstDash val="solid"/>
          </a:ln>
        </p:spPr>
      </p:sp>
      <p:sp>
        <p:nvSpPr>
          <p:cNvPr id="16" name="Text 12">
            <a:extLst xmlns:a="http://schemas.openxmlformats.org/drawingml/2006/main">
              <a:ext uri="{FF2B5EF4-FFF2-40B4-BE49-F238E27FC236}">
                <a16:creationId xmlns:a16="http://schemas.microsoft.com/office/drawing/2014/main" id="{681C98C5-4177-4C81-99E2-255A686D5823}"/>
              </a:ext>
            </a:extLst>
          </p:cNvPr>
          <p:cNvSpPr>
            <a:spLocks xmlns:a="http://schemas.openxmlformats.org/drawingml/2006/main" noGrp="1"/>
          </p:cNvSpPr>
          <p:nvPr/>
        </p:nvSpPr>
        <p:spPr>
          <a:xfrm xmlns:a="http://schemas.openxmlformats.org/drawingml/2006/main">
            <a:off x="548640" y="2395728"/>
            <a:ext cx="2346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600" b="1">
                <a:solidFill>
                  <a:srgbClr val="0E2D69"/>
                </a:solidFill>
                <a:latin typeface="Arial"/>
                <a:ea typeface="Arial"/>
                <a:cs typeface="Arial"/>
              </a:rPr>
              <a:t>Новая категория</a:t>
            </a:r>
            <a:endParaRPr sz="1600"/>
          </a:p>
        </p:txBody>
      </p:sp>
      <p:sp>
        <p:nvSpPr>
          <p:cNvPr id="17" name="Text 13">
            <a:extLst xmlns:a="http://schemas.openxmlformats.org/drawingml/2006/main">
              <a:ext uri="{FF2B5EF4-FFF2-40B4-BE49-F238E27FC236}">
                <a16:creationId xmlns:a16="http://schemas.microsoft.com/office/drawing/2014/main" id="{BF7A5DA3-1C6A-43E8-81A6-8AB143F79DB1}"/>
              </a:ext>
            </a:extLst>
          </p:cNvPr>
          <p:cNvSpPr>
            <a:spLocks xmlns:a="http://schemas.openxmlformats.org/drawingml/2006/main" noGrp="1"/>
          </p:cNvSpPr>
          <p:nvPr/>
        </p:nvSpPr>
        <p:spPr>
          <a:xfrm xmlns:a="http://schemas.openxmlformats.org/drawingml/2006/main">
            <a:off x="548640" y="2807208"/>
            <a:ext cx="234696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400">
                <a:solidFill>
                  <a:srgbClr val="0E2D69"/>
                </a:solidFill>
                <a:latin typeface="Arial"/>
                <a:ea typeface="Arial"/>
                <a:cs typeface="Arial"/>
              </a:rPr>
              <a:t>нет контакта за последние 90 дней</a:t>
            </a:r>
            <a:endParaRPr sz="1400"/>
          </a:p>
        </p:txBody>
      </p:sp>
      <p:sp>
        <p:nvSpPr>
          <p:cNvPr id="18" name="Shape 14">
            <a:extLst xmlns:a="http://schemas.openxmlformats.org/drawingml/2006/main">
              <a:ext uri="{FF2B5EF4-FFF2-40B4-BE49-F238E27FC236}">
                <a16:creationId xmlns:a16="http://schemas.microsoft.com/office/drawing/2014/main" id="{05ABDF7C-90BA-49B9-B960-3A14E3E12E99}"/>
              </a:ext>
            </a:extLst>
          </p:cNvPr>
          <p:cNvSpPr>
            <a:spLocks xmlns:a="http://schemas.openxmlformats.org/drawingml/2006/main" noGrp="1"/>
          </p:cNvSpPr>
          <p:nvPr/>
        </p:nvSpPr>
        <p:spPr>
          <a:xfrm xmlns:a="http://schemas.openxmlformats.org/drawingml/2006/main">
            <a:off x="3215640" y="2286000"/>
            <a:ext cx="2712720" cy="1737360"/>
          </a:xfrm>
          <a:prstGeom xmlns:a="http://schemas.openxmlformats.org/drawingml/2006/main" prst="roundRect">
            <a:avLst>
              <a:gd name="adj" fmla="val 4211"/>
            </a:avLst>
          </a:prstGeom>
          <a:solidFill xmlns:a="http://schemas.openxmlformats.org/drawingml/2006/main">
            <a:srgbClr val="EAF0FA"/>
          </a:solidFill>
          <a:ln xmlns:a="http://schemas.openxmlformats.org/drawingml/2006/main" w="12700">
            <a:solidFill>
              <a:srgbClr val="EAF0FA"/>
            </a:solidFill>
            <a:prstDash val="solid"/>
          </a:ln>
        </p:spPr>
      </p:sp>
      <p:sp>
        <p:nvSpPr>
          <p:cNvPr id="19" name="Text 15">
            <a:extLst xmlns:a="http://schemas.openxmlformats.org/drawingml/2006/main">
              <a:ext uri="{FF2B5EF4-FFF2-40B4-BE49-F238E27FC236}">
                <a16:creationId xmlns:a16="http://schemas.microsoft.com/office/drawing/2014/main" id="{732C323F-016D-4B56-B57A-8705102381B8}"/>
              </a:ext>
            </a:extLst>
          </p:cNvPr>
          <p:cNvSpPr>
            <a:spLocks xmlns:a="http://schemas.openxmlformats.org/drawingml/2006/main" noGrp="1"/>
          </p:cNvSpPr>
          <p:nvPr/>
        </p:nvSpPr>
        <p:spPr>
          <a:xfrm xmlns:a="http://schemas.openxmlformats.org/drawingml/2006/main">
            <a:off x="3398520" y="2395728"/>
            <a:ext cx="2346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600" b="1">
                <a:solidFill>
                  <a:srgbClr val="0E2D69"/>
                </a:solidFill>
                <a:latin typeface="Arial"/>
                <a:ea typeface="Arial"/>
                <a:cs typeface="Arial"/>
              </a:rPr>
              <a:t>Цель</a:t>
            </a:r>
            <a:endParaRPr sz="1600"/>
          </a:p>
        </p:txBody>
      </p:sp>
      <p:sp>
        <p:nvSpPr>
          <p:cNvPr id="20" name="Text 16">
            <a:extLst xmlns:a="http://schemas.openxmlformats.org/drawingml/2006/main">
              <a:ext uri="{FF2B5EF4-FFF2-40B4-BE49-F238E27FC236}">
                <a16:creationId xmlns:a16="http://schemas.microsoft.com/office/drawing/2014/main" id="{4416323D-5201-4F72-8818-C25265C6A341}"/>
              </a:ext>
            </a:extLst>
          </p:cNvPr>
          <p:cNvSpPr>
            <a:spLocks xmlns:a="http://schemas.openxmlformats.org/drawingml/2006/main" noGrp="1"/>
          </p:cNvSpPr>
          <p:nvPr/>
        </p:nvSpPr>
        <p:spPr>
          <a:xfrm xmlns:a="http://schemas.openxmlformats.org/drawingml/2006/main">
            <a:off x="3398520" y="2807208"/>
            <a:ext cx="234696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400">
                <a:solidFill>
                  <a:srgbClr val="0E2D69"/>
                </a:solidFill>
                <a:latin typeface="Arial"/>
                <a:ea typeface="Arial"/>
                <a:cs typeface="Arial"/>
              </a:rPr>
              <a:t>контакт в новой категории; целевых категорий может быть несколько</a:t>
            </a:r>
            <a:endParaRPr sz="1400"/>
          </a:p>
        </p:txBody>
      </p:sp>
      <p:sp>
        <p:nvSpPr>
          <p:cNvPr id="21" name="Shape 17">
            <a:extLst xmlns:a="http://schemas.openxmlformats.org/drawingml/2006/main">
              <a:ext uri="{FF2B5EF4-FFF2-40B4-BE49-F238E27FC236}">
                <a16:creationId xmlns:a16="http://schemas.microsoft.com/office/drawing/2014/main" id="{EF04D8AE-8383-4057-9EE2-6B45700C1E82}"/>
              </a:ext>
            </a:extLst>
          </p:cNvPr>
          <p:cNvSpPr>
            <a:spLocks xmlns:a="http://schemas.openxmlformats.org/drawingml/2006/main" noGrp="1"/>
          </p:cNvSpPr>
          <p:nvPr/>
        </p:nvSpPr>
        <p:spPr>
          <a:xfrm xmlns:a="http://schemas.openxmlformats.org/drawingml/2006/main">
            <a:off x="6065520" y="2286000"/>
            <a:ext cx="2712720" cy="1737360"/>
          </a:xfrm>
          <a:prstGeom xmlns:a="http://schemas.openxmlformats.org/drawingml/2006/main" prst="roundRect">
            <a:avLst>
              <a:gd name="adj" fmla="val 4211"/>
            </a:avLst>
          </a:prstGeom>
          <a:solidFill xmlns:a="http://schemas.openxmlformats.org/drawingml/2006/main">
            <a:srgbClr val="EAF0FA"/>
          </a:solidFill>
          <a:ln xmlns:a="http://schemas.openxmlformats.org/drawingml/2006/main" w="12700">
            <a:solidFill>
              <a:srgbClr val="EAF0FA"/>
            </a:solidFill>
            <a:prstDash val="solid"/>
          </a:ln>
        </p:spPr>
      </p:sp>
      <p:sp>
        <p:nvSpPr>
          <p:cNvPr id="22" name="Text 18">
            <a:extLst xmlns:a="http://schemas.openxmlformats.org/drawingml/2006/main">
              <a:ext uri="{FF2B5EF4-FFF2-40B4-BE49-F238E27FC236}">
                <a16:creationId xmlns:a16="http://schemas.microsoft.com/office/drawing/2014/main" id="{58E8EEC8-DEAC-4567-9C98-4478092A3519}"/>
              </a:ext>
            </a:extLst>
          </p:cNvPr>
          <p:cNvSpPr>
            <a:spLocks xmlns:a="http://schemas.openxmlformats.org/drawingml/2006/main" noGrp="1"/>
          </p:cNvSpPr>
          <p:nvPr/>
        </p:nvSpPr>
        <p:spPr>
          <a:xfrm xmlns:a="http://schemas.openxmlformats.org/drawingml/2006/main">
            <a:off x="6248400" y="2395728"/>
            <a:ext cx="2346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600" b="1">
                <a:solidFill>
                  <a:srgbClr val="0E2D69"/>
                </a:solidFill>
                <a:latin typeface="Arial"/>
                <a:ea typeface="Arial"/>
                <a:cs typeface="Arial"/>
              </a:rPr>
              <a:t>Знакомые категории</a:t>
            </a:r>
            <a:endParaRPr sz="1600"/>
          </a:p>
        </p:txBody>
      </p:sp>
      <p:sp>
        <p:nvSpPr>
          <p:cNvPr id="23" name="Text 19">
            <a:extLst xmlns:a="http://schemas.openxmlformats.org/drawingml/2006/main">
              <a:ext uri="{FF2B5EF4-FFF2-40B4-BE49-F238E27FC236}">
                <a16:creationId xmlns:a16="http://schemas.microsoft.com/office/drawing/2014/main" id="{3E53B3E1-DEAD-4A54-A123-8B4D0300EFE4}"/>
              </a:ext>
            </a:extLst>
          </p:cNvPr>
          <p:cNvSpPr>
            <a:spLocks xmlns:a="http://schemas.openxmlformats.org/drawingml/2006/main" noGrp="1"/>
          </p:cNvSpPr>
          <p:nvPr/>
        </p:nvSpPr>
        <p:spPr>
          <a:xfrm xmlns:a="http://schemas.openxmlformats.org/drawingml/2006/main">
            <a:off x="6248400" y="2807208"/>
            <a:ext cx="234696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400">
                <a:solidFill>
                  <a:srgbClr val="0E2D69"/>
                </a:solidFill>
                <a:latin typeface="Arial"/>
                <a:ea typeface="Arial"/>
                <a:cs typeface="Arial"/>
              </a:rPr>
              <a:t>не рекомендуем, но их действия остаются в истории</a:t>
            </a:r>
            <a:endParaRPr sz="1400"/>
          </a:p>
        </p:txBody>
      </p:sp>
      <p:sp>
        <p:nvSpPr>
          <p:cNvPr id="24" name="Text 20">
            <a:extLst xmlns:a="http://schemas.openxmlformats.org/drawingml/2006/main">
              <a:ext uri="{FF2B5EF4-FFF2-40B4-BE49-F238E27FC236}">
                <a16:creationId xmlns:a16="http://schemas.microsoft.com/office/drawing/2014/main" id="{95E62233-36AD-4200-9C03-70687C5D80D4}"/>
              </a:ext>
            </a:extLst>
          </p:cNvPr>
          <p:cNvSpPr>
            <a:spLocks xmlns:a="http://schemas.openxmlformats.org/drawingml/2006/main" noGrp="1"/>
          </p:cNvSpPr>
          <p:nvPr/>
        </p:nvSpPr>
        <p:spPr>
          <a:xfrm xmlns:a="http://schemas.openxmlformats.org/drawingml/2006/main">
            <a:off x="365760" y="4754880"/>
            <a:ext cx="84124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a:solidFill>
                  <a:srgbClr val="5B6B8C"/>
                </a:solidFill>
                <a:latin typeface="Arial"/>
                <a:ea typeface="Arial"/>
                <a:cs typeface="Arial"/>
              </a:rPr>
              <a:t>Единица прогноза: пара «пользователь — детальная категория» (vertical / category / param1)</a:t>
            </a:r>
            <a:endParaRPr sz="1000"/>
          </a:p>
        </p:txBody>
      </p:sp>
      <p:sp>
        <p:nvSpPr>
          <p:cNvPr id="25" name="Text 21">
            <a:extLst xmlns:a="http://schemas.openxmlformats.org/drawingml/2006/main">
              <a:ext uri="{FF2B5EF4-FFF2-40B4-BE49-F238E27FC236}">
                <a16:creationId xmlns:a16="http://schemas.microsoft.com/office/drawing/2014/main" id="{45B06506-6096-4AFC-9070-D86A8779BE05}"/>
              </a:ext>
            </a:extLst>
          </p:cNvPr>
          <p:cNvSpPr>
            <a:spLocks xmlns:a="http://schemas.openxmlformats.org/drawingml/2006/main" noGrp="1"/>
          </p:cNvSpPr>
          <p:nvPr/>
        </p:nvSpPr>
        <p:spPr>
          <a:xfrm xmlns:a="http://schemas.openxmlformats.org/drawingml/2006/main">
            <a:off x="8001000" y="201168"/>
            <a:ext cx="8686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defPPr algn="ctr">
              <a:defRPr sz="1200">
                <a:solidFill>
                  <a:srgbClr val="173773"/>
                </a:solidFill>
                <a:latin typeface="Arial"/>
                <a:ea typeface="Arial"/>
                <a:cs typeface="Arial"/>
              </a:defRPr>
            </a:defPPr>
          </a:lstStyle>
          <a:p xmlns:a="http://schemas.openxmlformats.org/drawingml/2006/main">
            <a:pPr marL="0" indent="0" algn="ctr">
              <a:buNone/>
            </a:pPr>
            <a:r>
              <a:rPr sz="1200">
                <a:solidFill>
                  <a:srgbClr val="173773"/>
                </a:solidFill>
                <a:latin typeface="Arial"/>
                <a:ea typeface="Arial"/>
                <a:cs typeface="Arial"/>
              </a:rPr>
              <a:t>7/20</a:t>
            </a:r>
            <a:endParaRPr sz="1200"/>
          </a:p>
        </p:txBody>
      </p:sp>
    </p:spTree>
    <p:extLst>
      <p:ext uri="{BB962C8B-B14F-4D97-AF65-F5344CB8AC3E}">
        <p14:creationId xmlns:p14="http://schemas.microsoft.com/office/powerpoint/2010/main" val="172326404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87A9949F-32DD-40BF-87EA-584FC31A3883}"/>
              </a:ext>
            </a:extLst>
          </p:cNvPr>
          <p:cNvPicPr>
            <a:picLocks xmlns:a="http://schemas.openxmlformats.org/drawingml/2006/main" noChangeAspect="1"/>
          </p:cNvPicPr>
          <p:nvPr/>
        </p:nvPicPr>
        <p:blipFill>
          <a:blip xmlns:r="http://schemas.openxmlformats.org/officeDocument/2006/relationships" xmlns:a="http://schemas.openxmlformats.org/drawingml/2006/main" r:embed="Re44bd4ae2ce4464f"/>
          <a:stretch xmlns:a="http://schemas.openxmlformats.org/drawingml/2006/main">
            <a:fillRect l="0" t="0" r="0" b="0"/>
          </a:stretch>
        </p:blipFill>
        <p:spPr>
          <a:xfrm xmlns:a="http://schemas.openxmlformats.org/drawingml/2006/main">
            <a:off x="274320" y="137160"/>
            <a:ext cx="502920" cy="50292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50E0FE19-DB4D-4BBB-9A28-EC225269A048}"/>
              </a:ext>
            </a:extLst>
          </p:cNvPr>
          <p:cNvSpPr>
            <a:spLocks xmlns:a="http://schemas.openxmlformats.org/drawingml/2006/main" noGrp="1"/>
          </p:cNvSpPr>
          <p:nvPr/>
        </p:nvSpPr>
        <p:spPr>
          <a:xfrm xmlns:a="http://schemas.openxmlformats.org/drawingml/2006/main">
            <a:off x="868680" y="201168"/>
            <a:ext cx="173736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0E2D69"/>
                </a:solidFill>
                <a:latin typeface="Arial"/>
                <a:ea typeface="Arial"/>
                <a:cs typeface="Arial"/>
              </a:rPr>
              <a:t>Школа информатики, физики и технологий</a:t>
            </a:r>
            <a:endParaRPr sz="800"/>
          </a:p>
        </p:txBody>
      </p:sp>
      <p:sp>
        <p:nvSpPr>
          <p:cNvPr id="4" name="Text 1">
            <a:extLst xmlns:a="http://schemas.openxmlformats.org/drawingml/2006/main">
              <a:ext uri="{FF2B5EF4-FFF2-40B4-BE49-F238E27FC236}">
                <a16:creationId xmlns:a16="http://schemas.microsoft.com/office/drawing/2014/main" id="{F9929A2E-888F-4AC5-ACA9-781B87F0A146}"/>
              </a:ext>
            </a:extLst>
          </p:cNvPr>
          <p:cNvSpPr>
            <a:spLocks xmlns:a="http://schemas.openxmlformats.org/drawingml/2006/main" noGrp="1"/>
          </p:cNvSpPr>
          <p:nvPr/>
        </p:nvSpPr>
        <p:spPr>
          <a:xfrm xmlns:a="http://schemas.openxmlformats.org/drawingml/2006/main">
            <a:off x="2834640" y="201168"/>
            <a:ext cx="29260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0E2D69"/>
                </a:solidFill>
                <a:latin typeface="Arial"/>
                <a:ea typeface="Arial"/>
                <a:cs typeface="Arial"/>
              </a:rPr>
              <a:t>Рекомендательная система на основе поведенческих эмбеддингов</a:t>
            </a:r>
            <a:endParaRPr sz="800"/>
          </a:p>
        </p:txBody>
      </p:sp>
      <p:sp>
        <p:nvSpPr>
          <p:cNvPr id="5" name="Text 2">
            <a:extLst xmlns:a="http://schemas.openxmlformats.org/drawingml/2006/main">
              <a:ext uri="{FF2B5EF4-FFF2-40B4-BE49-F238E27FC236}">
                <a16:creationId xmlns:a16="http://schemas.microsoft.com/office/drawing/2014/main" id="{C5AFE150-D1C6-47F4-9981-5EACA8F336EB}"/>
              </a:ext>
            </a:extLst>
          </p:cNvPr>
          <p:cNvSpPr>
            <a:spLocks xmlns:a="http://schemas.openxmlformats.org/drawingml/2006/main" noGrp="1"/>
          </p:cNvSpPr>
          <p:nvPr/>
        </p:nvSpPr>
        <p:spPr>
          <a:xfrm xmlns:a="http://schemas.openxmlformats.org/drawingml/2006/main">
            <a:off x="5989320" y="201168"/>
            <a:ext cx="18288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defPPr algn="l">
              <a:defRPr sz="900">
                <a:solidFill>
                  <a:srgbClr val="173773"/>
                </a:solidFill>
                <a:latin typeface="Arial"/>
                <a:ea typeface="Arial"/>
                <a:cs typeface="Arial"/>
              </a:defRPr>
            </a:defPPr>
          </a:lstStyle>
          <a:p xmlns:a="http://schemas.openxmlformats.org/drawingml/2006/main">
            <a:pPr marL="0" indent="0" algn="l">
              <a:buNone/>
            </a:pPr>
            <a:r>
              <a:rPr sz="900">
                <a:solidFill>
                  <a:srgbClr val="173773"/>
                </a:solidFill>
                <a:latin typeface="Arial"/>
                <a:ea typeface="Arial"/>
                <a:cs typeface="Arial"/>
              </a:rPr>
              <a:t>Данные</a:t>
            </a:r>
            <a:endParaRPr sz="800"/>
          </a:p>
        </p:txBody>
      </p:sp>
      <p:sp>
        <p:nvSpPr>
          <p:cNvPr id="6" name="Shape 3">
            <a:extLst xmlns:a="http://schemas.openxmlformats.org/drawingml/2006/main">
              <a:ext uri="{FF2B5EF4-FFF2-40B4-BE49-F238E27FC236}">
                <a16:creationId xmlns:a16="http://schemas.microsoft.com/office/drawing/2014/main" id="{A1D22CB1-3B9B-48EA-B771-4A3242BE7327}"/>
              </a:ext>
            </a:extLst>
          </p:cNvPr>
          <p:cNvSpPr>
            <a:spLocks xmlns:a="http://schemas.openxmlformats.org/drawingml/2006/main" noGrp="1"/>
          </p:cNvSpPr>
          <p:nvPr/>
        </p:nvSpPr>
        <p:spPr>
          <a:xfrm xmlns:a="http://schemas.openxmlformats.org/drawingml/2006/main">
            <a:off x="2697480" y="182880"/>
            <a:ext cx="0" cy="457200"/>
          </a:xfrm>
          <a:prstGeom xmlns:a="http://schemas.openxmlformats.org/drawingml/2006/main" prst="line">
            <a:avLst/>
          </a:prstGeom>
          <a:noFill xmlns:a="http://schemas.openxmlformats.org/drawingml/2006/main"/>
          <a:ln xmlns:a="http://schemas.openxmlformats.org/drawingml/2006/main" w="19050">
            <a:solidFill>
              <a:srgbClr val="0E2D69"/>
            </a:solidFill>
            <a:prstDash val="solid"/>
          </a:ln>
        </p:spPr>
      </p:sp>
      <p:sp>
        <p:nvSpPr>
          <p:cNvPr id="7" name="Shape 4">
            <a:extLst xmlns:a="http://schemas.openxmlformats.org/drawingml/2006/main">
              <a:ext uri="{FF2B5EF4-FFF2-40B4-BE49-F238E27FC236}">
                <a16:creationId xmlns:a16="http://schemas.microsoft.com/office/drawing/2014/main" id="{63283CCB-0296-4341-B40A-43D0A00965D6}"/>
              </a:ext>
            </a:extLst>
          </p:cNvPr>
          <p:cNvSpPr>
            <a:spLocks xmlns:a="http://schemas.openxmlformats.org/drawingml/2006/main" noGrp="1"/>
          </p:cNvSpPr>
          <p:nvPr/>
        </p:nvSpPr>
        <p:spPr>
          <a:xfrm xmlns:a="http://schemas.openxmlformats.org/drawingml/2006/main">
            <a:off x="5852160" y="182880"/>
            <a:ext cx="0" cy="457200"/>
          </a:xfrm>
          <a:prstGeom xmlns:a="http://schemas.openxmlformats.org/drawingml/2006/main" prst="line">
            <a:avLst/>
          </a:prstGeom>
          <a:noFill xmlns:a="http://schemas.openxmlformats.org/drawingml/2006/main"/>
          <a:ln xmlns:a="http://schemas.openxmlformats.org/drawingml/2006/main" w="19050">
            <a:solidFill>
              <a:srgbClr val="0E2D69"/>
            </a:solidFill>
            <a:prstDash val="solid"/>
          </a:ln>
        </p:spPr>
      </p:sp>
      <p:sp>
        <p:nvSpPr>
          <p:cNvPr id="8" name="Shape 5">
            <a:extLst xmlns:a="http://schemas.openxmlformats.org/drawingml/2006/main">
              <a:ext uri="{FF2B5EF4-FFF2-40B4-BE49-F238E27FC236}">
                <a16:creationId xmlns:a16="http://schemas.microsoft.com/office/drawing/2014/main" id="{A353E981-65F3-4E17-AE67-D762684E5CAE}"/>
              </a:ext>
            </a:extLst>
          </p:cNvPr>
          <p:cNvSpPr>
            <a:spLocks xmlns:a="http://schemas.openxmlformats.org/drawingml/2006/main" noGrp="1"/>
          </p:cNvSpPr>
          <p:nvPr/>
        </p:nvSpPr>
        <p:spPr>
          <a:xfrm xmlns:a="http://schemas.openxmlformats.org/drawingml/2006/main">
            <a:off x="7909560" y="182880"/>
            <a:ext cx="0" cy="457200"/>
          </a:xfrm>
          <a:prstGeom xmlns:a="http://schemas.openxmlformats.org/drawingml/2006/main" prst="line">
            <a:avLst/>
          </a:prstGeom>
          <a:noFill xmlns:a="http://schemas.openxmlformats.org/drawingml/2006/main"/>
          <a:ln xmlns:a="http://schemas.openxmlformats.org/drawingml/2006/main" w="19050">
            <a:solidFill>
              <a:srgbClr val="0E2D69"/>
            </a:solidFill>
            <a:prstDash val="solid"/>
          </a:ln>
        </p:spPr>
      </p:sp>
      <p:sp>
        <p:nvSpPr>
          <p:cNvPr id="9" name="Text 6">
            <a:extLst xmlns:a="http://schemas.openxmlformats.org/drawingml/2006/main">
              <a:ext uri="{FF2B5EF4-FFF2-40B4-BE49-F238E27FC236}">
                <a16:creationId xmlns:a16="http://schemas.microsoft.com/office/drawing/2014/main" id="{49186C5E-1CE1-49E9-B7BF-2E95CB923DD8}"/>
              </a:ext>
            </a:extLst>
          </p:cNvPr>
          <p:cNvSpPr>
            <a:spLocks xmlns:a="http://schemas.openxmlformats.org/drawingml/2006/main" noGrp="1"/>
          </p:cNvSpPr>
          <p:nvPr/>
        </p:nvSpPr>
        <p:spPr>
          <a:xfrm xmlns:a="http://schemas.openxmlformats.org/drawingml/2006/main">
            <a:off x="365760" y="777240"/>
            <a:ext cx="84124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b="1">
                <a:solidFill>
                  <a:srgbClr val="0E2D69"/>
                </a:solidFill>
                <a:latin typeface="Arial"/>
                <a:ea typeface="Arial"/>
                <a:cs typeface="Arial"/>
              </a:rPr>
              <a:t>Данные</a:t>
            </a:r>
            <a:endParaRPr sz="2400"/>
          </a:p>
        </p:txBody>
      </p:sp>
      <p:sp>
        <p:nvSpPr>
          <p:cNvPr id="11" name="Shape 7">
            <a:extLst xmlns:a="http://schemas.openxmlformats.org/drawingml/2006/main">
              <a:ext uri="{FF2B5EF4-FFF2-40B4-BE49-F238E27FC236}">
                <a16:creationId xmlns:a16="http://schemas.microsoft.com/office/drawing/2014/main" id="{53440486-7177-4426-BC00-1CB4BEB82F6D}"/>
              </a:ext>
            </a:extLst>
          </p:cNvPr>
          <p:cNvSpPr>
            <a:spLocks xmlns:a="http://schemas.openxmlformats.org/drawingml/2006/main" noGrp="1"/>
          </p:cNvSpPr>
          <p:nvPr/>
        </p:nvSpPr>
        <p:spPr>
          <a:xfrm xmlns:a="http://schemas.openxmlformats.org/drawingml/2006/main">
            <a:off x="365760" y="1417320"/>
            <a:ext cx="2011680" cy="914400"/>
          </a:xfrm>
          <a:prstGeom xmlns:a="http://schemas.openxmlformats.org/drawingml/2006/main" prst="roundRect">
            <a:avLst>
              <a:gd name="adj" fmla="val 8000"/>
            </a:avLst>
          </a:prstGeom>
          <a:solidFill xmlns:a="http://schemas.openxmlformats.org/drawingml/2006/main">
            <a:srgbClr val="0E2D69"/>
          </a:solidFill>
          <a:ln xmlns:a="http://schemas.openxmlformats.org/drawingml/2006/main" w="12700">
            <a:solidFill>
              <a:srgbClr val="0E2D69"/>
            </a:solidFill>
            <a:prstDash val="solid"/>
          </a:ln>
        </p:spPr>
      </p:sp>
      <p:sp>
        <p:nvSpPr>
          <p:cNvPr id="12" name="Text 8">
            <a:extLst xmlns:a="http://schemas.openxmlformats.org/drawingml/2006/main">
              <a:ext uri="{FF2B5EF4-FFF2-40B4-BE49-F238E27FC236}">
                <a16:creationId xmlns:a16="http://schemas.microsoft.com/office/drawing/2014/main" id="{AC335676-CF1F-4AFB-B2D5-747A1BFAED2C}"/>
              </a:ext>
            </a:extLst>
          </p:cNvPr>
          <p:cNvSpPr>
            <a:spLocks xmlns:a="http://schemas.openxmlformats.org/drawingml/2006/main" noGrp="1"/>
          </p:cNvSpPr>
          <p:nvPr/>
        </p:nvSpPr>
        <p:spPr>
          <a:xfrm xmlns:a="http://schemas.openxmlformats.org/drawingml/2006/main">
            <a:off x="365760" y="1508760"/>
            <a:ext cx="20116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2600" b="1">
                <a:solidFill>
                  <a:srgbClr val="FFFFFF"/>
                </a:solidFill>
                <a:latin typeface="Arial"/>
                <a:ea typeface="Arial"/>
                <a:cs typeface="Arial"/>
              </a:rPr>
              <a:t>823 млн</a:t>
            </a:r>
            <a:endParaRPr sz="2600"/>
          </a:p>
        </p:txBody>
      </p:sp>
      <p:sp>
        <p:nvSpPr>
          <p:cNvPr id="13" name="Text 9">
            <a:extLst xmlns:a="http://schemas.openxmlformats.org/drawingml/2006/main">
              <a:ext uri="{FF2B5EF4-FFF2-40B4-BE49-F238E27FC236}">
                <a16:creationId xmlns:a16="http://schemas.microsoft.com/office/drawing/2014/main" id="{B9CF82D4-8EF0-48BD-82E6-458AFB8262AE}"/>
              </a:ext>
            </a:extLst>
          </p:cNvPr>
          <p:cNvSpPr>
            <a:spLocks xmlns:a="http://schemas.openxmlformats.org/drawingml/2006/main" noGrp="1"/>
          </p:cNvSpPr>
          <p:nvPr/>
        </p:nvSpPr>
        <p:spPr>
          <a:xfrm xmlns:a="http://schemas.openxmlformats.org/drawingml/2006/main">
            <a:off x="502920" y="2039112"/>
            <a:ext cx="1737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a:solidFill>
                  <a:srgbClr val="FFFFFF"/>
                </a:solidFill>
                <a:latin typeface="Arial"/>
                <a:ea typeface="Arial"/>
                <a:cs typeface="Arial"/>
              </a:rPr>
              <a:t>событий</a:t>
            </a:r>
            <a:endParaRPr sz="1100"/>
          </a:p>
        </p:txBody>
      </p:sp>
      <p:sp>
        <p:nvSpPr>
          <p:cNvPr id="14" name="Shape 10">
            <a:extLst xmlns:a="http://schemas.openxmlformats.org/drawingml/2006/main">
              <a:ext uri="{FF2B5EF4-FFF2-40B4-BE49-F238E27FC236}">
                <a16:creationId xmlns:a16="http://schemas.microsoft.com/office/drawing/2014/main" id="{9DDDB4FB-4E1D-42EB-A37A-CC51572974FC}"/>
              </a:ext>
            </a:extLst>
          </p:cNvPr>
          <p:cNvSpPr>
            <a:spLocks xmlns:a="http://schemas.openxmlformats.org/drawingml/2006/main" noGrp="1"/>
          </p:cNvSpPr>
          <p:nvPr/>
        </p:nvSpPr>
        <p:spPr>
          <a:xfrm xmlns:a="http://schemas.openxmlformats.org/drawingml/2006/main">
            <a:off x="2514600" y="1417320"/>
            <a:ext cx="2011680" cy="914400"/>
          </a:xfrm>
          <a:prstGeom xmlns:a="http://schemas.openxmlformats.org/drawingml/2006/main" prst="roundRect">
            <a:avLst>
              <a:gd name="adj" fmla="val 8000"/>
            </a:avLst>
          </a:prstGeom>
          <a:solidFill xmlns:a="http://schemas.openxmlformats.org/drawingml/2006/main">
            <a:srgbClr val="0E2D69"/>
          </a:solidFill>
          <a:ln xmlns:a="http://schemas.openxmlformats.org/drawingml/2006/main" w="12700">
            <a:solidFill>
              <a:srgbClr val="0E2D69"/>
            </a:solidFill>
            <a:prstDash val="solid"/>
          </a:ln>
        </p:spPr>
      </p:sp>
      <p:sp>
        <p:nvSpPr>
          <p:cNvPr id="15" name="Text 11">
            <a:extLst xmlns:a="http://schemas.openxmlformats.org/drawingml/2006/main">
              <a:ext uri="{FF2B5EF4-FFF2-40B4-BE49-F238E27FC236}">
                <a16:creationId xmlns:a16="http://schemas.microsoft.com/office/drawing/2014/main" id="{1673D978-3DF5-406F-9D52-BAF53C2A0794}"/>
              </a:ext>
            </a:extLst>
          </p:cNvPr>
          <p:cNvSpPr>
            <a:spLocks xmlns:a="http://schemas.openxmlformats.org/drawingml/2006/main" noGrp="1"/>
          </p:cNvSpPr>
          <p:nvPr/>
        </p:nvSpPr>
        <p:spPr>
          <a:xfrm xmlns:a="http://schemas.openxmlformats.org/drawingml/2006/main">
            <a:off x="2514600" y="1508760"/>
            <a:ext cx="20116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2600" b="1">
                <a:solidFill>
                  <a:srgbClr val="FFFFFF"/>
                </a:solidFill>
                <a:latin typeface="Arial"/>
                <a:ea typeface="Arial"/>
                <a:cs typeface="Arial"/>
              </a:rPr>
              <a:t>70 млн</a:t>
            </a:r>
            <a:endParaRPr sz="2600"/>
          </a:p>
        </p:txBody>
      </p:sp>
      <p:sp>
        <p:nvSpPr>
          <p:cNvPr id="16" name="Text 12">
            <a:extLst xmlns:a="http://schemas.openxmlformats.org/drawingml/2006/main">
              <a:ext uri="{FF2B5EF4-FFF2-40B4-BE49-F238E27FC236}">
                <a16:creationId xmlns:a16="http://schemas.microsoft.com/office/drawing/2014/main" id="{F5A07040-C712-4A28-8C5F-40594191BC91}"/>
              </a:ext>
            </a:extLst>
          </p:cNvPr>
          <p:cNvSpPr>
            <a:spLocks xmlns:a="http://schemas.openxmlformats.org/drawingml/2006/main" noGrp="1"/>
          </p:cNvSpPr>
          <p:nvPr/>
        </p:nvSpPr>
        <p:spPr>
          <a:xfrm xmlns:a="http://schemas.openxmlformats.org/drawingml/2006/main">
            <a:off x="2651760" y="2039112"/>
            <a:ext cx="1737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a:solidFill>
                  <a:srgbClr val="FFFFFF"/>
                </a:solidFill>
                <a:latin typeface="Arial"/>
                <a:ea typeface="Arial"/>
                <a:cs typeface="Arial"/>
              </a:rPr>
              <a:t>контактов</a:t>
            </a:r>
            <a:endParaRPr sz="1100"/>
          </a:p>
        </p:txBody>
      </p:sp>
      <p:sp>
        <p:nvSpPr>
          <p:cNvPr id="17" name="Shape 13">
            <a:extLst xmlns:a="http://schemas.openxmlformats.org/drawingml/2006/main">
              <a:ext uri="{FF2B5EF4-FFF2-40B4-BE49-F238E27FC236}">
                <a16:creationId xmlns:a16="http://schemas.microsoft.com/office/drawing/2014/main" id="{73769703-ABC2-4B49-8D26-4FDE335DD9F0}"/>
              </a:ext>
            </a:extLst>
          </p:cNvPr>
          <p:cNvSpPr>
            <a:spLocks xmlns:a="http://schemas.openxmlformats.org/drawingml/2006/main" noGrp="1"/>
          </p:cNvSpPr>
          <p:nvPr/>
        </p:nvSpPr>
        <p:spPr>
          <a:xfrm xmlns:a="http://schemas.openxmlformats.org/drawingml/2006/main">
            <a:off x="4663440" y="1417320"/>
            <a:ext cx="2011680" cy="914400"/>
          </a:xfrm>
          <a:prstGeom xmlns:a="http://schemas.openxmlformats.org/drawingml/2006/main" prst="roundRect">
            <a:avLst>
              <a:gd name="adj" fmla="val 8000"/>
            </a:avLst>
          </a:prstGeom>
          <a:solidFill xmlns:a="http://schemas.openxmlformats.org/drawingml/2006/main">
            <a:srgbClr val="0E2D69"/>
          </a:solidFill>
          <a:ln xmlns:a="http://schemas.openxmlformats.org/drawingml/2006/main" w="12700">
            <a:solidFill>
              <a:srgbClr val="0E2D69"/>
            </a:solidFill>
            <a:prstDash val="solid"/>
          </a:ln>
        </p:spPr>
      </p:sp>
      <p:sp>
        <p:nvSpPr>
          <p:cNvPr id="18" name="Text 14">
            <a:extLst xmlns:a="http://schemas.openxmlformats.org/drawingml/2006/main">
              <a:ext uri="{FF2B5EF4-FFF2-40B4-BE49-F238E27FC236}">
                <a16:creationId xmlns:a16="http://schemas.microsoft.com/office/drawing/2014/main" id="{56450706-5EDA-4FCA-9779-C0572CC70019}"/>
              </a:ext>
            </a:extLst>
          </p:cNvPr>
          <p:cNvSpPr>
            <a:spLocks xmlns:a="http://schemas.openxmlformats.org/drawingml/2006/main" noGrp="1"/>
          </p:cNvSpPr>
          <p:nvPr/>
        </p:nvSpPr>
        <p:spPr>
          <a:xfrm xmlns:a="http://schemas.openxmlformats.org/drawingml/2006/main">
            <a:off x="4663440" y="1508760"/>
            <a:ext cx="20116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2600" b="1">
                <a:solidFill>
                  <a:srgbClr val="FFFFFF"/>
                </a:solidFill>
                <a:latin typeface="Arial"/>
                <a:ea typeface="Arial"/>
                <a:cs typeface="Arial"/>
              </a:rPr>
              <a:t>2,6 млн</a:t>
            </a:r>
            <a:endParaRPr sz="2600"/>
          </a:p>
        </p:txBody>
      </p:sp>
      <p:sp>
        <p:nvSpPr>
          <p:cNvPr id="19" name="Text 15">
            <a:extLst xmlns:a="http://schemas.openxmlformats.org/drawingml/2006/main">
              <a:ext uri="{FF2B5EF4-FFF2-40B4-BE49-F238E27FC236}">
                <a16:creationId xmlns:a16="http://schemas.microsoft.com/office/drawing/2014/main" id="{4A6F317B-3BF6-4AB2-8BA2-EE64897B42CC}"/>
              </a:ext>
            </a:extLst>
          </p:cNvPr>
          <p:cNvSpPr>
            <a:spLocks xmlns:a="http://schemas.openxmlformats.org/drawingml/2006/main" noGrp="1"/>
          </p:cNvSpPr>
          <p:nvPr/>
        </p:nvSpPr>
        <p:spPr>
          <a:xfrm xmlns:a="http://schemas.openxmlformats.org/drawingml/2006/main">
            <a:off x="4800600" y="2039112"/>
            <a:ext cx="1737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a:solidFill>
                  <a:srgbClr val="FFFFFF"/>
                </a:solidFill>
                <a:latin typeface="Arial"/>
                <a:ea typeface="Arial"/>
                <a:cs typeface="Arial"/>
              </a:rPr>
              <a:t>пользователей</a:t>
            </a:r>
            <a:endParaRPr sz="1100"/>
          </a:p>
        </p:txBody>
      </p:sp>
      <p:sp>
        <p:nvSpPr>
          <p:cNvPr id="20" name="Shape 16">
            <a:extLst xmlns:a="http://schemas.openxmlformats.org/drawingml/2006/main">
              <a:ext uri="{FF2B5EF4-FFF2-40B4-BE49-F238E27FC236}">
                <a16:creationId xmlns:a16="http://schemas.microsoft.com/office/drawing/2014/main" id="{79F9BD96-9162-4DAA-B294-3D4F5B63375E}"/>
              </a:ext>
            </a:extLst>
          </p:cNvPr>
          <p:cNvSpPr>
            <a:spLocks xmlns:a="http://schemas.openxmlformats.org/drawingml/2006/main" noGrp="1"/>
          </p:cNvSpPr>
          <p:nvPr/>
        </p:nvSpPr>
        <p:spPr>
          <a:xfrm xmlns:a="http://schemas.openxmlformats.org/drawingml/2006/main">
            <a:off x="6812280" y="1417320"/>
            <a:ext cx="2011680" cy="914400"/>
          </a:xfrm>
          <a:prstGeom xmlns:a="http://schemas.openxmlformats.org/drawingml/2006/main" prst="roundRect">
            <a:avLst>
              <a:gd name="adj" fmla="val 8000"/>
            </a:avLst>
          </a:prstGeom>
          <a:solidFill xmlns:a="http://schemas.openxmlformats.org/drawingml/2006/main">
            <a:srgbClr val="0E2D69"/>
          </a:solidFill>
          <a:ln xmlns:a="http://schemas.openxmlformats.org/drawingml/2006/main" w="12700">
            <a:solidFill>
              <a:srgbClr val="0E2D69"/>
            </a:solidFill>
            <a:prstDash val="solid"/>
          </a:ln>
        </p:spPr>
      </p:sp>
      <p:sp>
        <p:nvSpPr>
          <p:cNvPr id="21" name="Text 17">
            <a:extLst xmlns:a="http://schemas.openxmlformats.org/drawingml/2006/main">
              <a:ext uri="{FF2B5EF4-FFF2-40B4-BE49-F238E27FC236}">
                <a16:creationId xmlns:a16="http://schemas.microsoft.com/office/drawing/2014/main" id="{3C9DAE2B-73B5-4B25-9821-69F3D907EE44}"/>
              </a:ext>
            </a:extLst>
          </p:cNvPr>
          <p:cNvSpPr>
            <a:spLocks xmlns:a="http://schemas.openxmlformats.org/drawingml/2006/main" noGrp="1"/>
          </p:cNvSpPr>
          <p:nvPr/>
        </p:nvSpPr>
        <p:spPr>
          <a:xfrm xmlns:a="http://schemas.openxmlformats.org/drawingml/2006/main">
            <a:off x="6812280" y="1508760"/>
            <a:ext cx="20116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2600" b="1">
                <a:solidFill>
                  <a:srgbClr val="FFFFFF"/>
                </a:solidFill>
                <a:latin typeface="Arial"/>
                <a:ea typeface="Arial"/>
                <a:cs typeface="Arial"/>
              </a:rPr>
              <a:t>351</a:t>
            </a:r>
            <a:endParaRPr sz="2600"/>
          </a:p>
        </p:txBody>
      </p:sp>
      <p:sp>
        <p:nvSpPr>
          <p:cNvPr id="22" name="Text 18">
            <a:extLst xmlns:a="http://schemas.openxmlformats.org/drawingml/2006/main">
              <a:ext uri="{FF2B5EF4-FFF2-40B4-BE49-F238E27FC236}">
                <a16:creationId xmlns:a16="http://schemas.microsoft.com/office/drawing/2014/main" id="{2203B216-380C-482D-A935-58F865359188}"/>
              </a:ext>
            </a:extLst>
          </p:cNvPr>
          <p:cNvSpPr>
            <a:spLocks xmlns:a="http://schemas.openxmlformats.org/drawingml/2006/main" noGrp="1"/>
          </p:cNvSpPr>
          <p:nvPr/>
        </p:nvSpPr>
        <p:spPr>
          <a:xfrm xmlns:a="http://schemas.openxmlformats.org/drawingml/2006/main">
            <a:off x="6949440" y="2039112"/>
            <a:ext cx="1737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a:solidFill>
                  <a:srgbClr val="FFFFFF"/>
                </a:solidFill>
                <a:latin typeface="Arial"/>
                <a:ea typeface="Arial"/>
                <a:cs typeface="Arial"/>
              </a:rPr>
              <a:t>детальная категория</a:t>
            </a:r>
            <a:endParaRPr sz="1100"/>
          </a:p>
        </p:txBody>
      </p:sp>
      <p:sp>
        <p:nvSpPr>
          <p:cNvPr id="23" name="Shape 19">
            <a:extLst xmlns:a="http://schemas.openxmlformats.org/drawingml/2006/main">
              <a:ext uri="{FF2B5EF4-FFF2-40B4-BE49-F238E27FC236}">
                <a16:creationId xmlns:a16="http://schemas.microsoft.com/office/drawing/2014/main" id="{4F641A25-3239-4953-8786-F9AF14F5B1BA}"/>
              </a:ext>
            </a:extLst>
          </p:cNvPr>
          <p:cNvSpPr>
            <a:spLocks xmlns:a="http://schemas.openxmlformats.org/drawingml/2006/main" noGrp="1"/>
          </p:cNvSpPr>
          <p:nvPr/>
        </p:nvSpPr>
        <p:spPr>
          <a:xfrm xmlns:a="http://schemas.openxmlformats.org/drawingml/2006/main">
            <a:off x="365760" y="2468880"/>
            <a:ext cx="2000250" cy="914400"/>
          </a:xfrm>
          <a:prstGeom xmlns:a="http://schemas.openxmlformats.org/drawingml/2006/main" prst="roundRect">
            <a:avLst>
              <a:gd name="adj" fmla="val 8000"/>
            </a:avLst>
          </a:prstGeom>
          <a:solidFill xmlns:a="http://schemas.openxmlformats.org/drawingml/2006/main">
            <a:srgbClr val="EAF0FA"/>
          </a:solidFill>
          <a:ln xmlns:a="http://schemas.openxmlformats.org/drawingml/2006/main" w="12700">
            <a:solidFill>
              <a:srgbClr val="EAF0FA"/>
            </a:solidFill>
            <a:prstDash val="solid"/>
          </a:ln>
        </p:spPr>
      </p:sp>
      <p:sp>
        <p:nvSpPr>
          <p:cNvPr id="24" name="Text 20">
            <a:extLst xmlns:a="http://schemas.openxmlformats.org/drawingml/2006/main">
              <a:ext uri="{FF2B5EF4-FFF2-40B4-BE49-F238E27FC236}">
                <a16:creationId xmlns:a16="http://schemas.microsoft.com/office/drawing/2014/main" id="{0E8003DF-2A4A-4E7E-BD03-B2ED8ED7AC69}"/>
              </a:ext>
            </a:extLst>
          </p:cNvPr>
          <p:cNvSpPr>
            <a:spLocks xmlns:a="http://schemas.openxmlformats.org/drawingml/2006/main" noGrp="1"/>
          </p:cNvSpPr>
          <p:nvPr/>
        </p:nvSpPr>
        <p:spPr>
          <a:xfrm xmlns:a="http://schemas.openxmlformats.org/drawingml/2006/main">
            <a:off x="548640" y="2578608"/>
            <a:ext cx="163449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600" b="1">
                <a:solidFill>
                  <a:srgbClr val="0E2D69"/>
                </a:solidFill>
                <a:latin typeface="Arial"/>
                <a:ea typeface="Arial"/>
                <a:cs typeface="Arial"/>
              </a:rPr>
              <a:t>search</a:t>
            </a:r>
            <a:endParaRPr sz="1600"/>
          </a:p>
        </p:txBody>
      </p:sp>
      <p:sp>
        <p:nvSpPr>
          <p:cNvPr id="25" name="Text 21">
            <a:extLst xmlns:a="http://schemas.openxmlformats.org/drawingml/2006/main">
              <a:ext uri="{FF2B5EF4-FFF2-40B4-BE49-F238E27FC236}">
                <a16:creationId xmlns:a16="http://schemas.microsoft.com/office/drawing/2014/main" id="{ACD456EB-73C3-4936-B339-7E159A0BD234}"/>
              </a:ext>
            </a:extLst>
          </p:cNvPr>
          <p:cNvSpPr>
            <a:spLocks xmlns:a="http://schemas.openxmlformats.org/drawingml/2006/main" noGrp="1"/>
          </p:cNvSpPr>
          <p:nvPr/>
        </p:nvSpPr>
        <p:spPr>
          <a:xfrm xmlns:a="http://schemas.openxmlformats.org/drawingml/2006/main">
            <a:off x="548640" y="2990088"/>
            <a:ext cx="163449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00">
                <a:solidFill>
                  <a:srgbClr val="0E2D69"/>
                </a:solidFill>
                <a:latin typeface="Arial"/>
                <a:ea typeface="Arial"/>
                <a:cs typeface="Arial"/>
              </a:rPr>
              <a:t>слабый сигнал интереса</a:t>
            </a:r>
            <a:endParaRPr sz="1200"/>
          </a:p>
        </p:txBody>
      </p:sp>
      <p:sp>
        <p:nvSpPr>
          <p:cNvPr id="26" name="Shape 22">
            <a:extLst xmlns:a="http://schemas.openxmlformats.org/drawingml/2006/main">
              <a:ext uri="{FF2B5EF4-FFF2-40B4-BE49-F238E27FC236}">
                <a16:creationId xmlns:a16="http://schemas.microsoft.com/office/drawing/2014/main" id="{DDECEE6E-180D-4C63-865E-8B967C36FAF5}"/>
              </a:ext>
            </a:extLst>
          </p:cNvPr>
          <p:cNvSpPr>
            <a:spLocks xmlns:a="http://schemas.openxmlformats.org/drawingml/2006/main" noGrp="1"/>
          </p:cNvSpPr>
          <p:nvPr/>
        </p:nvSpPr>
        <p:spPr>
          <a:xfrm xmlns:a="http://schemas.openxmlformats.org/drawingml/2006/main">
            <a:off x="2503170" y="2468880"/>
            <a:ext cx="2000250" cy="914400"/>
          </a:xfrm>
          <a:prstGeom xmlns:a="http://schemas.openxmlformats.org/drawingml/2006/main" prst="roundRect">
            <a:avLst>
              <a:gd name="adj" fmla="val 8000"/>
            </a:avLst>
          </a:prstGeom>
          <a:solidFill xmlns:a="http://schemas.openxmlformats.org/drawingml/2006/main">
            <a:srgbClr val="EAF0FA"/>
          </a:solidFill>
          <a:ln xmlns:a="http://schemas.openxmlformats.org/drawingml/2006/main" w="12700">
            <a:solidFill>
              <a:srgbClr val="EAF0FA"/>
            </a:solidFill>
            <a:prstDash val="solid"/>
          </a:ln>
        </p:spPr>
      </p:sp>
      <p:sp>
        <p:nvSpPr>
          <p:cNvPr id="27" name="Text 23">
            <a:extLst xmlns:a="http://schemas.openxmlformats.org/drawingml/2006/main">
              <a:ext uri="{FF2B5EF4-FFF2-40B4-BE49-F238E27FC236}">
                <a16:creationId xmlns:a16="http://schemas.microsoft.com/office/drawing/2014/main" id="{FF11F911-A7A8-4DC3-B56F-FC803F8D977E}"/>
              </a:ext>
            </a:extLst>
          </p:cNvPr>
          <p:cNvSpPr>
            <a:spLocks xmlns:a="http://schemas.openxmlformats.org/drawingml/2006/main" noGrp="1"/>
          </p:cNvSpPr>
          <p:nvPr/>
        </p:nvSpPr>
        <p:spPr>
          <a:xfrm xmlns:a="http://schemas.openxmlformats.org/drawingml/2006/main">
            <a:off x="2686050" y="2578608"/>
            <a:ext cx="163449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600" b="1">
                <a:solidFill>
                  <a:srgbClr val="0E2D69"/>
                </a:solidFill>
                <a:latin typeface="Arial"/>
                <a:ea typeface="Arial"/>
                <a:cs typeface="Arial"/>
              </a:rPr>
              <a:t>fav</a:t>
            </a:r>
            <a:endParaRPr sz="1600"/>
          </a:p>
        </p:txBody>
      </p:sp>
      <p:sp>
        <p:nvSpPr>
          <p:cNvPr id="28" name="Text 24">
            <a:extLst xmlns:a="http://schemas.openxmlformats.org/drawingml/2006/main">
              <a:ext uri="{FF2B5EF4-FFF2-40B4-BE49-F238E27FC236}">
                <a16:creationId xmlns:a16="http://schemas.microsoft.com/office/drawing/2014/main" id="{F9F65AE5-AF14-4BE9-81F2-59AFDC11C81F}"/>
              </a:ext>
            </a:extLst>
          </p:cNvPr>
          <p:cNvSpPr>
            <a:spLocks xmlns:a="http://schemas.openxmlformats.org/drawingml/2006/main" noGrp="1"/>
          </p:cNvSpPr>
          <p:nvPr/>
        </p:nvSpPr>
        <p:spPr>
          <a:xfrm xmlns:a="http://schemas.openxmlformats.org/drawingml/2006/main">
            <a:off x="2686050" y="2990088"/>
            <a:ext cx="163449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00">
                <a:solidFill>
                  <a:srgbClr val="0E2D69"/>
                </a:solidFill>
                <a:latin typeface="Arial"/>
                <a:ea typeface="Arial"/>
                <a:cs typeface="Arial"/>
              </a:rPr>
              <a:t>добавление в избранное</a:t>
            </a:r>
            <a:endParaRPr sz="1200"/>
          </a:p>
        </p:txBody>
      </p:sp>
      <p:sp>
        <p:nvSpPr>
          <p:cNvPr id="29" name="Shape 25">
            <a:extLst xmlns:a="http://schemas.openxmlformats.org/drawingml/2006/main">
              <a:ext uri="{FF2B5EF4-FFF2-40B4-BE49-F238E27FC236}">
                <a16:creationId xmlns:a16="http://schemas.microsoft.com/office/drawing/2014/main" id="{0790D636-4FCF-4FD6-BB79-97A17D331539}"/>
              </a:ext>
            </a:extLst>
          </p:cNvPr>
          <p:cNvSpPr>
            <a:spLocks xmlns:a="http://schemas.openxmlformats.org/drawingml/2006/main" noGrp="1"/>
          </p:cNvSpPr>
          <p:nvPr/>
        </p:nvSpPr>
        <p:spPr>
          <a:xfrm xmlns:a="http://schemas.openxmlformats.org/drawingml/2006/main">
            <a:off x="4640580" y="2468880"/>
            <a:ext cx="2000250" cy="914400"/>
          </a:xfrm>
          <a:prstGeom xmlns:a="http://schemas.openxmlformats.org/drawingml/2006/main" prst="roundRect">
            <a:avLst>
              <a:gd name="adj" fmla="val 8000"/>
            </a:avLst>
          </a:prstGeom>
          <a:solidFill xmlns:a="http://schemas.openxmlformats.org/drawingml/2006/main">
            <a:srgbClr val="EAF0FA"/>
          </a:solidFill>
          <a:ln xmlns:a="http://schemas.openxmlformats.org/drawingml/2006/main" w="12700">
            <a:solidFill>
              <a:srgbClr val="EAF0FA"/>
            </a:solidFill>
            <a:prstDash val="solid"/>
          </a:ln>
        </p:spPr>
      </p:sp>
      <p:sp>
        <p:nvSpPr>
          <p:cNvPr id="30" name="Text 26">
            <a:extLst xmlns:a="http://schemas.openxmlformats.org/drawingml/2006/main">
              <a:ext uri="{FF2B5EF4-FFF2-40B4-BE49-F238E27FC236}">
                <a16:creationId xmlns:a16="http://schemas.microsoft.com/office/drawing/2014/main" id="{47ABE135-2F0E-4D78-BFA5-D683785BB70E}"/>
              </a:ext>
            </a:extLst>
          </p:cNvPr>
          <p:cNvSpPr>
            <a:spLocks xmlns:a="http://schemas.openxmlformats.org/drawingml/2006/main" noGrp="1"/>
          </p:cNvSpPr>
          <p:nvPr/>
        </p:nvSpPr>
        <p:spPr>
          <a:xfrm xmlns:a="http://schemas.openxmlformats.org/drawingml/2006/main">
            <a:off x="4823460" y="2578608"/>
            <a:ext cx="163449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600" b="1">
                <a:solidFill>
                  <a:srgbClr val="0E2D69"/>
                </a:solidFill>
                <a:latin typeface="Arial"/>
                <a:ea typeface="Arial"/>
                <a:cs typeface="Arial"/>
              </a:rPr>
              <a:t>dab</a:t>
            </a:r>
            <a:endParaRPr sz="1600"/>
          </a:p>
        </p:txBody>
      </p:sp>
      <p:sp>
        <p:nvSpPr>
          <p:cNvPr id="31" name="Text 27">
            <a:extLst xmlns:a="http://schemas.openxmlformats.org/drawingml/2006/main">
              <a:ext uri="{FF2B5EF4-FFF2-40B4-BE49-F238E27FC236}">
                <a16:creationId xmlns:a16="http://schemas.microsoft.com/office/drawing/2014/main" id="{71B871EE-3167-4E87-8160-1277C3CEBD8B}"/>
              </a:ext>
            </a:extLst>
          </p:cNvPr>
          <p:cNvSpPr>
            <a:spLocks xmlns:a="http://schemas.openxmlformats.org/drawingml/2006/main" noGrp="1"/>
          </p:cNvSpPr>
          <p:nvPr/>
        </p:nvSpPr>
        <p:spPr>
          <a:xfrm xmlns:a="http://schemas.openxmlformats.org/drawingml/2006/main">
            <a:off x="4823460" y="2990088"/>
            <a:ext cx="163449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00">
                <a:solidFill>
                  <a:srgbClr val="0E2D69"/>
                </a:solidFill>
                <a:latin typeface="Arial"/>
                <a:ea typeface="Arial"/>
                <a:cs typeface="Arial"/>
              </a:rPr>
              <a:t>контакт</a:t>
            </a:r>
            <a:endParaRPr sz="1200"/>
          </a:p>
        </p:txBody>
      </p:sp>
      <p:sp>
        <p:nvSpPr>
          <p:cNvPr id="32" name="Shape 28">
            <a:extLst xmlns:a="http://schemas.openxmlformats.org/drawingml/2006/main">
              <a:ext uri="{FF2B5EF4-FFF2-40B4-BE49-F238E27FC236}">
                <a16:creationId xmlns:a16="http://schemas.microsoft.com/office/drawing/2014/main" id="{EE913D07-235D-48D7-A10A-B6B20AF3A17D}"/>
              </a:ext>
            </a:extLst>
          </p:cNvPr>
          <p:cNvSpPr>
            <a:spLocks xmlns:a="http://schemas.openxmlformats.org/drawingml/2006/main" noGrp="1"/>
          </p:cNvSpPr>
          <p:nvPr/>
        </p:nvSpPr>
        <p:spPr>
          <a:xfrm xmlns:a="http://schemas.openxmlformats.org/drawingml/2006/main">
            <a:off x="6777990" y="2468880"/>
            <a:ext cx="2000250" cy="914400"/>
          </a:xfrm>
          <a:prstGeom xmlns:a="http://schemas.openxmlformats.org/drawingml/2006/main" prst="roundRect">
            <a:avLst>
              <a:gd name="adj" fmla="val 8000"/>
            </a:avLst>
          </a:prstGeom>
          <a:solidFill xmlns:a="http://schemas.openxmlformats.org/drawingml/2006/main">
            <a:srgbClr val="EAF0FA"/>
          </a:solidFill>
          <a:ln xmlns:a="http://schemas.openxmlformats.org/drawingml/2006/main" w="12700">
            <a:solidFill>
              <a:srgbClr val="EAF0FA"/>
            </a:solidFill>
            <a:prstDash val="solid"/>
          </a:ln>
        </p:spPr>
      </p:sp>
      <p:sp>
        <p:nvSpPr>
          <p:cNvPr id="33" name="Text 29">
            <a:extLst xmlns:a="http://schemas.openxmlformats.org/drawingml/2006/main">
              <a:ext uri="{FF2B5EF4-FFF2-40B4-BE49-F238E27FC236}">
                <a16:creationId xmlns:a16="http://schemas.microsoft.com/office/drawing/2014/main" id="{23EF7014-B31E-41B8-B286-0A106472981A}"/>
              </a:ext>
            </a:extLst>
          </p:cNvPr>
          <p:cNvSpPr>
            <a:spLocks xmlns:a="http://schemas.openxmlformats.org/drawingml/2006/main" noGrp="1"/>
          </p:cNvSpPr>
          <p:nvPr/>
        </p:nvSpPr>
        <p:spPr>
          <a:xfrm xmlns:a="http://schemas.openxmlformats.org/drawingml/2006/main">
            <a:off x="6960870" y="2578608"/>
            <a:ext cx="163449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600" b="1">
                <a:solidFill>
                  <a:srgbClr val="0E2D69"/>
                </a:solidFill>
                <a:latin typeface="Arial"/>
                <a:ea typeface="Arial"/>
                <a:cs typeface="Arial"/>
              </a:rPr>
              <a:t>dtb</a:t>
            </a:r>
            <a:endParaRPr sz="1600"/>
          </a:p>
        </p:txBody>
      </p:sp>
      <p:sp>
        <p:nvSpPr>
          <p:cNvPr id="34" name="Text 30">
            <a:extLst xmlns:a="http://schemas.openxmlformats.org/drawingml/2006/main">
              <a:ext uri="{FF2B5EF4-FFF2-40B4-BE49-F238E27FC236}">
                <a16:creationId xmlns:a16="http://schemas.microsoft.com/office/drawing/2014/main" id="{7A4C21C0-D807-4434-8D05-88C9D61A45D9}"/>
              </a:ext>
            </a:extLst>
          </p:cNvPr>
          <p:cNvSpPr>
            <a:spLocks xmlns:a="http://schemas.openxmlformats.org/drawingml/2006/main" noGrp="1"/>
          </p:cNvSpPr>
          <p:nvPr/>
        </p:nvSpPr>
        <p:spPr>
          <a:xfrm xmlns:a="http://schemas.openxmlformats.org/drawingml/2006/main">
            <a:off x="6960870" y="2990088"/>
            <a:ext cx="163449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00">
                <a:solidFill>
                  <a:srgbClr val="0E2D69"/>
                </a:solidFill>
                <a:latin typeface="Arial"/>
                <a:ea typeface="Arial"/>
                <a:cs typeface="Arial"/>
              </a:rPr>
              <a:t>контакт</a:t>
            </a:r>
            <a:endParaRPr sz="1200"/>
          </a:p>
        </p:txBody>
      </p:sp>
      <p:sp>
        <p:nvSpPr>
          <p:cNvPr id="35" name="Shape 31">
            <a:extLst xmlns:a="http://schemas.openxmlformats.org/drawingml/2006/main">
              <a:ext uri="{FF2B5EF4-FFF2-40B4-BE49-F238E27FC236}">
                <a16:creationId xmlns:a16="http://schemas.microsoft.com/office/drawing/2014/main" id="{E462DEC2-46DA-4B5A-80B6-754D01EB9414}"/>
              </a:ext>
            </a:extLst>
          </p:cNvPr>
          <p:cNvSpPr>
            <a:spLocks xmlns:a="http://schemas.openxmlformats.org/drawingml/2006/main" noGrp="1"/>
          </p:cNvSpPr>
          <p:nvPr/>
        </p:nvSpPr>
        <p:spPr>
          <a:xfrm xmlns:a="http://schemas.openxmlformats.org/drawingml/2006/main">
            <a:off x="365760" y="3520440"/>
            <a:ext cx="8412480" cy="640080"/>
          </a:xfrm>
          <a:prstGeom xmlns:a="http://schemas.openxmlformats.org/drawingml/2006/main" prst="roundRect">
            <a:avLst>
              <a:gd name="adj" fmla="val 11429"/>
            </a:avLst>
          </a:prstGeom>
          <a:solidFill xmlns:a="http://schemas.openxmlformats.org/drawingml/2006/main">
            <a:srgbClr val="FDEBDD"/>
          </a:solidFill>
          <a:ln xmlns:a="http://schemas.openxmlformats.org/drawingml/2006/main" w="12700">
            <a:solidFill>
              <a:srgbClr val="FDEBDD"/>
            </a:solidFill>
            <a:prstDash val="solid"/>
          </a:ln>
        </p:spPr>
      </p:sp>
      <p:sp>
        <p:nvSpPr>
          <p:cNvPr id="36" name="Text 32">
            <a:extLst xmlns:a="http://schemas.openxmlformats.org/drawingml/2006/main">
              <a:ext uri="{FF2B5EF4-FFF2-40B4-BE49-F238E27FC236}">
                <a16:creationId xmlns:a16="http://schemas.microsoft.com/office/drawing/2014/main" id="{6472253C-ABB4-477D-91C4-D2ABF2912238}"/>
              </a:ext>
            </a:extLst>
          </p:cNvPr>
          <p:cNvSpPr>
            <a:spLocks xmlns:a="http://schemas.openxmlformats.org/drawingml/2006/main" noGrp="1"/>
          </p:cNvSpPr>
          <p:nvPr/>
        </p:nvSpPr>
        <p:spPr>
          <a:xfrm xmlns:a="http://schemas.openxmlformats.org/drawingml/2006/main">
            <a:off x="502920" y="3520440"/>
            <a:ext cx="81381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0E2D69"/>
                </a:solidFill>
                <a:latin typeface="Arial"/>
                <a:ea typeface="Arial"/>
                <a:cs typeface="Arial"/>
              </a:rPr>
              <a:t>Целевой контакт — dab или dtb в новой для пользователя категории в течение 14 дней после даты прогноза</a:t>
            </a:r>
            <a:endParaRPr sz="1400"/>
          </a:p>
        </p:txBody>
      </p:sp>
      <p:sp>
        <p:nvSpPr>
          <p:cNvPr id="37" name="Text 33">
            <a:extLst xmlns:a="http://schemas.openxmlformats.org/drawingml/2006/main">
              <a:ext uri="{FF2B5EF4-FFF2-40B4-BE49-F238E27FC236}">
                <a16:creationId xmlns:a16="http://schemas.microsoft.com/office/drawing/2014/main" id="{EDD19BFF-CAFF-48E2-9441-759DC2B91652}"/>
              </a:ext>
            </a:extLst>
          </p:cNvPr>
          <p:cNvSpPr>
            <a:spLocks xmlns:a="http://schemas.openxmlformats.org/drawingml/2006/main" noGrp="1"/>
          </p:cNvSpPr>
          <p:nvPr/>
        </p:nvSpPr>
        <p:spPr>
          <a:xfrm xmlns:a="http://schemas.openxmlformats.org/drawingml/2006/main">
            <a:off x="365760" y="4297680"/>
            <a:ext cx="84124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0E2D69"/>
                </a:solidFill>
                <a:latin typeface="Arial"/>
                <a:ea typeface="Arial"/>
                <a:cs typeface="Arial"/>
              </a:rPr>
              <a:t>2,6 млн — вся исходная аудитория. Обучающий пул — около 2 млн пользователей</a:t>
            </a:r>
            <a:endParaRPr sz="1200"/>
          </a:p>
        </p:txBody>
      </p:sp>
      <p:sp>
        <p:nvSpPr>
          <p:cNvPr id="38" name="Text 34">
            <a:extLst xmlns:a="http://schemas.openxmlformats.org/drawingml/2006/main">
              <a:ext uri="{FF2B5EF4-FFF2-40B4-BE49-F238E27FC236}">
                <a16:creationId xmlns:a16="http://schemas.microsoft.com/office/drawing/2014/main" id="{540573D4-5F97-4FE1-A963-DB701AA4EBAC}"/>
              </a:ext>
            </a:extLst>
          </p:cNvPr>
          <p:cNvSpPr>
            <a:spLocks xmlns:a="http://schemas.openxmlformats.org/drawingml/2006/main" noGrp="1"/>
          </p:cNvSpPr>
          <p:nvPr/>
        </p:nvSpPr>
        <p:spPr>
          <a:xfrm xmlns:a="http://schemas.openxmlformats.org/drawingml/2006/main">
            <a:off x="365760" y="4754880"/>
            <a:ext cx="84124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a:solidFill>
                  <a:srgbClr val="5B6B8C"/>
                </a:solidFill>
                <a:latin typeface="Arial"/>
                <a:ea typeface="Arial"/>
                <a:cs typeface="Arial"/>
              </a:rPr>
              <a:t>Период: август 2025 – август 2026. Идентификатор пользователя как признак модели не используется</a:t>
            </a:r>
            <a:endParaRPr sz="1000"/>
          </a:p>
        </p:txBody>
      </p:sp>
      <p:sp>
        <p:nvSpPr>
          <p:cNvPr id="39" name="Text 35">
            <a:extLst xmlns:a="http://schemas.openxmlformats.org/drawingml/2006/main">
              <a:ext uri="{FF2B5EF4-FFF2-40B4-BE49-F238E27FC236}">
                <a16:creationId xmlns:a16="http://schemas.microsoft.com/office/drawing/2014/main" id="{0C74C2AF-41F8-472B-9414-F8D40C680414}"/>
              </a:ext>
            </a:extLst>
          </p:cNvPr>
          <p:cNvSpPr>
            <a:spLocks xmlns:a="http://schemas.openxmlformats.org/drawingml/2006/main" noGrp="1"/>
          </p:cNvSpPr>
          <p:nvPr/>
        </p:nvSpPr>
        <p:spPr>
          <a:xfrm xmlns:a="http://schemas.openxmlformats.org/drawingml/2006/main">
            <a:off x="8001000" y="201168"/>
            <a:ext cx="8686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defPPr algn="ctr">
              <a:defRPr sz="1200">
                <a:solidFill>
                  <a:srgbClr val="173773"/>
                </a:solidFill>
                <a:latin typeface="Arial"/>
                <a:ea typeface="Arial"/>
                <a:cs typeface="Arial"/>
              </a:defRPr>
            </a:defPPr>
          </a:lstStyle>
          <a:p xmlns:a="http://schemas.openxmlformats.org/drawingml/2006/main">
            <a:pPr marL="0" indent="0" algn="ctr">
              <a:buNone/>
            </a:pPr>
            <a:r>
              <a:rPr sz="1200">
                <a:solidFill>
                  <a:srgbClr val="173773"/>
                </a:solidFill>
                <a:latin typeface="Arial"/>
                <a:ea typeface="Arial"/>
                <a:cs typeface="Arial"/>
              </a:rPr>
              <a:t>8/20</a:t>
            </a:r>
            <a:endParaRPr sz="1200"/>
          </a:p>
        </p:txBody>
      </p:sp>
    </p:spTree>
    <p:extLst>
      <p:ext uri="{BB962C8B-B14F-4D97-AF65-F5344CB8AC3E}">
        <p14:creationId xmlns:p14="http://schemas.microsoft.com/office/powerpoint/2010/main" val="122134033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B1FEB392-9039-4135-8EE2-E9C110802388}"/>
              </a:ext>
            </a:extLst>
          </p:cNvPr>
          <p:cNvPicPr>
            <a:picLocks xmlns:a="http://schemas.openxmlformats.org/drawingml/2006/main" noChangeAspect="1"/>
          </p:cNvPicPr>
          <p:nvPr/>
        </p:nvPicPr>
        <p:blipFill>
          <a:blip xmlns:r="http://schemas.openxmlformats.org/officeDocument/2006/relationships" xmlns:a="http://schemas.openxmlformats.org/drawingml/2006/main" r:embed="R089a4c37a7fc4f42"/>
          <a:stretch xmlns:a="http://schemas.openxmlformats.org/drawingml/2006/main">
            <a:fillRect l="0" t="0" r="0" b="0"/>
          </a:stretch>
        </p:blipFill>
        <p:spPr>
          <a:xfrm xmlns:a="http://schemas.openxmlformats.org/drawingml/2006/main">
            <a:off x="274320" y="137160"/>
            <a:ext cx="502920" cy="50292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AF5482C5-D94A-4FD9-BD72-EB3E8D995B98}"/>
              </a:ext>
            </a:extLst>
          </p:cNvPr>
          <p:cNvSpPr>
            <a:spLocks xmlns:a="http://schemas.openxmlformats.org/drawingml/2006/main" noGrp="1"/>
          </p:cNvSpPr>
          <p:nvPr/>
        </p:nvSpPr>
        <p:spPr>
          <a:xfrm xmlns:a="http://schemas.openxmlformats.org/drawingml/2006/main">
            <a:off x="868680" y="201168"/>
            <a:ext cx="173736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0E2D69"/>
                </a:solidFill>
                <a:latin typeface="Arial"/>
                <a:ea typeface="Arial"/>
                <a:cs typeface="Arial"/>
              </a:rPr>
              <a:t>Школа информатики, физики и технологий</a:t>
            </a:r>
            <a:endParaRPr sz="800"/>
          </a:p>
        </p:txBody>
      </p:sp>
      <p:sp>
        <p:nvSpPr>
          <p:cNvPr id="4" name="Text 1">
            <a:extLst xmlns:a="http://schemas.openxmlformats.org/drawingml/2006/main">
              <a:ext uri="{FF2B5EF4-FFF2-40B4-BE49-F238E27FC236}">
                <a16:creationId xmlns:a16="http://schemas.microsoft.com/office/drawing/2014/main" id="{AA1760DE-961C-4DBB-9B81-5E05260B5096}"/>
              </a:ext>
            </a:extLst>
          </p:cNvPr>
          <p:cNvSpPr>
            <a:spLocks xmlns:a="http://schemas.openxmlformats.org/drawingml/2006/main" noGrp="1"/>
          </p:cNvSpPr>
          <p:nvPr/>
        </p:nvSpPr>
        <p:spPr>
          <a:xfrm xmlns:a="http://schemas.openxmlformats.org/drawingml/2006/main">
            <a:off x="2834640" y="201168"/>
            <a:ext cx="29260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0E2D69"/>
                </a:solidFill>
                <a:latin typeface="Arial"/>
                <a:ea typeface="Arial"/>
                <a:cs typeface="Arial"/>
              </a:rPr>
              <a:t>Рекомендательная система на основе поведенческих эмбеддингов</a:t>
            </a:r>
            <a:endParaRPr sz="800"/>
          </a:p>
        </p:txBody>
      </p:sp>
      <p:sp>
        <p:nvSpPr>
          <p:cNvPr id="5" name="Text 2">
            <a:extLst xmlns:a="http://schemas.openxmlformats.org/drawingml/2006/main">
              <a:ext uri="{FF2B5EF4-FFF2-40B4-BE49-F238E27FC236}">
                <a16:creationId xmlns:a16="http://schemas.microsoft.com/office/drawing/2014/main" id="{0688765D-E6C9-4BE7-B36F-01BBEF743417}"/>
              </a:ext>
            </a:extLst>
          </p:cNvPr>
          <p:cNvSpPr>
            <a:spLocks xmlns:a="http://schemas.openxmlformats.org/drawingml/2006/main" noGrp="1"/>
          </p:cNvSpPr>
          <p:nvPr/>
        </p:nvSpPr>
        <p:spPr>
          <a:xfrm xmlns:a="http://schemas.openxmlformats.org/drawingml/2006/main">
            <a:off x="5989320" y="201168"/>
            <a:ext cx="18288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defPPr algn="l">
              <a:defRPr sz="900">
                <a:solidFill>
                  <a:srgbClr val="173773"/>
                </a:solidFill>
                <a:latin typeface="Arial"/>
                <a:ea typeface="Arial"/>
                <a:cs typeface="Arial"/>
              </a:defRPr>
            </a:defPPr>
          </a:lstStyle>
          <a:p xmlns:a="http://schemas.openxmlformats.org/drawingml/2006/main">
            <a:pPr marL="0" indent="0" algn="l">
              <a:buNone/>
            </a:pPr>
            <a:r>
              <a:rPr sz="900">
                <a:solidFill>
                  <a:srgbClr val="173773"/>
                </a:solidFill>
                <a:latin typeface="Arial"/>
                <a:ea typeface="Arial"/>
                <a:cs typeface="Arial"/>
              </a:rPr>
              <a:t>Данные</a:t>
            </a:r>
            <a:endParaRPr sz="800"/>
          </a:p>
        </p:txBody>
      </p:sp>
      <p:sp>
        <p:nvSpPr>
          <p:cNvPr id="6" name="Shape 3">
            <a:extLst xmlns:a="http://schemas.openxmlformats.org/drawingml/2006/main">
              <a:ext uri="{FF2B5EF4-FFF2-40B4-BE49-F238E27FC236}">
                <a16:creationId xmlns:a16="http://schemas.microsoft.com/office/drawing/2014/main" id="{4DA3E738-ED22-4797-9971-B416DE69A7AE}"/>
              </a:ext>
            </a:extLst>
          </p:cNvPr>
          <p:cNvSpPr>
            <a:spLocks xmlns:a="http://schemas.openxmlformats.org/drawingml/2006/main" noGrp="1"/>
          </p:cNvSpPr>
          <p:nvPr/>
        </p:nvSpPr>
        <p:spPr>
          <a:xfrm xmlns:a="http://schemas.openxmlformats.org/drawingml/2006/main">
            <a:off x="2697480" y="182880"/>
            <a:ext cx="0" cy="457200"/>
          </a:xfrm>
          <a:prstGeom xmlns:a="http://schemas.openxmlformats.org/drawingml/2006/main" prst="line">
            <a:avLst/>
          </a:prstGeom>
          <a:noFill xmlns:a="http://schemas.openxmlformats.org/drawingml/2006/main"/>
          <a:ln xmlns:a="http://schemas.openxmlformats.org/drawingml/2006/main" w="19050">
            <a:solidFill>
              <a:srgbClr val="0E2D69"/>
            </a:solidFill>
            <a:prstDash val="solid"/>
          </a:ln>
        </p:spPr>
      </p:sp>
      <p:sp>
        <p:nvSpPr>
          <p:cNvPr id="7" name="Shape 4">
            <a:extLst xmlns:a="http://schemas.openxmlformats.org/drawingml/2006/main">
              <a:ext uri="{FF2B5EF4-FFF2-40B4-BE49-F238E27FC236}">
                <a16:creationId xmlns:a16="http://schemas.microsoft.com/office/drawing/2014/main" id="{56745F08-7BE0-417B-87F0-2C72EFD64CBA}"/>
              </a:ext>
            </a:extLst>
          </p:cNvPr>
          <p:cNvSpPr>
            <a:spLocks xmlns:a="http://schemas.openxmlformats.org/drawingml/2006/main" noGrp="1"/>
          </p:cNvSpPr>
          <p:nvPr/>
        </p:nvSpPr>
        <p:spPr>
          <a:xfrm xmlns:a="http://schemas.openxmlformats.org/drawingml/2006/main">
            <a:off x="5852160" y="182880"/>
            <a:ext cx="0" cy="457200"/>
          </a:xfrm>
          <a:prstGeom xmlns:a="http://schemas.openxmlformats.org/drawingml/2006/main" prst="line">
            <a:avLst/>
          </a:prstGeom>
          <a:noFill xmlns:a="http://schemas.openxmlformats.org/drawingml/2006/main"/>
          <a:ln xmlns:a="http://schemas.openxmlformats.org/drawingml/2006/main" w="19050">
            <a:solidFill>
              <a:srgbClr val="0E2D69"/>
            </a:solidFill>
            <a:prstDash val="solid"/>
          </a:ln>
        </p:spPr>
      </p:sp>
      <p:sp>
        <p:nvSpPr>
          <p:cNvPr id="8" name="Shape 5">
            <a:extLst xmlns:a="http://schemas.openxmlformats.org/drawingml/2006/main">
              <a:ext uri="{FF2B5EF4-FFF2-40B4-BE49-F238E27FC236}">
                <a16:creationId xmlns:a16="http://schemas.microsoft.com/office/drawing/2014/main" id="{B18870F0-6077-4AE0-BE5F-DB1EABAA1EA6}"/>
              </a:ext>
            </a:extLst>
          </p:cNvPr>
          <p:cNvSpPr>
            <a:spLocks xmlns:a="http://schemas.openxmlformats.org/drawingml/2006/main" noGrp="1"/>
          </p:cNvSpPr>
          <p:nvPr/>
        </p:nvSpPr>
        <p:spPr>
          <a:xfrm xmlns:a="http://schemas.openxmlformats.org/drawingml/2006/main">
            <a:off x="7909560" y="182880"/>
            <a:ext cx="0" cy="457200"/>
          </a:xfrm>
          <a:prstGeom xmlns:a="http://schemas.openxmlformats.org/drawingml/2006/main" prst="line">
            <a:avLst/>
          </a:prstGeom>
          <a:noFill xmlns:a="http://schemas.openxmlformats.org/drawingml/2006/main"/>
          <a:ln xmlns:a="http://schemas.openxmlformats.org/drawingml/2006/main" w="19050">
            <a:solidFill>
              <a:srgbClr val="0E2D69"/>
            </a:solidFill>
            <a:prstDash val="solid"/>
          </a:ln>
        </p:spPr>
      </p:sp>
      <p:sp>
        <p:nvSpPr>
          <p:cNvPr id="9" name="Text 6">
            <a:extLst xmlns:a="http://schemas.openxmlformats.org/drawingml/2006/main">
              <a:ext uri="{FF2B5EF4-FFF2-40B4-BE49-F238E27FC236}">
                <a16:creationId xmlns:a16="http://schemas.microsoft.com/office/drawing/2014/main" id="{66C26B04-23D5-4A4E-80C3-3771E1BC4570}"/>
              </a:ext>
            </a:extLst>
          </p:cNvPr>
          <p:cNvSpPr>
            <a:spLocks xmlns:a="http://schemas.openxmlformats.org/drawingml/2006/main" noGrp="1"/>
          </p:cNvSpPr>
          <p:nvPr/>
        </p:nvSpPr>
        <p:spPr>
          <a:xfrm xmlns:a="http://schemas.openxmlformats.org/drawingml/2006/main">
            <a:off x="365760" y="777240"/>
            <a:ext cx="84124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b="1">
                <a:solidFill>
                  <a:srgbClr val="0E2D69"/>
                </a:solidFill>
                <a:latin typeface="Arial"/>
                <a:ea typeface="Arial"/>
                <a:cs typeface="Arial"/>
              </a:rPr>
              <a:t>Подготовка обучающих примеров</a:t>
            </a:r>
            <a:endParaRPr sz="2400"/>
          </a:p>
        </p:txBody>
      </p:sp>
      <p:sp>
        <p:nvSpPr>
          <p:cNvPr id="11" name="Text 7">
            <a:extLst xmlns:a="http://schemas.openxmlformats.org/drawingml/2006/main">
              <a:ext uri="{FF2B5EF4-FFF2-40B4-BE49-F238E27FC236}">
                <a16:creationId xmlns:a16="http://schemas.microsoft.com/office/drawing/2014/main" id="{7B4BBE77-4B50-4606-84B5-510E83AE4967}"/>
              </a:ext>
            </a:extLst>
          </p:cNvPr>
          <p:cNvSpPr>
            <a:spLocks xmlns:a="http://schemas.openxmlformats.org/drawingml/2006/main" noGrp="1"/>
          </p:cNvSpPr>
          <p:nvPr/>
        </p:nvSpPr>
        <p:spPr>
          <a:xfrm xmlns:a="http://schemas.openxmlformats.org/drawingml/2006/main">
            <a:off x="365760" y="1371600"/>
            <a:ext cx="4663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244A9A"/>
                </a:solidFill>
                <a:latin typeface="Arial"/>
                <a:ea typeface="Arial"/>
                <a:cs typeface="Arial"/>
              </a:rPr>
              <a:t>Предыдущие 90 дней — вход модели</a:t>
            </a:r>
            <a:endParaRPr sz="1300"/>
          </a:p>
        </p:txBody>
      </p:sp>
      <p:sp>
        <p:nvSpPr>
          <p:cNvPr id="12" name="Text 8">
            <a:extLst xmlns:a="http://schemas.openxmlformats.org/drawingml/2006/main">
              <a:ext uri="{FF2B5EF4-FFF2-40B4-BE49-F238E27FC236}">
                <a16:creationId xmlns:a16="http://schemas.microsoft.com/office/drawing/2014/main" id="{7CEB7626-73A7-4C25-A174-9F27FAB0A3B7}"/>
              </a:ext>
            </a:extLst>
          </p:cNvPr>
          <p:cNvSpPr>
            <a:spLocks xmlns:a="http://schemas.openxmlformats.org/drawingml/2006/main" noGrp="1"/>
          </p:cNvSpPr>
          <p:nvPr/>
        </p:nvSpPr>
        <p:spPr>
          <a:xfrm xmlns:a="http://schemas.openxmlformats.org/drawingml/2006/main">
            <a:off x="5349240" y="1371600"/>
            <a:ext cx="3429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E8743B"/>
                </a:solidFill>
                <a:latin typeface="Arial"/>
                <a:ea typeface="Arial"/>
                <a:cs typeface="Arial"/>
              </a:rPr>
              <a:t>Следующие 14 дней — правильные ответы</a:t>
            </a:r>
            <a:endParaRPr sz="1200"/>
          </a:p>
        </p:txBody>
      </p:sp>
      <p:sp>
        <p:nvSpPr>
          <p:cNvPr id="13" name="Shape 9">
            <a:extLst xmlns:a="http://schemas.openxmlformats.org/drawingml/2006/main">
              <a:ext uri="{FF2B5EF4-FFF2-40B4-BE49-F238E27FC236}">
                <a16:creationId xmlns:a16="http://schemas.microsoft.com/office/drawing/2014/main" id="{78EE2B5F-DA7C-4035-9490-AC83C81F3344}"/>
              </a:ext>
            </a:extLst>
          </p:cNvPr>
          <p:cNvSpPr>
            <a:spLocks xmlns:a="http://schemas.openxmlformats.org/drawingml/2006/main" noGrp="1"/>
          </p:cNvSpPr>
          <p:nvPr/>
        </p:nvSpPr>
        <p:spPr>
          <a:xfrm xmlns:a="http://schemas.openxmlformats.org/drawingml/2006/main">
            <a:off x="365760" y="1691640"/>
            <a:ext cx="1463040" cy="777240"/>
          </a:xfrm>
          <a:prstGeom xmlns:a="http://schemas.openxmlformats.org/drawingml/2006/main" prst="roundRect">
            <a:avLst>
              <a:gd name="adj" fmla="val 9412"/>
            </a:avLst>
          </a:prstGeom>
          <a:solidFill xmlns:a="http://schemas.openxmlformats.org/drawingml/2006/main">
            <a:srgbClr val="EAF0FA"/>
          </a:solidFill>
          <a:ln xmlns:a="http://schemas.openxmlformats.org/drawingml/2006/main" w="12700">
            <a:solidFill>
              <a:srgbClr val="EAF0FA"/>
            </a:solidFill>
            <a:prstDash val="solid"/>
          </a:ln>
        </p:spPr>
      </p:sp>
      <p:sp>
        <p:nvSpPr>
          <p:cNvPr id="14" name="Text 10">
            <a:extLst xmlns:a="http://schemas.openxmlformats.org/drawingml/2006/main">
              <a:ext uri="{FF2B5EF4-FFF2-40B4-BE49-F238E27FC236}">
                <a16:creationId xmlns:a16="http://schemas.microsoft.com/office/drawing/2014/main" id="{3FA04FFF-62DA-43C5-AF7E-F486D046321A}"/>
              </a:ext>
            </a:extLst>
          </p:cNvPr>
          <p:cNvSpPr>
            <a:spLocks xmlns:a="http://schemas.openxmlformats.org/drawingml/2006/main" noGrp="1"/>
          </p:cNvSpPr>
          <p:nvPr/>
        </p:nvSpPr>
        <p:spPr>
          <a:xfrm xmlns:a="http://schemas.openxmlformats.org/drawingml/2006/main">
            <a:off x="411480" y="1691640"/>
            <a:ext cx="137160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0E2D69"/>
                </a:solidFill>
                <a:latin typeface="Arial"/>
                <a:ea typeface="Arial"/>
                <a:cs typeface="Arial"/>
              </a:rPr>
              <a:t>search</a:t>
            </a:r>
            <a:endParaRPr sz="1200"/>
          </a:p>
          <a:p xmlns:a="http://schemas.openxmlformats.org/drawingml/2006/main">
            <a:pPr marL="0" indent="0" algn="ctr">
              <a:buNone/>
            </a:pPr>
            <a:r>
              <a:rPr sz="1200">
                <a:solidFill>
                  <a:srgbClr val="0E2D69"/>
                </a:solidFill>
                <a:latin typeface="Arial"/>
                <a:ea typeface="Arial"/>
                <a:cs typeface="Arial"/>
              </a:rPr>
              <a:t>Телефоны</a:t>
            </a:r>
            <a:endParaRPr sz="1200"/>
          </a:p>
        </p:txBody>
      </p:sp>
      <p:sp>
        <p:nvSpPr>
          <p:cNvPr id="15" name="Shape 11">
            <a:extLst xmlns:a="http://schemas.openxmlformats.org/drawingml/2006/main">
              <a:ext uri="{FF2B5EF4-FFF2-40B4-BE49-F238E27FC236}">
                <a16:creationId xmlns:a16="http://schemas.microsoft.com/office/drawing/2014/main" id="{0E46D552-5D55-4402-A950-46DD718E243E}"/>
              </a:ext>
            </a:extLst>
          </p:cNvPr>
          <p:cNvSpPr>
            <a:spLocks xmlns:a="http://schemas.openxmlformats.org/drawingml/2006/main" noGrp="1"/>
          </p:cNvSpPr>
          <p:nvPr/>
        </p:nvSpPr>
        <p:spPr>
          <a:xfrm xmlns:a="http://schemas.openxmlformats.org/drawingml/2006/main">
            <a:off x="1938528" y="1691640"/>
            <a:ext cx="1463040" cy="777240"/>
          </a:xfrm>
          <a:prstGeom xmlns:a="http://schemas.openxmlformats.org/drawingml/2006/main" prst="roundRect">
            <a:avLst>
              <a:gd name="adj" fmla="val 9412"/>
            </a:avLst>
          </a:prstGeom>
          <a:solidFill xmlns:a="http://schemas.openxmlformats.org/drawingml/2006/main">
            <a:srgbClr val="EAF0FA"/>
          </a:solidFill>
          <a:ln xmlns:a="http://schemas.openxmlformats.org/drawingml/2006/main" w="12700">
            <a:solidFill>
              <a:srgbClr val="EAF0FA"/>
            </a:solidFill>
            <a:prstDash val="solid"/>
          </a:ln>
        </p:spPr>
      </p:sp>
      <p:sp>
        <p:nvSpPr>
          <p:cNvPr id="16" name="Text 12">
            <a:extLst xmlns:a="http://schemas.openxmlformats.org/drawingml/2006/main">
              <a:ext uri="{FF2B5EF4-FFF2-40B4-BE49-F238E27FC236}">
                <a16:creationId xmlns:a16="http://schemas.microsoft.com/office/drawing/2014/main" id="{E0D6271E-1EF6-4840-8A14-E186A7AC9232}"/>
              </a:ext>
            </a:extLst>
          </p:cNvPr>
          <p:cNvSpPr>
            <a:spLocks xmlns:a="http://schemas.openxmlformats.org/drawingml/2006/main" noGrp="1"/>
          </p:cNvSpPr>
          <p:nvPr/>
        </p:nvSpPr>
        <p:spPr>
          <a:xfrm xmlns:a="http://schemas.openxmlformats.org/drawingml/2006/main">
            <a:off x="1984248" y="1691640"/>
            <a:ext cx="137160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0E2D69"/>
                </a:solidFill>
                <a:latin typeface="Arial"/>
                <a:ea typeface="Arial"/>
                <a:cs typeface="Arial"/>
              </a:rPr>
              <a:t>fav</a:t>
            </a:r>
            <a:endParaRPr sz="1200"/>
          </a:p>
          <a:p xmlns:a="http://schemas.openxmlformats.org/drawingml/2006/main">
            <a:pPr marL="0" indent="0" algn="ctr">
              <a:buNone/>
            </a:pPr>
            <a:r>
              <a:rPr sz="1200">
                <a:solidFill>
                  <a:srgbClr val="0E2D69"/>
                </a:solidFill>
                <a:latin typeface="Arial"/>
                <a:ea typeface="Arial"/>
                <a:cs typeface="Arial"/>
              </a:rPr>
              <a:t>Автотовары</a:t>
            </a:r>
            <a:endParaRPr sz="1200"/>
          </a:p>
        </p:txBody>
      </p:sp>
      <p:sp>
        <p:nvSpPr>
          <p:cNvPr id="17" name="Shape 13">
            <a:extLst xmlns:a="http://schemas.openxmlformats.org/drawingml/2006/main">
              <a:ext uri="{FF2B5EF4-FFF2-40B4-BE49-F238E27FC236}">
                <a16:creationId xmlns:a16="http://schemas.microsoft.com/office/drawing/2014/main" id="{E4C9AF92-1642-4A8D-BF6F-A5FD72B2745C}"/>
              </a:ext>
            </a:extLst>
          </p:cNvPr>
          <p:cNvSpPr>
            <a:spLocks xmlns:a="http://schemas.openxmlformats.org/drawingml/2006/main" noGrp="1"/>
          </p:cNvSpPr>
          <p:nvPr/>
        </p:nvSpPr>
        <p:spPr>
          <a:xfrm xmlns:a="http://schemas.openxmlformats.org/drawingml/2006/main">
            <a:off x="3511296" y="1691640"/>
            <a:ext cx="1463040" cy="777240"/>
          </a:xfrm>
          <a:prstGeom xmlns:a="http://schemas.openxmlformats.org/drawingml/2006/main" prst="roundRect">
            <a:avLst>
              <a:gd name="adj" fmla="val 9412"/>
            </a:avLst>
          </a:prstGeom>
          <a:solidFill xmlns:a="http://schemas.openxmlformats.org/drawingml/2006/main">
            <a:srgbClr val="EAF0FA"/>
          </a:solidFill>
          <a:ln xmlns:a="http://schemas.openxmlformats.org/drawingml/2006/main" w="12700">
            <a:solidFill>
              <a:srgbClr val="EAF0FA"/>
            </a:solidFill>
            <a:prstDash val="solid"/>
          </a:ln>
        </p:spPr>
      </p:sp>
      <p:sp>
        <p:nvSpPr>
          <p:cNvPr id="18" name="Text 14">
            <a:extLst xmlns:a="http://schemas.openxmlformats.org/drawingml/2006/main">
              <a:ext uri="{FF2B5EF4-FFF2-40B4-BE49-F238E27FC236}">
                <a16:creationId xmlns:a16="http://schemas.microsoft.com/office/drawing/2014/main" id="{2D19324B-BD92-463F-BA3A-3752AC476741}"/>
              </a:ext>
            </a:extLst>
          </p:cNvPr>
          <p:cNvSpPr>
            <a:spLocks xmlns:a="http://schemas.openxmlformats.org/drawingml/2006/main" noGrp="1"/>
          </p:cNvSpPr>
          <p:nvPr/>
        </p:nvSpPr>
        <p:spPr>
          <a:xfrm xmlns:a="http://schemas.openxmlformats.org/drawingml/2006/main">
            <a:off x="3557016" y="1691640"/>
            <a:ext cx="137160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0E2D69"/>
                </a:solidFill>
                <a:latin typeface="Arial"/>
                <a:ea typeface="Arial"/>
                <a:cs typeface="Arial"/>
              </a:rPr>
              <a:t>search</a:t>
            </a:r>
            <a:endParaRPr sz="1200"/>
          </a:p>
          <a:p xmlns:a="http://schemas.openxmlformats.org/drawingml/2006/main">
            <a:pPr marL="0" indent="0" algn="ctr">
              <a:buNone/>
            </a:pPr>
            <a:r>
              <a:rPr sz="1200">
                <a:solidFill>
                  <a:srgbClr val="0E2D69"/>
                </a:solidFill>
                <a:latin typeface="Arial"/>
                <a:ea typeface="Arial"/>
                <a:cs typeface="Arial"/>
              </a:rPr>
              <a:t>Ремонт квартиры</a:t>
            </a:r>
            <a:endParaRPr sz="1200"/>
          </a:p>
        </p:txBody>
      </p:sp>
      <p:sp>
        <p:nvSpPr>
          <p:cNvPr id="19" name="Shape 15">
            <a:extLst xmlns:a="http://schemas.openxmlformats.org/drawingml/2006/main">
              <a:ext uri="{FF2B5EF4-FFF2-40B4-BE49-F238E27FC236}">
                <a16:creationId xmlns:a16="http://schemas.microsoft.com/office/drawing/2014/main" id="{8B774B45-3D11-49F9-9271-A67DA6987337}"/>
              </a:ext>
            </a:extLst>
          </p:cNvPr>
          <p:cNvSpPr>
            <a:spLocks xmlns:a="http://schemas.openxmlformats.org/drawingml/2006/main" noGrp="1"/>
          </p:cNvSpPr>
          <p:nvPr/>
        </p:nvSpPr>
        <p:spPr>
          <a:xfrm xmlns:a="http://schemas.openxmlformats.org/drawingml/2006/main">
            <a:off x="5166360" y="1371600"/>
            <a:ext cx="0" cy="1280160"/>
          </a:xfrm>
          <a:prstGeom xmlns:a="http://schemas.openxmlformats.org/drawingml/2006/main" prst="line">
            <a:avLst/>
          </a:prstGeom>
          <a:noFill xmlns:a="http://schemas.openxmlformats.org/drawingml/2006/main"/>
          <a:ln xmlns:a="http://schemas.openxmlformats.org/drawingml/2006/main" w="25400">
            <a:solidFill>
              <a:srgbClr val="0E2D69"/>
            </a:solidFill>
            <a:prstDash val="dash"/>
          </a:ln>
        </p:spPr>
      </p:sp>
      <p:sp>
        <p:nvSpPr>
          <p:cNvPr id="20" name="Text 16">
            <a:extLst xmlns:a="http://schemas.openxmlformats.org/drawingml/2006/main">
              <a:ext uri="{FF2B5EF4-FFF2-40B4-BE49-F238E27FC236}">
                <a16:creationId xmlns:a16="http://schemas.microsoft.com/office/drawing/2014/main" id="{4C680ACD-78B8-4581-B4A5-B094840F45F2}"/>
              </a:ext>
            </a:extLst>
          </p:cNvPr>
          <p:cNvSpPr>
            <a:spLocks xmlns:a="http://schemas.openxmlformats.org/drawingml/2006/main" noGrp="1"/>
          </p:cNvSpPr>
          <p:nvPr/>
        </p:nvSpPr>
        <p:spPr>
          <a:xfrm xmlns:a="http://schemas.openxmlformats.org/drawingml/2006/main">
            <a:off x="4526280" y="2633472"/>
            <a:ext cx="12801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b="1">
                <a:solidFill>
                  <a:srgbClr val="0E2D69"/>
                </a:solidFill>
                <a:latin typeface="Arial"/>
                <a:ea typeface="Arial"/>
                <a:cs typeface="Arial"/>
              </a:rPr>
              <a:t>дата прогноза</a:t>
            </a:r>
            <a:endParaRPr sz="1100"/>
          </a:p>
        </p:txBody>
      </p:sp>
      <p:sp>
        <p:nvSpPr>
          <p:cNvPr id="21" name="Shape 17">
            <a:extLst xmlns:a="http://schemas.openxmlformats.org/drawingml/2006/main">
              <a:ext uri="{FF2B5EF4-FFF2-40B4-BE49-F238E27FC236}">
                <a16:creationId xmlns:a16="http://schemas.microsoft.com/office/drawing/2014/main" id="{92350D2E-0802-4688-938E-C50111929167}"/>
              </a:ext>
            </a:extLst>
          </p:cNvPr>
          <p:cNvSpPr>
            <a:spLocks xmlns:a="http://schemas.openxmlformats.org/drawingml/2006/main" noGrp="1"/>
          </p:cNvSpPr>
          <p:nvPr/>
        </p:nvSpPr>
        <p:spPr>
          <a:xfrm xmlns:a="http://schemas.openxmlformats.org/drawingml/2006/main">
            <a:off x="5349240" y="1691640"/>
            <a:ext cx="1645920" cy="777240"/>
          </a:xfrm>
          <a:prstGeom xmlns:a="http://schemas.openxmlformats.org/drawingml/2006/main" prst="roundRect">
            <a:avLst>
              <a:gd name="adj" fmla="val 9412"/>
            </a:avLst>
          </a:prstGeom>
          <a:solidFill xmlns:a="http://schemas.openxmlformats.org/drawingml/2006/main">
            <a:srgbClr val="E8743B"/>
          </a:solidFill>
          <a:ln xmlns:a="http://schemas.openxmlformats.org/drawingml/2006/main" w="12700">
            <a:solidFill>
              <a:srgbClr val="E8743B"/>
            </a:solidFill>
            <a:prstDash val="solid"/>
          </a:ln>
        </p:spPr>
      </p:sp>
      <p:sp>
        <p:nvSpPr>
          <p:cNvPr id="22" name="Text 18">
            <a:extLst xmlns:a="http://schemas.openxmlformats.org/drawingml/2006/main">
              <a:ext uri="{FF2B5EF4-FFF2-40B4-BE49-F238E27FC236}">
                <a16:creationId xmlns:a16="http://schemas.microsoft.com/office/drawing/2014/main" id="{9913530C-2CC6-439B-9499-04CD6E882011}"/>
              </a:ext>
            </a:extLst>
          </p:cNvPr>
          <p:cNvSpPr>
            <a:spLocks xmlns:a="http://schemas.openxmlformats.org/drawingml/2006/main" noGrp="1"/>
          </p:cNvSpPr>
          <p:nvPr/>
        </p:nvSpPr>
        <p:spPr>
          <a:xfrm xmlns:a="http://schemas.openxmlformats.org/drawingml/2006/main">
            <a:off x="5394960" y="1691640"/>
            <a:ext cx="155448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Arial"/>
                <a:ea typeface="Arial"/>
                <a:cs typeface="Arial"/>
              </a:rPr>
              <a:t>dab</a:t>
            </a:r>
            <a:endParaRPr sz="1200"/>
          </a:p>
          <a:p xmlns:a="http://schemas.openxmlformats.org/drawingml/2006/main">
            <a:pPr marL="0" indent="0" algn="ctr">
              <a:buNone/>
            </a:pPr>
            <a:r>
              <a:rPr sz="1200">
                <a:solidFill>
                  <a:srgbClr val="FFFFFF"/>
                </a:solidFill>
                <a:latin typeface="Arial"/>
                <a:ea typeface="Arial"/>
                <a:cs typeface="Arial"/>
              </a:rPr>
              <a:t>Ремонт техники</a:t>
            </a:r>
            <a:endParaRPr sz="1200"/>
          </a:p>
        </p:txBody>
      </p:sp>
      <p:sp>
        <p:nvSpPr>
          <p:cNvPr id="23" name="Shape 19">
            <a:extLst xmlns:a="http://schemas.openxmlformats.org/drawingml/2006/main">
              <a:ext uri="{FF2B5EF4-FFF2-40B4-BE49-F238E27FC236}">
                <a16:creationId xmlns:a16="http://schemas.microsoft.com/office/drawing/2014/main" id="{9AC9A08A-5FE9-4878-9774-18F5C3CCD1B7}"/>
              </a:ext>
            </a:extLst>
          </p:cNvPr>
          <p:cNvSpPr>
            <a:spLocks xmlns:a="http://schemas.openxmlformats.org/drawingml/2006/main" noGrp="1"/>
          </p:cNvSpPr>
          <p:nvPr/>
        </p:nvSpPr>
        <p:spPr>
          <a:xfrm xmlns:a="http://schemas.openxmlformats.org/drawingml/2006/main">
            <a:off x="7086600" y="1691640"/>
            <a:ext cx="1645920" cy="777240"/>
          </a:xfrm>
          <a:prstGeom xmlns:a="http://schemas.openxmlformats.org/drawingml/2006/main" prst="roundRect">
            <a:avLst>
              <a:gd name="adj" fmla="val 9412"/>
            </a:avLst>
          </a:prstGeom>
          <a:solidFill xmlns:a="http://schemas.openxmlformats.org/drawingml/2006/main">
            <a:srgbClr val="E8743B"/>
          </a:solidFill>
          <a:ln xmlns:a="http://schemas.openxmlformats.org/drawingml/2006/main" w="12700">
            <a:solidFill>
              <a:srgbClr val="E8743B"/>
            </a:solidFill>
            <a:prstDash val="solid"/>
          </a:ln>
        </p:spPr>
      </p:sp>
      <p:sp>
        <p:nvSpPr>
          <p:cNvPr id="24" name="Text 20">
            <a:extLst xmlns:a="http://schemas.openxmlformats.org/drawingml/2006/main">
              <a:ext uri="{FF2B5EF4-FFF2-40B4-BE49-F238E27FC236}">
                <a16:creationId xmlns:a16="http://schemas.microsoft.com/office/drawing/2014/main" id="{0F913C3C-ADBE-475A-87B3-F51BE3950A34}"/>
              </a:ext>
            </a:extLst>
          </p:cNvPr>
          <p:cNvSpPr>
            <a:spLocks xmlns:a="http://schemas.openxmlformats.org/drawingml/2006/main" noGrp="1"/>
          </p:cNvSpPr>
          <p:nvPr/>
        </p:nvSpPr>
        <p:spPr>
          <a:xfrm xmlns:a="http://schemas.openxmlformats.org/drawingml/2006/main">
            <a:off x="7132320" y="1691640"/>
            <a:ext cx="155448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Arial"/>
                <a:ea typeface="Arial"/>
                <a:cs typeface="Arial"/>
              </a:rPr>
              <a:t>dtb</a:t>
            </a:r>
            <a:endParaRPr sz="1200"/>
          </a:p>
          <a:p xmlns:a="http://schemas.openxmlformats.org/drawingml/2006/main">
            <a:pPr marL="0" indent="0" algn="ctr">
              <a:buNone/>
            </a:pPr>
            <a:r>
              <a:rPr sz="1200">
                <a:solidFill>
                  <a:srgbClr val="FFFFFF"/>
                </a:solidFill>
                <a:latin typeface="Arial"/>
                <a:ea typeface="Arial"/>
                <a:cs typeface="Arial"/>
              </a:rPr>
              <a:t>Организация мероприятий</a:t>
            </a:r>
            <a:endParaRPr sz="1200"/>
          </a:p>
        </p:txBody>
      </p:sp>
      <p:sp>
        <p:nvSpPr>
          <p:cNvPr id="25" name="Shape 21">
            <a:extLst xmlns:a="http://schemas.openxmlformats.org/drawingml/2006/main">
              <a:ext uri="{FF2B5EF4-FFF2-40B4-BE49-F238E27FC236}">
                <a16:creationId xmlns:a16="http://schemas.microsoft.com/office/drawing/2014/main" id="{C4B19BD6-773A-45B0-93BA-4B137C7F977F}"/>
              </a:ext>
            </a:extLst>
          </p:cNvPr>
          <p:cNvSpPr>
            <a:spLocks xmlns:a="http://schemas.openxmlformats.org/drawingml/2006/main" noGrp="1"/>
          </p:cNvSpPr>
          <p:nvPr/>
        </p:nvSpPr>
        <p:spPr>
          <a:xfrm xmlns:a="http://schemas.openxmlformats.org/drawingml/2006/main">
            <a:off x="365760" y="2926080"/>
            <a:ext cx="2712720" cy="1051560"/>
          </a:xfrm>
          <a:prstGeom xmlns:a="http://schemas.openxmlformats.org/drawingml/2006/main" prst="roundRect">
            <a:avLst>
              <a:gd name="adj" fmla="val 6957"/>
            </a:avLst>
          </a:prstGeom>
          <a:solidFill xmlns:a="http://schemas.openxmlformats.org/drawingml/2006/main">
            <a:srgbClr val="EAF0FA"/>
          </a:solidFill>
          <a:ln xmlns:a="http://schemas.openxmlformats.org/drawingml/2006/main" w="12700">
            <a:solidFill>
              <a:srgbClr val="EAF0FA"/>
            </a:solidFill>
            <a:prstDash val="solid"/>
          </a:ln>
        </p:spPr>
      </p:sp>
      <p:sp>
        <p:nvSpPr>
          <p:cNvPr id="26" name="Text 22">
            <a:extLst xmlns:a="http://schemas.openxmlformats.org/drawingml/2006/main">
              <a:ext uri="{FF2B5EF4-FFF2-40B4-BE49-F238E27FC236}">
                <a16:creationId xmlns:a16="http://schemas.microsoft.com/office/drawing/2014/main" id="{1876BC0F-E7EB-4FFA-8E54-FC8C1A42241E}"/>
              </a:ext>
            </a:extLst>
          </p:cNvPr>
          <p:cNvSpPr>
            <a:spLocks xmlns:a="http://schemas.openxmlformats.org/drawingml/2006/main" noGrp="1"/>
          </p:cNvSpPr>
          <p:nvPr/>
        </p:nvSpPr>
        <p:spPr>
          <a:xfrm xmlns:a="http://schemas.openxmlformats.org/drawingml/2006/main">
            <a:off x="548640" y="3035808"/>
            <a:ext cx="23469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400" b="1">
                <a:solidFill>
                  <a:srgbClr val="0E2D69"/>
                </a:solidFill>
                <a:latin typeface="Arial"/>
                <a:ea typeface="Arial"/>
                <a:cs typeface="Arial"/>
              </a:rPr>
              <a:t>Несколько дат прогноза</a:t>
            </a:r>
            <a:endParaRPr sz="1400"/>
          </a:p>
        </p:txBody>
      </p:sp>
      <p:sp>
        <p:nvSpPr>
          <p:cNvPr id="27" name="Text 23">
            <a:extLst xmlns:a="http://schemas.openxmlformats.org/drawingml/2006/main">
              <a:ext uri="{FF2B5EF4-FFF2-40B4-BE49-F238E27FC236}">
                <a16:creationId xmlns:a16="http://schemas.microsoft.com/office/drawing/2014/main" id="{39FA1DA5-5A99-4C46-A15D-57E76D4A337A}"/>
              </a:ext>
            </a:extLst>
          </p:cNvPr>
          <p:cNvSpPr>
            <a:spLocks xmlns:a="http://schemas.openxmlformats.org/drawingml/2006/main" noGrp="1"/>
          </p:cNvSpPr>
          <p:nvPr/>
        </p:nvSpPr>
        <p:spPr>
          <a:xfrm xmlns:a="http://schemas.openxmlformats.org/drawingml/2006/main">
            <a:off x="548640" y="3401568"/>
            <a:ext cx="23469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00">
                <a:solidFill>
                  <a:srgbClr val="0E2D69"/>
                </a:solidFill>
                <a:latin typeface="Arial"/>
                <a:ea typeface="Arial"/>
                <a:cs typeface="Arial"/>
              </a:rPr>
              <a:t>один пользователь даёт несколько примеров</a:t>
            </a:r>
            <a:endParaRPr sz="1200"/>
          </a:p>
        </p:txBody>
      </p:sp>
      <p:sp>
        <p:nvSpPr>
          <p:cNvPr id="28" name="Shape 24">
            <a:extLst xmlns:a="http://schemas.openxmlformats.org/drawingml/2006/main">
              <a:ext uri="{FF2B5EF4-FFF2-40B4-BE49-F238E27FC236}">
                <a16:creationId xmlns:a16="http://schemas.microsoft.com/office/drawing/2014/main" id="{FE4FE027-D3C8-46FA-B3F5-B8F415EEB7FF}"/>
              </a:ext>
            </a:extLst>
          </p:cNvPr>
          <p:cNvSpPr>
            <a:spLocks xmlns:a="http://schemas.openxmlformats.org/drawingml/2006/main" noGrp="1"/>
          </p:cNvSpPr>
          <p:nvPr/>
        </p:nvSpPr>
        <p:spPr>
          <a:xfrm xmlns:a="http://schemas.openxmlformats.org/drawingml/2006/main">
            <a:off x="3215640" y="2926080"/>
            <a:ext cx="2712720" cy="1051560"/>
          </a:xfrm>
          <a:prstGeom xmlns:a="http://schemas.openxmlformats.org/drawingml/2006/main" prst="roundRect">
            <a:avLst>
              <a:gd name="adj" fmla="val 6957"/>
            </a:avLst>
          </a:prstGeom>
          <a:solidFill xmlns:a="http://schemas.openxmlformats.org/drawingml/2006/main">
            <a:srgbClr val="EAF0FA"/>
          </a:solidFill>
          <a:ln xmlns:a="http://schemas.openxmlformats.org/drawingml/2006/main" w="12700">
            <a:solidFill>
              <a:srgbClr val="EAF0FA"/>
            </a:solidFill>
            <a:prstDash val="solid"/>
          </a:ln>
        </p:spPr>
      </p:sp>
      <p:sp>
        <p:nvSpPr>
          <p:cNvPr id="29" name="Text 25">
            <a:extLst xmlns:a="http://schemas.openxmlformats.org/drawingml/2006/main">
              <a:ext uri="{FF2B5EF4-FFF2-40B4-BE49-F238E27FC236}">
                <a16:creationId xmlns:a16="http://schemas.microsoft.com/office/drawing/2014/main" id="{0FCF2AC0-DE6B-4A54-8619-C51FB71F397E}"/>
              </a:ext>
            </a:extLst>
          </p:cNvPr>
          <p:cNvSpPr>
            <a:spLocks xmlns:a="http://schemas.openxmlformats.org/drawingml/2006/main" noGrp="1"/>
          </p:cNvSpPr>
          <p:nvPr/>
        </p:nvSpPr>
        <p:spPr>
          <a:xfrm xmlns:a="http://schemas.openxmlformats.org/drawingml/2006/main">
            <a:off x="3398520" y="3035808"/>
            <a:ext cx="23469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400" b="1">
                <a:solidFill>
                  <a:srgbClr val="0E2D69"/>
                </a:solidFill>
                <a:latin typeface="Arial"/>
                <a:ea typeface="Arial"/>
                <a:cs typeface="Arial"/>
              </a:rPr>
              <a:t>Сжатие истории</a:t>
            </a:r>
            <a:endParaRPr sz="1400"/>
          </a:p>
        </p:txBody>
      </p:sp>
      <p:sp>
        <p:nvSpPr>
          <p:cNvPr id="30" name="Text 26">
            <a:extLst xmlns:a="http://schemas.openxmlformats.org/drawingml/2006/main">
              <a:ext uri="{FF2B5EF4-FFF2-40B4-BE49-F238E27FC236}">
                <a16:creationId xmlns:a16="http://schemas.microsoft.com/office/drawing/2014/main" id="{970E97B8-D319-4976-85AB-47B18768B8F0}"/>
              </a:ext>
            </a:extLst>
          </p:cNvPr>
          <p:cNvSpPr>
            <a:spLocks xmlns:a="http://schemas.openxmlformats.org/drawingml/2006/main" noGrp="1"/>
          </p:cNvSpPr>
          <p:nvPr/>
        </p:nvSpPr>
        <p:spPr>
          <a:xfrm xmlns:a="http://schemas.openxmlformats.org/drawingml/2006/main">
            <a:off x="3398520" y="3401568"/>
            <a:ext cx="23469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00">
                <a:solidFill>
                  <a:srgbClr val="0E2D69"/>
                </a:solidFill>
                <a:latin typeface="Arial"/>
                <a:ea typeface="Arial"/>
                <a:cs typeface="Arial"/>
              </a:rPr>
              <a:t>повторные просмотры сокращаются, затем — последние 128 событий</a:t>
            </a:r>
            <a:endParaRPr sz="1200"/>
          </a:p>
        </p:txBody>
      </p:sp>
      <p:sp>
        <p:nvSpPr>
          <p:cNvPr id="31" name="Shape 27">
            <a:extLst xmlns:a="http://schemas.openxmlformats.org/drawingml/2006/main">
              <a:ext uri="{FF2B5EF4-FFF2-40B4-BE49-F238E27FC236}">
                <a16:creationId xmlns:a16="http://schemas.microsoft.com/office/drawing/2014/main" id="{F4A834CB-C8F5-4245-9463-864A5B9BE8E4}"/>
              </a:ext>
            </a:extLst>
          </p:cNvPr>
          <p:cNvSpPr>
            <a:spLocks xmlns:a="http://schemas.openxmlformats.org/drawingml/2006/main" noGrp="1"/>
          </p:cNvSpPr>
          <p:nvPr/>
        </p:nvSpPr>
        <p:spPr>
          <a:xfrm xmlns:a="http://schemas.openxmlformats.org/drawingml/2006/main">
            <a:off x="6065520" y="2926080"/>
            <a:ext cx="2712720" cy="1051560"/>
          </a:xfrm>
          <a:prstGeom xmlns:a="http://schemas.openxmlformats.org/drawingml/2006/main" prst="roundRect">
            <a:avLst>
              <a:gd name="adj" fmla="val 6957"/>
            </a:avLst>
          </a:prstGeom>
          <a:solidFill xmlns:a="http://schemas.openxmlformats.org/drawingml/2006/main">
            <a:srgbClr val="EAF0FA"/>
          </a:solidFill>
          <a:ln xmlns:a="http://schemas.openxmlformats.org/drawingml/2006/main" w="12700">
            <a:solidFill>
              <a:srgbClr val="EAF0FA"/>
            </a:solidFill>
            <a:prstDash val="solid"/>
          </a:ln>
        </p:spPr>
      </p:sp>
      <p:sp>
        <p:nvSpPr>
          <p:cNvPr id="32" name="Text 28">
            <a:extLst xmlns:a="http://schemas.openxmlformats.org/drawingml/2006/main">
              <a:ext uri="{FF2B5EF4-FFF2-40B4-BE49-F238E27FC236}">
                <a16:creationId xmlns:a16="http://schemas.microsoft.com/office/drawing/2014/main" id="{A0DE683B-AEA9-484C-A0B1-371CF9A83FBA}"/>
              </a:ext>
            </a:extLst>
          </p:cNvPr>
          <p:cNvSpPr>
            <a:spLocks xmlns:a="http://schemas.openxmlformats.org/drawingml/2006/main" noGrp="1"/>
          </p:cNvSpPr>
          <p:nvPr/>
        </p:nvSpPr>
        <p:spPr>
          <a:xfrm xmlns:a="http://schemas.openxmlformats.org/drawingml/2006/main">
            <a:off x="6248400" y="3035808"/>
            <a:ext cx="23469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400" b="1">
                <a:solidFill>
                  <a:srgbClr val="0E2D69"/>
                </a:solidFill>
                <a:latin typeface="Arial"/>
                <a:ea typeface="Arial"/>
                <a:cs typeface="Arial"/>
              </a:rPr>
              <a:t>Минимум 5 событий</a:t>
            </a:r>
            <a:endParaRPr sz="1400"/>
          </a:p>
        </p:txBody>
      </p:sp>
      <p:sp>
        <p:nvSpPr>
          <p:cNvPr id="33" name="Text 29">
            <a:extLst xmlns:a="http://schemas.openxmlformats.org/drawingml/2006/main">
              <a:ext uri="{FF2B5EF4-FFF2-40B4-BE49-F238E27FC236}">
                <a16:creationId xmlns:a16="http://schemas.microsoft.com/office/drawing/2014/main" id="{ABE9B616-BD9C-47BE-9D19-B2F92BE6533A}"/>
              </a:ext>
            </a:extLst>
          </p:cNvPr>
          <p:cNvSpPr>
            <a:spLocks xmlns:a="http://schemas.openxmlformats.org/drawingml/2006/main" noGrp="1"/>
          </p:cNvSpPr>
          <p:nvPr/>
        </p:nvSpPr>
        <p:spPr>
          <a:xfrm xmlns:a="http://schemas.openxmlformats.org/drawingml/2006/main">
            <a:off x="6248400" y="3401568"/>
            <a:ext cx="23469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200">
                <a:solidFill>
                  <a:srgbClr val="0E2D69"/>
                </a:solidFill>
                <a:latin typeface="Arial"/>
                <a:ea typeface="Arial"/>
                <a:cs typeface="Arial"/>
              </a:rPr>
              <a:t>в основное сравнение входят истории не короче пяти событий</a:t>
            </a:r>
            <a:endParaRPr sz="1200"/>
          </a:p>
        </p:txBody>
      </p:sp>
      <p:sp>
        <p:nvSpPr>
          <p:cNvPr id="34" name="Shape 30">
            <a:extLst xmlns:a="http://schemas.openxmlformats.org/drawingml/2006/main">
              <a:ext uri="{FF2B5EF4-FFF2-40B4-BE49-F238E27FC236}">
                <a16:creationId xmlns:a16="http://schemas.microsoft.com/office/drawing/2014/main" id="{7294E3E3-D42A-4B31-AA6E-20BC14891875}"/>
              </a:ext>
            </a:extLst>
          </p:cNvPr>
          <p:cNvSpPr>
            <a:spLocks xmlns:a="http://schemas.openxmlformats.org/drawingml/2006/main" noGrp="1"/>
          </p:cNvSpPr>
          <p:nvPr/>
        </p:nvSpPr>
        <p:spPr>
          <a:xfrm xmlns:a="http://schemas.openxmlformats.org/drawingml/2006/main">
            <a:off x="365760" y="4114800"/>
            <a:ext cx="4137660" cy="594360"/>
          </a:xfrm>
          <a:prstGeom xmlns:a="http://schemas.openxmlformats.org/drawingml/2006/main" prst="roundRect">
            <a:avLst>
              <a:gd name="adj" fmla="val 12308"/>
            </a:avLst>
          </a:prstGeom>
          <a:solidFill xmlns:a="http://schemas.openxmlformats.org/drawingml/2006/main">
            <a:srgbClr val="244A9A"/>
          </a:solidFill>
          <a:ln xmlns:a="http://schemas.openxmlformats.org/drawingml/2006/main" w="12700">
            <a:solidFill>
              <a:srgbClr val="244A9A"/>
            </a:solidFill>
            <a:prstDash val="solid"/>
          </a:ln>
        </p:spPr>
      </p:sp>
      <p:sp>
        <p:nvSpPr>
          <p:cNvPr id="35" name="Text 31">
            <a:extLst xmlns:a="http://schemas.openxmlformats.org/drawingml/2006/main">
              <a:ext uri="{FF2B5EF4-FFF2-40B4-BE49-F238E27FC236}">
                <a16:creationId xmlns:a16="http://schemas.microsoft.com/office/drawing/2014/main" id="{118CF2BB-CD05-43C2-8577-E53738E2EDA4}"/>
              </a:ext>
            </a:extLst>
          </p:cNvPr>
          <p:cNvSpPr>
            <a:spLocks xmlns:a="http://schemas.openxmlformats.org/drawingml/2006/main" noGrp="1"/>
          </p:cNvSpPr>
          <p:nvPr/>
        </p:nvSpPr>
        <p:spPr>
          <a:xfrm xmlns:a="http://schemas.openxmlformats.org/drawingml/2006/main">
            <a:off x="502920" y="4114800"/>
            <a:ext cx="10972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FFFFFF"/>
                </a:solidFill>
                <a:latin typeface="Arial"/>
                <a:ea typeface="Arial"/>
                <a:cs typeface="Arial"/>
              </a:rPr>
              <a:t>≈ 20%</a:t>
            </a:r>
            <a:endParaRPr sz="2000"/>
          </a:p>
        </p:txBody>
      </p:sp>
      <p:sp>
        <p:nvSpPr>
          <p:cNvPr id="36" name="Text 32">
            <a:extLst xmlns:a="http://schemas.openxmlformats.org/drawingml/2006/main">
              <a:ext uri="{FF2B5EF4-FFF2-40B4-BE49-F238E27FC236}">
                <a16:creationId xmlns:a16="http://schemas.microsoft.com/office/drawing/2014/main" id="{E0FE5CF1-4BF9-499B-B589-9E9608F52202}"/>
              </a:ext>
            </a:extLst>
          </p:cNvPr>
          <p:cNvSpPr>
            <a:spLocks xmlns:a="http://schemas.openxmlformats.org/drawingml/2006/main" noGrp="1"/>
          </p:cNvSpPr>
          <p:nvPr/>
        </p:nvSpPr>
        <p:spPr>
          <a:xfrm xmlns:a="http://schemas.openxmlformats.org/drawingml/2006/main">
            <a:off x="1645920" y="4114800"/>
            <a:ext cx="274320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FFFFFF"/>
                </a:solidFill>
                <a:latin typeface="Arial"/>
                <a:ea typeface="Arial"/>
                <a:cs typeface="Arial"/>
              </a:rPr>
              <a:t>примеров содержат новый будущий контакт</a:t>
            </a:r>
            <a:endParaRPr sz="1200"/>
          </a:p>
        </p:txBody>
      </p:sp>
      <p:sp>
        <p:nvSpPr>
          <p:cNvPr id="37" name="Shape 33">
            <a:extLst xmlns:a="http://schemas.openxmlformats.org/drawingml/2006/main">
              <a:ext uri="{FF2B5EF4-FFF2-40B4-BE49-F238E27FC236}">
                <a16:creationId xmlns:a16="http://schemas.microsoft.com/office/drawing/2014/main" id="{B51C54DC-8877-42D8-8FF2-203F962BE5AA}"/>
              </a:ext>
            </a:extLst>
          </p:cNvPr>
          <p:cNvSpPr>
            <a:spLocks xmlns:a="http://schemas.openxmlformats.org/drawingml/2006/main" noGrp="1"/>
          </p:cNvSpPr>
          <p:nvPr/>
        </p:nvSpPr>
        <p:spPr>
          <a:xfrm xmlns:a="http://schemas.openxmlformats.org/drawingml/2006/main">
            <a:off x="4640580" y="4114800"/>
            <a:ext cx="4137660" cy="594360"/>
          </a:xfrm>
          <a:prstGeom xmlns:a="http://schemas.openxmlformats.org/drawingml/2006/main" prst="roundRect">
            <a:avLst>
              <a:gd name="adj" fmla="val 12308"/>
            </a:avLst>
          </a:prstGeom>
          <a:solidFill xmlns:a="http://schemas.openxmlformats.org/drawingml/2006/main">
            <a:srgbClr val="0E2D69"/>
          </a:solidFill>
          <a:ln xmlns:a="http://schemas.openxmlformats.org/drawingml/2006/main" w="12700">
            <a:solidFill>
              <a:srgbClr val="0E2D69"/>
            </a:solidFill>
            <a:prstDash val="solid"/>
          </a:ln>
        </p:spPr>
      </p:sp>
      <p:sp>
        <p:nvSpPr>
          <p:cNvPr id="38" name="Text 34">
            <a:extLst xmlns:a="http://schemas.openxmlformats.org/drawingml/2006/main">
              <a:ext uri="{FF2B5EF4-FFF2-40B4-BE49-F238E27FC236}">
                <a16:creationId xmlns:a16="http://schemas.microsoft.com/office/drawing/2014/main" id="{162080E8-A5F5-4B3E-9485-979ED8958F36}"/>
              </a:ext>
            </a:extLst>
          </p:cNvPr>
          <p:cNvSpPr>
            <a:spLocks xmlns:a="http://schemas.openxmlformats.org/drawingml/2006/main" noGrp="1"/>
          </p:cNvSpPr>
          <p:nvPr/>
        </p:nvSpPr>
        <p:spPr>
          <a:xfrm xmlns:a="http://schemas.openxmlformats.org/drawingml/2006/main">
            <a:off x="4777740" y="4114800"/>
            <a:ext cx="10972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FFFFFF"/>
                </a:solidFill>
                <a:latin typeface="Arial"/>
                <a:ea typeface="Arial"/>
                <a:cs typeface="Arial"/>
              </a:rPr>
              <a:t>≈ 30%</a:t>
            </a:r>
            <a:endParaRPr sz="2000"/>
          </a:p>
        </p:txBody>
      </p:sp>
      <p:sp>
        <p:nvSpPr>
          <p:cNvPr id="39" name="Text 35">
            <a:extLst xmlns:a="http://schemas.openxmlformats.org/drawingml/2006/main">
              <a:ext uri="{FF2B5EF4-FFF2-40B4-BE49-F238E27FC236}">
                <a16:creationId xmlns:a16="http://schemas.microsoft.com/office/drawing/2014/main" id="{09741314-5359-449C-85BE-612F2878C664}"/>
              </a:ext>
            </a:extLst>
          </p:cNvPr>
          <p:cNvSpPr>
            <a:spLocks xmlns:a="http://schemas.openxmlformats.org/drawingml/2006/main" noGrp="1"/>
          </p:cNvSpPr>
          <p:nvPr/>
        </p:nvSpPr>
        <p:spPr>
          <a:xfrm xmlns:a="http://schemas.openxmlformats.org/drawingml/2006/main">
            <a:off x="5920740" y="4114800"/>
            <a:ext cx="274320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FFFFFF"/>
                </a:solidFill>
                <a:latin typeface="Arial"/>
                <a:ea typeface="Arial"/>
                <a:cs typeface="Arial"/>
              </a:rPr>
              <a:t>из них — несколько правильных категорий</a:t>
            </a:r>
            <a:endParaRPr sz="1200"/>
          </a:p>
        </p:txBody>
      </p:sp>
      <p:sp>
        <p:nvSpPr>
          <p:cNvPr id="40" name="Text 36">
            <a:extLst xmlns:a="http://schemas.openxmlformats.org/drawingml/2006/main">
              <a:ext uri="{FF2B5EF4-FFF2-40B4-BE49-F238E27FC236}">
                <a16:creationId xmlns:a16="http://schemas.microsoft.com/office/drawing/2014/main" id="{E0A43E60-41C8-4AFC-B12E-2F1A3A5F67D4}"/>
              </a:ext>
            </a:extLst>
          </p:cNvPr>
          <p:cNvSpPr>
            <a:spLocks xmlns:a="http://schemas.openxmlformats.org/drawingml/2006/main" noGrp="1"/>
          </p:cNvSpPr>
          <p:nvPr/>
        </p:nvSpPr>
        <p:spPr>
          <a:xfrm xmlns:a="http://schemas.openxmlformats.org/drawingml/2006/main">
            <a:off x="365760" y="4754880"/>
            <a:ext cx="84124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a:solidFill>
                  <a:srgbClr val="5B6B8C"/>
                </a:solidFill>
                <a:latin typeface="Arial"/>
                <a:ea typeface="Arial"/>
                <a:cs typeface="Arial"/>
              </a:rPr>
              <a:t>Условный пример. 128 — максимум событий в истории, а не число дней</a:t>
            </a:r>
            <a:endParaRPr sz="1000"/>
          </a:p>
        </p:txBody>
      </p:sp>
      <p:sp>
        <p:nvSpPr>
          <p:cNvPr id="41" name="Text 37">
            <a:extLst xmlns:a="http://schemas.openxmlformats.org/drawingml/2006/main">
              <a:ext uri="{FF2B5EF4-FFF2-40B4-BE49-F238E27FC236}">
                <a16:creationId xmlns:a16="http://schemas.microsoft.com/office/drawing/2014/main" id="{C8B7418C-26D8-4A28-B15A-443451C10159}"/>
              </a:ext>
            </a:extLst>
          </p:cNvPr>
          <p:cNvSpPr>
            <a:spLocks xmlns:a="http://schemas.openxmlformats.org/drawingml/2006/main" noGrp="1"/>
          </p:cNvSpPr>
          <p:nvPr/>
        </p:nvSpPr>
        <p:spPr>
          <a:xfrm xmlns:a="http://schemas.openxmlformats.org/drawingml/2006/main">
            <a:off x="8001000" y="201168"/>
            <a:ext cx="8686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defPPr algn="ctr">
              <a:defRPr sz="1200">
                <a:solidFill>
                  <a:srgbClr val="173773"/>
                </a:solidFill>
                <a:latin typeface="Arial"/>
                <a:ea typeface="Arial"/>
                <a:cs typeface="Arial"/>
              </a:defRPr>
            </a:defPPr>
          </a:lstStyle>
          <a:p xmlns:a="http://schemas.openxmlformats.org/drawingml/2006/main">
            <a:pPr marL="0" indent="0" algn="ctr">
              <a:buNone/>
            </a:pPr>
            <a:r>
              <a:rPr sz="1200">
                <a:solidFill>
                  <a:srgbClr val="173773"/>
                </a:solidFill>
                <a:latin typeface="Arial"/>
                <a:ea typeface="Arial"/>
                <a:cs typeface="Arial"/>
              </a:rPr>
              <a:t>9/20</a:t>
            </a:r>
            <a:endParaRPr sz="1200"/>
          </a:p>
        </p:txBody>
      </p:sp>
    </p:spTree>
    <p:extLst>
      <p:ext uri="{BB962C8B-B14F-4D97-AF65-F5344CB8AC3E}">
        <p14:creationId xmlns:p14="http://schemas.microsoft.com/office/powerpoint/2010/main" val="132574253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5E4840DF-52DB-45F8-B5CC-28F783CB87A2}"/>
              </a:ext>
            </a:extLst>
          </p:cNvPr>
          <p:cNvPicPr>
            <a:picLocks xmlns:a="http://schemas.openxmlformats.org/drawingml/2006/main" noChangeAspect="1"/>
          </p:cNvPicPr>
          <p:nvPr/>
        </p:nvPicPr>
        <p:blipFill>
          <a:blip xmlns:r="http://schemas.openxmlformats.org/officeDocument/2006/relationships" xmlns:a="http://schemas.openxmlformats.org/drawingml/2006/main" r:embed="R2db1a17e5d5e4fe2"/>
          <a:stretch xmlns:a="http://schemas.openxmlformats.org/drawingml/2006/main">
            <a:fillRect l="0" t="0" r="0" b="0"/>
          </a:stretch>
        </p:blipFill>
        <p:spPr>
          <a:xfrm xmlns:a="http://schemas.openxmlformats.org/drawingml/2006/main">
            <a:off x="274320" y="137160"/>
            <a:ext cx="502920" cy="50292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B790D40E-0C6C-41C5-AF09-560B28270696}"/>
              </a:ext>
            </a:extLst>
          </p:cNvPr>
          <p:cNvSpPr>
            <a:spLocks xmlns:a="http://schemas.openxmlformats.org/drawingml/2006/main" noGrp="1"/>
          </p:cNvSpPr>
          <p:nvPr/>
        </p:nvSpPr>
        <p:spPr>
          <a:xfrm xmlns:a="http://schemas.openxmlformats.org/drawingml/2006/main">
            <a:off x="868680" y="201168"/>
            <a:ext cx="173736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0E2D69"/>
                </a:solidFill>
                <a:latin typeface="Arial"/>
                <a:ea typeface="Arial"/>
                <a:cs typeface="Arial"/>
              </a:rPr>
              <a:t>Школа информатики, физики и технологий</a:t>
            </a:r>
            <a:endParaRPr sz="800"/>
          </a:p>
        </p:txBody>
      </p:sp>
      <p:sp>
        <p:nvSpPr>
          <p:cNvPr id="4" name="Text 1">
            <a:extLst xmlns:a="http://schemas.openxmlformats.org/drawingml/2006/main">
              <a:ext uri="{FF2B5EF4-FFF2-40B4-BE49-F238E27FC236}">
                <a16:creationId xmlns:a16="http://schemas.microsoft.com/office/drawing/2014/main" id="{3AE88611-B34E-43FD-8790-FBBAB1875164}"/>
              </a:ext>
            </a:extLst>
          </p:cNvPr>
          <p:cNvSpPr>
            <a:spLocks xmlns:a="http://schemas.openxmlformats.org/drawingml/2006/main" noGrp="1"/>
          </p:cNvSpPr>
          <p:nvPr/>
        </p:nvSpPr>
        <p:spPr>
          <a:xfrm xmlns:a="http://schemas.openxmlformats.org/drawingml/2006/main">
            <a:off x="2834640" y="201168"/>
            <a:ext cx="29260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0E2D69"/>
                </a:solidFill>
                <a:latin typeface="Arial"/>
                <a:ea typeface="Arial"/>
                <a:cs typeface="Arial"/>
              </a:rPr>
              <a:t>Рекомендательная система на основе поведенческих эмбеддингов</a:t>
            </a:r>
            <a:endParaRPr sz="800"/>
          </a:p>
        </p:txBody>
      </p:sp>
      <p:sp>
        <p:nvSpPr>
          <p:cNvPr id="5" name="Text 2">
            <a:extLst xmlns:a="http://schemas.openxmlformats.org/drawingml/2006/main">
              <a:ext uri="{FF2B5EF4-FFF2-40B4-BE49-F238E27FC236}">
                <a16:creationId xmlns:a16="http://schemas.microsoft.com/office/drawing/2014/main" id="{04503D2A-FE39-461B-BE05-0DC9E059E84F}"/>
              </a:ext>
            </a:extLst>
          </p:cNvPr>
          <p:cNvSpPr>
            <a:spLocks xmlns:a="http://schemas.openxmlformats.org/drawingml/2006/main" noGrp="1"/>
          </p:cNvSpPr>
          <p:nvPr/>
        </p:nvSpPr>
        <p:spPr>
          <a:xfrm xmlns:a="http://schemas.openxmlformats.org/drawingml/2006/main">
            <a:off x="5989320" y="201168"/>
            <a:ext cx="18288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defPPr algn="l">
              <a:defRPr sz="900">
                <a:solidFill>
                  <a:srgbClr val="173773"/>
                </a:solidFill>
                <a:latin typeface="Arial"/>
                <a:ea typeface="Arial"/>
                <a:cs typeface="Arial"/>
              </a:defRPr>
            </a:defPPr>
          </a:lstStyle>
          <a:p xmlns:a="http://schemas.openxmlformats.org/drawingml/2006/main">
            <a:pPr marL="0" indent="0" algn="l">
              <a:buNone/>
            </a:pPr>
            <a:r>
              <a:rPr sz="900">
                <a:solidFill>
                  <a:srgbClr val="173773"/>
                </a:solidFill>
                <a:latin typeface="Arial"/>
                <a:ea typeface="Arial"/>
                <a:cs typeface="Arial"/>
              </a:rPr>
              <a:t>Данные</a:t>
            </a:r>
            <a:endParaRPr sz="800"/>
          </a:p>
        </p:txBody>
      </p:sp>
      <p:sp>
        <p:nvSpPr>
          <p:cNvPr id="6" name="Shape 3">
            <a:extLst xmlns:a="http://schemas.openxmlformats.org/drawingml/2006/main">
              <a:ext uri="{FF2B5EF4-FFF2-40B4-BE49-F238E27FC236}">
                <a16:creationId xmlns:a16="http://schemas.microsoft.com/office/drawing/2014/main" id="{497D1155-33E6-4589-B547-045BC3FFE8D3}"/>
              </a:ext>
            </a:extLst>
          </p:cNvPr>
          <p:cNvSpPr>
            <a:spLocks xmlns:a="http://schemas.openxmlformats.org/drawingml/2006/main" noGrp="1"/>
          </p:cNvSpPr>
          <p:nvPr/>
        </p:nvSpPr>
        <p:spPr>
          <a:xfrm xmlns:a="http://schemas.openxmlformats.org/drawingml/2006/main">
            <a:off x="2697480" y="182880"/>
            <a:ext cx="0" cy="457200"/>
          </a:xfrm>
          <a:prstGeom xmlns:a="http://schemas.openxmlformats.org/drawingml/2006/main" prst="line">
            <a:avLst/>
          </a:prstGeom>
          <a:noFill xmlns:a="http://schemas.openxmlformats.org/drawingml/2006/main"/>
          <a:ln xmlns:a="http://schemas.openxmlformats.org/drawingml/2006/main" w="19050">
            <a:solidFill>
              <a:srgbClr val="0E2D69"/>
            </a:solidFill>
            <a:prstDash val="solid"/>
          </a:ln>
        </p:spPr>
      </p:sp>
      <p:sp>
        <p:nvSpPr>
          <p:cNvPr id="7" name="Shape 4">
            <a:extLst xmlns:a="http://schemas.openxmlformats.org/drawingml/2006/main">
              <a:ext uri="{FF2B5EF4-FFF2-40B4-BE49-F238E27FC236}">
                <a16:creationId xmlns:a16="http://schemas.microsoft.com/office/drawing/2014/main" id="{199D35C9-36D6-4AAB-A945-158325B8D269}"/>
              </a:ext>
            </a:extLst>
          </p:cNvPr>
          <p:cNvSpPr>
            <a:spLocks xmlns:a="http://schemas.openxmlformats.org/drawingml/2006/main" noGrp="1"/>
          </p:cNvSpPr>
          <p:nvPr/>
        </p:nvSpPr>
        <p:spPr>
          <a:xfrm xmlns:a="http://schemas.openxmlformats.org/drawingml/2006/main">
            <a:off x="5852160" y="182880"/>
            <a:ext cx="0" cy="457200"/>
          </a:xfrm>
          <a:prstGeom xmlns:a="http://schemas.openxmlformats.org/drawingml/2006/main" prst="line">
            <a:avLst/>
          </a:prstGeom>
          <a:noFill xmlns:a="http://schemas.openxmlformats.org/drawingml/2006/main"/>
          <a:ln xmlns:a="http://schemas.openxmlformats.org/drawingml/2006/main" w="19050">
            <a:solidFill>
              <a:srgbClr val="0E2D69"/>
            </a:solidFill>
            <a:prstDash val="solid"/>
          </a:ln>
        </p:spPr>
      </p:sp>
      <p:sp>
        <p:nvSpPr>
          <p:cNvPr id="8" name="Shape 5">
            <a:extLst xmlns:a="http://schemas.openxmlformats.org/drawingml/2006/main">
              <a:ext uri="{FF2B5EF4-FFF2-40B4-BE49-F238E27FC236}">
                <a16:creationId xmlns:a16="http://schemas.microsoft.com/office/drawing/2014/main" id="{97599095-673F-4A6C-BF12-FF3DC4C6442E}"/>
              </a:ext>
            </a:extLst>
          </p:cNvPr>
          <p:cNvSpPr>
            <a:spLocks xmlns:a="http://schemas.openxmlformats.org/drawingml/2006/main" noGrp="1"/>
          </p:cNvSpPr>
          <p:nvPr/>
        </p:nvSpPr>
        <p:spPr>
          <a:xfrm xmlns:a="http://schemas.openxmlformats.org/drawingml/2006/main">
            <a:off x="7909560" y="182880"/>
            <a:ext cx="0" cy="457200"/>
          </a:xfrm>
          <a:prstGeom xmlns:a="http://schemas.openxmlformats.org/drawingml/2006/main" prst="line">
            <a:avLst/>
          </a:prstGeom>
          <a:noFill xmlns:a="http://schemas.openxmlformats.org/drawingml/2006/main"/>
          <a:ln xmlns:a="http://schemas.openxmlformats.org/drawingml/2006/main" w="19050">
            <a:solidFill>
              <a:srgbClr val="0E2D69"/>
            </a:solidFill>
            <a:prstDash val="solid"/>
          </a:ln>
        </p:spPr>
      </p:sp>
      <p:sp>
        <p:nvSpPr>
          <p:cNvPr id="9" name="Text 6">
            <a:extLst xmlns:a="http://schemas.openxmlformats.org/drawingml/2006/main">
              <a:ext uri="{FF2B5EF4-FFF2-40B4-BE49-F238E27FC236}">
                <a16:creationId xmlns:a16="http://schemas.microsoft.com/office/drawing/2014/main" id="{25BE40A0-B712-47E9-B06B-8714064EA39D}"/>
              </a:ext>
            </a:extLst>
          </p:cNvPr>
          <p:cNvSpPr>
            <a:spLocks xmlns:a="http://schemas.openxmlformats.org/drawingml/2006/main" noGrp="1"/>
          </p:cNvSpPr>
          <p:nvPr/>
        </p:nvSpPr>
        <p:spPr>
          <a:xfrm xmlns:a="http://schemas.openxmlformats.org/drawingml/2006/main">
            <a:off x="365760" y="777240"/>
            <a:ext cx="84124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b="1">
                <a:solidFill>
                  <a:srgbClr val="0E2D69"/>
                </a:solidFill>
                <a:latin typeface="Arial"/>
                <a:ea typeface="Arial"/>
                <a:cs typeface="Arial"/>
              </a:rPr>
              <a:t>Разделение данных по времени</a:t>
            </a:r>
            <a:endParaRPr sz="2400"/>
          </a:p>
        </p:txBody>
      </p:sp>
      <p:sp>
        <p:nvSpPr>
          <p:cNvPr id="11" name="Text 7">
            <a:extLst xmlns:a="http://schemas.openxmlformats.org/drawingml/2006/main">
              <a:ext uri="{FF2B5EF4-FFF2-40B4-BE49-F238E27FC236}">
                <a16:creationId xmlns:a16="http://schemas.microsoft.com/office/drawing/2014/main" id="{4C8EA7F7-AEA9-43D4-8E46-DBD16F18086B}"/>
              </a:ext>
            </a:extLst>
          </p:cNvPr>
          <p:cNvSpPr>
            <a:spLocks xmlns:a="http://schemas.openxmlformats.org/drawingml/2006/main" noGrp="1"/>
          </p:cNvSpPr>
          <p:nvPr/>
        </p:nvSpPr>
        <p:spPr>
          <a:xfrm xmlns:a="http://schemas.openxmlformats.org/drawingml/2006/main">
            <a:off x="2148840" y="1325880"/>
            <a:ext cx="914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5B6B8C"/>
                </a:solidFill>
                <a:latin typeface="Arial"/>
                <a:ea typeface="Arial"/>
                <a:cs typeface="Arial"/>
              </a:rPr>
              <a:t>Фев</a:t>
            </a:r>
            <a:endParaRPr sz="1200"/>
          </a:p>
        </p:txBody>
      </p:sp>
      <p:sp>
        <p:nvSpPr>
          <p:cNvPr id="12" name="Text 8">
            <a:extLst xmlns:a="http://schemas.openxmlformats.org/drawingml/2006/main">
              <a:ext uri="{FF2B5EF4-FFF2-40B4-BE49-F238E27FC236}">
                <a16:creationId xmlns:a16="http://schemas.microsoft.com/office/drawing/2014/main" id="{1C073C5F-BCFA-470B-9390-96A5F4EB72D5}"/>
              </a:ext>
            </a:extLst>
          </p:cNvPr>
          <p:cNvSpPr>
            <a:spLocks xmlns:a="http://schemas.openxmlformats.org/drawingml/2006/main" noGrp="1"/>
          </p:cNvSpPr>
          <p:nvPr/>
        </p:nvSpPr>
        <p:spPr>
          <a:xfrm xmlns:a="http://schemas.openxmlformats.org/drawingml/2006/main">
            <a:off x="3063240" y="1325880"/>
            <a:ext cx="914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5B6B8C"/>
                </a:solidFill>
                <a:latin typeface="Arial"/>
                <a:ea typeface="Arial"/>
                <a:cs typeface="Arial"/>
              </a:rPr>
              <a:t>Мар</a:t>
            </a:r>
            <a:endParaRPr sz="1200"/>
          </a:p>
        </p:txBody>
      </p:sp>
      <p:sp>
        <p:nvSpPr>
          <p:cNvPr id="13" name="Text 9">
            <a:extLst xmlns:a="http://schemas.openxmlformats.org/drawingml/2006/main">
              <a:ext uri="{FF2B5EF4-FFF2-40B4-BE49-F238E27FC236}">
                <a16:creationId xmlns:a16="http://schemas.microsoft.com/office/drawing/2014/main" id="{91F69683-B5A0-4F69-BB62-2EDA6DAF65FD}"/>
              </a:ext>
            </a:extLst>
          </p:cNvPr>
          <p:cNvSpPr>
            <a:spLocks xmlns:a="http://schemas.openxmlformats.org/drawingml/2006/main" noGrp="1"/>
          </p:cNvSpPr>
          <p:nvPr/>
        </p:nvSpPr>
        <p:spPr>
          <a:xfrm xmlns:a="http://schemas.openxmlformats.org/drawingml/2006/main">
            <a:off x="3977640" y="1325880"/>
            <a:ext cx="914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5B6B8C"/>
                </a:solidFill>
                <a:latin typeface="Arial"/>
                <a:ea typeface="Arial"/>
                <a:cs typeface="Arial"/>
              </a:rPr>
              <a:t>Апр</a:t>
            </a:r>
            <a:endParaRPr sz="1200"/>
          </a:p>
        </p:txBody>
      </p:sp>
      <p:sp>
        <p:nvSpPr>
          <p:cNvPr id="14" name="Text 10">
            <a:extLst xmlns:a="http://schemas.openxmlformats.org/drawingml/2006/main">
              <a:ext uri="{FF2B5EF4-FFF2-40B4-BE49-F238E27FC236}">
                <a16:creationId xmlns:a16="http://schemas.microsoft.com/office/drawing/2014/main" id="{03502F58-45BF-4A82-AA0C-8CB87E8E1CD6}"/>
              </a:ext>
            </a:extLst>
          </p:cNvPr>
          <p:cNvSpPr>
            <a:spLocks xmlns:a="http://schemas.openxmlformats.org/drawingml/2006/main" noGrp="1"/>
          </p:cNvSpPr>
          <p:nvPr/>
        </p:nvSpPr>
        <p:spPr>
          <a:xfrm xmlns:a="http://schemas.openxmlformats.org/drawingml/2006/main">
            <a:off x="4892040" y="1325880"/>
            <a:ext cx="914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5B6B8C"/>
                </a:solidFill>
                <a:latin typeface="Arial"/>
                <a:ea typeface="Arial"/>
                <a:cs typeface="Arial"/>
              </a:rPr>
              <a:t>Май</a:t>
            </a:r>
            <a:endParaRPr sz="1200"/>
          </a:p>
        </p:txBody>
      </p:sp>
      <p:sp>
        <p:nvSpPr>
          <p:cNvPr id="15" name="Text 11">
            <a:extLst xmlns:a="http://schemas.openxmlformats.org/drawingml/2006/main">
              <a:ext uri="{FF2B5EF4-FFF2-40B4-BE49-F238E27FC236}">
                <a16:creationId xmlns:a16="http://schemas.microsoft.com/office/drawing/2014/main" id="{A68209EC-2B42-48E6-90DB-E27CB259D110}"/>
              </a:ext>
            </a:extLst>
          </p:cNvPr>
          <p:cNvSpPr>
            <a:spLocks xmlns:a="http://schemas.openxmlformats.org/drawingml/2006/main" noGrp="1"/>
          </p:cNvSpPr>
          <p:nvPr/>
        </p:nvSpPr>
        <p:spPr>
          <a:xfrm xmlns:a="http://schemas.openxmlformats.org/drawingml/2006/main">
            <a:off x="5806440" y="1325880"/>
            <a:ext cx="914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5B6B8C"/>
                </a:solidFill>
                <a:latin typeface="Arial"/>
                <a:ea typeface="Arial"/>
                <a:cs typeface="Arial"/>
              </a:rPr>
              <a:t>Июн</a:t>
            </a:r>
            <a:endParaRPr sz="1200"/>
          </a:p>
        </p:txBody>
      </p:sp>
      <p:sp>
        <p:nvSpPr>
          <p:cNvPr id="16" name="Text 12">
            <a:extLst xmlns:a="http://schemas.openxmlformats.org/drawingml/2006/main">
              <a:ext uri="{FF2B5EF4-FFF2-40B4-BE49-F238E27FC236}">
                <a16:creationId xmlns:a16="http://schemas.microsoft.com/office/drawing/2014/main" id="{6570E910-9547-4EA7-9E29-4C476CB9D1C4}"/>
              </a:ext>
            </a:extLst>
          </p:cNvPr>
          <p:cNvSpPr>
            <a:spLocks xmlns:a="http://schemas.openxmlformats.org/drawingml/2006/main" noGrp="1"/>
          </p:cNvSpPr>
          <p:nvPr/>
        </p:nvSpPr>
        <p:spPr>
          <a:xfrm xmlns:a="http://schemas.openxmlformats.org/drawingml/2006/main">
            <a:off x="6720840" y="1325880"/>
            <a:ext cx="914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5B6B8C"/>
                </a:solidFill>
                <a:latin typeface="Arial"/>
                <a:ea typeface="Arial"/>
                <a:cs typeface="Arial"/>
              </a:rPr>
              <a:t>Июл</a:t>
            </a:r>
            <a:endParaRPr sz="1200"/>
          </a:p>
        </p:txBody>
      </p:sp>
      <p:sp>
        <p:nvSpPr>
          <p:cNvPr id="17" name="Text 13">
            <a:extLst xmlns:a="http://schemas.openxmlformats.org/drawingml/2006/main">
              <a:ext uri="{FF2B5EF4-FFF2-40B4-BE49-F238E27FC236}">
                <a16:creationId xmlns:a16="http://schemas.microsoft.com/office/drawing/2014/main" id="{D270B171-D440-4348-B482-DE416F1C9761}"/>
              </a:ext>
            </a:extLst>
          </p:cNvPr>
          <p:cNvSpPr>
            <a:spLocks xmlns:a="http://schemas.openxmlformats.org/drawingml/2006/main" noGrp="1"/>
          </p:cNvSpPr>
          <p:nvPr/>
        </p:nvSpPr>
        <p:spPr>
          <a:xfrm xmlns:a="http://schemas.openxmlformats.org/drawingml/2006/main">
            <a:off x="7635240" y="1325880"/>
            <a:ext cx="914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200" b="1">
                <a:solidFill>
                  <a:srgbClr val="5B6B8C"/>
                </a:solidFill>
                <a:latin typeface="Arial"/>
                <a:ea typeface="Arial"/>
                <a:cs typeface="Arial"/>
              </a:rPr>
              <a:t>Авг</a:t>
            </a:r>
            <a:endParaRPr sz="1200"/>
          </a:p>
        </p:txBody>
      </p:sp>
      <p:sp>
        <p:nvSpPr>
          <p:cNvPr id="18" name="Text 14">
            <a:extLst xmlns:a="http://schemas.openxmlformats.org/drawingml/2006/main">
              <a:ext uri="{FF2B5EF4-FFF2-40B4-BE49-F238E27FC236}">
                <a16:creationId xmlns:a16="http://schemas.microsoft.com/office/drawing/2014/main" id="{BD4B6B38-BEE1-430E-A4AC-30FE5AD2BDE3}"/>
              </a:ext>
            </a:extLst>
          </p:cNvPr>
          <p:cNvSpPr>
            <a:spLocks xmlns:a="http://schemas.openxmlformats.org/drawingml/2006/main" noGrp="1"/>
          </p:cNvSpPr>
          <p:nvPr/>
        </p:nvSpPr>
        <p:spPr>
          <a:xfrm xmlns:a="http://schemas.openxmlformats.org/drawingml/2006/main">
            <a:off x="365760" y="1645920"/>
            <a:ext cx="17373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E2D69"/>
                </a:solidFill>
                <a:latin typeface="Arial"/>
                <a:ea typeface="Arial"/>
                <a:cs typeface="Arial"/>
              </a:rPr>
              <a:t>Основная схема</a:t>
            </a:r>
            <a:endParaRPr sz="1300"/>
          </a:p>
        </p:txBody>
      </p:sp>
      <p:sp>
        <p:nvSpPr>
          <p:cNvPr id="19" name="Shape 15">
            <a:extLst xmlns:a="http://schemas.openxmlformats.org/drawingml/2006/main">
              <a:ext uri="{FF2B5EF4-FFF2-40B4-BE49-F238E27FC236}">
                <a16:creationId xmlns:a16="http://schemas.microsoft.com/office/drawing/2014/main" id="{53E3FE08-F9C2-492D-93C2-6019B9B88FBD}"/>
              </a:ext>
            </a:extLst>
          </p:cNvPr>
          <p:cNvSpPr>
            <a:spLocks xmlns:a="http://schemas.openxmlformats.org/drawingml/2006/main" noGrp="1"/>
          </p:cNvSpPr>
          <p:nvPr/>
        </p:nvSpPr>
        <p:spPr>
          <a:xfrm xmlns:a="http://schemas.openxmlformats.org/drawingml/2006/main">
            <a:off x="2148840" y="1645920"/>
            <a:ext cx="4544568" cy="502920"/>
          </a:xfrm>
          <a:prstGeom xmlns:a="http://schemas.openxmlformats.org/drawingml/2006/main" prst="rect">
            <a:avLst/>
          </a:prstGeom>
          <a:solidFill xmlns:a="http://schemas.openxmlformats.org/drawingml/2006/main">
            <a:srgbClr val="244A9A"/>
          </a:solidFill>
          <a:ln xmlns:a="http://schemas.openxmlformats.org/drawingml/2006/main" w="12700">
            <a:solidFill>
              <a:srgbClr val="FFFFFF"/>
            </a:solidFill>
            <a:prstDash val="solid"/>
          </a:ln>
        </p:spPr>
      </p:sp>
      <p:sp>
        <p:nvSpPr>
          <p:cNvPr id="20" name="Shape 16">
            <a:extLst xmlns:a="http://schemas.openxmlformats.org/drawingml/2006/main">
              <a:ext uri="{FF2B5EF4-FFF2-40B4-BE49-F238E27FC236}">
                <a16:creationId xmlns:a16="http://schemas.microsoft.com/office/drawing/2014/main" id="{6338A8EC-25E3-46DD-A371-E60455563ED0}"/>
              </a:ext>
            </a:extLst>
          </p:cNvPr>
          <p:cNvSpPr>
            <a:spLocks xmlns:a="http://schemas.openxmlformats.org/drawingml/2006/main" noGrp="1"/>
          </p:cNvSpPr>
          <p:nvPr/>
        </p:nvSpPr>
        <p:spPr>
          <a:xfrm xmlns:a="http://schemas.openxmlformats.org/drawingml/2006/main">
            <a:off x="6720840" y="1645920"/>
            <a:ext cx="886968" cy="502920"/>
          </a:xfrm>
          <a:prstGeom xmlns:a="http://schemas.openxmlformats.org/drawingml/2006/main" prst="rect">
            <a:avLst/>
          </a:prstGeom>
          <a:solidFill xmlns:a="http://schemas.openxmlformats.org/drawingml/2006/main">
            <a:srgbClr val="0E2D69"/>
          </a:solidFill>
          <a:ln xmlns:a="http://schemas.openxmlformats.org/drawingml/2006/main" w="12700">
            <a:solidFill>
              <a:srgbClr val="FFFFFF"/>
            </a:solidFill>
            <a:prstDash val="solid"/>
          </a:ln>
        </p:spPr>
      </p:sp>
      <p:sp>
        <p:nvSpPr>
          <p:cNvPr id="21" name="Shape 17">
            <a:extLst xmlns:a="http://schemas.openxmlformats.org/drawingml/2006/main">
              <a:ext uri="{FF2B5EF4-FFF2-40B4-BE49-F238E27FC236}">
                <a16:creationId xmlns:a16="http://schemas.microsoft.com/office/drawing/2014/main" id="{E287FB1A-767D-487F-B56A-8AA6C8ACF7B3}"/>
              </a:ext>
            </a:extLst>
          </p:cNvPr>
          <p:cNvSpPr>
            <a:spLocks xmlns:a="http://schemas.openxmlformats.org/drawingml/2006/main" noGrp="1"/>
          </p:cNvSpPr>
          <p:nvPr/>
        </p:nvSpPr>
        <p:spPr>
          <a:xfrm xmlns:a="http://schemas.openxmlformats.org/drawingml/2006/main">
            <a:off x="7635240" y="1645920"/>
            <a:ext cx="886968" cy="502920"/>
          </a:xfrm>
          <a:prstGeom xmlns:a="http://schemas.openxmlformats.org/drawingml/2006/main" prst="rect">
            <a:avLst/>
          </a:prstGeom>
          <a:solidFill xmlns:a="http://schemas.openxmlformats.org/drawingml/2006/main">
            <a:srgbClr val="E8743B"/>
          </a:solidFill>
          <a:ln xmlns:a="http://schemas.openxmlformats.org/drawingml/2006/main" w="12700">
            <a:solidFill>
              <a:srgbClr val="FFFFFF"/>
            </a:solidFill>
            <a:prstDash val="solid"/>
          </a:ln>
        </p:spPr>
      </p:sp>
      <p:sp>
        <p:nvSpPr>
          <p:cNvPr id="22" name="Text 18">
            <a:extLst xmlns:a="http://schemas.openxmlformats.org/drawingml/2006/main">
              <a:ext uri="{FF2B5EF4-FFF2-40B4-BE49-F238E27FC236}">
                <a16:creationId xmlns:a16="http://schemas.microsoft.com/office/drawing/2014/main" id="{6D95E198-150F-4776-AD2C-2E77D5AE86BF}"/>
              </a:ext>
            </a:extLst>
          </p:cNvPr>
          <p:cNvSpPr>
            <a:spLocks xmlns:a="http://schemas.openxmlformats.org/drawingml/2006/main" noGrp="1"/>
          </p:cNvSpPr>
          <p:nvPr/>
        </p:nvSpPr>
        <p:spPr>
          <a:xfrm xmlns:a="http://schemas.openxmlformats.org/drawingml/2006/main">
            <a:off x="2148840" y="1645920"/>
            <a:ext cx="45720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Arial"/>
                <a:ea typeface="Arial"/>
                <a:cs typeface="Arial"/>
              </a:rPr>
              <a:t>Обучение</a:t>
            </a:r>
            <a:endParaRPr sz="1300"/>
          </a:p>
        </p:txBody>
      </p:sp>
      <p:sp>
        <p:nvSpPr>
          <p:cNvPr id="23" name="Text 19">
            <a:extLst xmlns:a="http://schemas.openxmlformats.org/drawingml/2006/main">
              <a:ext uri="{FF2B5EF4-FFF2-40B4-BE49-F238E27FC236}">
                <a16:creationId xmlns:a16="http://schemas.microsoft.com/office/drawing/2014/main" id="{2DF2DAFA-0DB9-4FA2-8310-69596BD64648}"/>
              </a:ext>
            </a:extLst>
          </p:cNvPr>
          <p:cNvSpPr>
            <a:spLocks xmlns:a="http://schemas.openxmlformats.org/drawingml/2006/main" noGrp="1"/>
          </p:cNvSpPr>
          <p:nvPr/>
        </p:nvSpPr>
        <p:spPr>
          <a:xfrm xmlns:a="http://schemas.openxmlformats.org/drawingml/2006/main">
            <a:off x="6720840" y="1645920"/>
            <a:ext cx="9144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latin typeface="Arial"/>
                <a:ea typeface="Arial"/>
                <a:cs typeface="Arial"/>
              </a:rPr>
              <a:t>Выбор эпохи</a:t>
            </a:r>
            <a:endParaRPr sz="1000"/>
          </a:p>
        </p:txBody>
      </p:sp>
      <p:sp>
        <p:nvSpPr>
          <p:cNvPr id="24" name="Text 20">
            <a:extLst xmlns:a="http://schemas.openxmlformats.org/drawingml/2006/main">
              <a:ext uri="{FF2B5EF4-FFF2-40B4-BE49-F238E27FC236}">
                <a16:creationId xmlns:a16="http://schemas.microsoft.com/office/drawing/2014/main" id="{E5BF9221-783E-4A14-8CFA-568B97A0F018}"/>
              </a:ext>
            </a:extLst>
          </p:cNvPr>
          <p:cNvSpPr>
            <a:spLocks xmlns:a="http://schemas.openxmlformats.org/drawingml/2006/main" noGrp="1"/>
          </p:cNvSpPr>
          <p:nvPr/>
        </p:nvSpPr>
        <p:spPr>
          <a:xfrm xmlns:a="http://schemas.openxmlformats.org/drawingml/2006/main">
            <a:off x="7635240" y="1645920"/>
            <a:ext cx="9144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Arial"/>
                <a:ea typeface="Arial"/>
                <a:cs typeface="Arial"/>
              </a:rPr>
              <a:t>Итог</a:t>
            </a:r>
            <a:endParaRPr sz="1100"/>
          </a:p>
        </p:txBody>
      </p:sp>
      <p:sp>
        <p:nvSpPr>
          <p:cNvPr id="25" name="Text 21">
            <a:extLst xmlns:a="http://schemas.openxmlformats.org/drawingml/2006/main">
              <a:ext uri="{FF2B5EF4-FFF2-40B4-BE49-F238E27FC236}">
                <a16:creationId xmlns:a16="http://schemas.microsoft.com/office/drawing/2014/main" id="{10491302-9E20-41A2-8D92-27A808DA9226}"/>
              </a:ext>
            </a:extLst>
          </p:cNvPr>
          <p:cNvSpPr>
            <a:spLocks xmlns:a="http://schemas.openxmlformats.org/drawingml/2006/main" noGrp="1"/>
          </p:cNvSpPr>
          <p:nvPr/>
        </p:nvSpPr>
        <p:spPr>
          <a:xfrm xmlns:a="http://schemas.openxmlformats.org/drawingml/2006/main">
            <a:off x="365760" y="2286000"/>
            <a:ext cx="54864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5B6B8C"/>
                </a:solidFill>
                <a:latin typeface="Arial"/>
                <a:ea typeface="Arial"/>
                <a:cs typeface="Arial"/>
              </a:rPr>
              <a:t>Дополнительные проверки: схема сдвигается на месяц вперёд</a:t>
            </a:r>
            <a:endParaRPr sz="1200"/>
          </a:p>
        </p:txBody>
      </p:sp>
      <p:sp>
        <p:nvSpPr>
          <p:cNvPr id="26" name="Shape 22">
            <a:extLst xmlns:a="http://schemas.openxmlformats.org/drawingml/2006/main">
              <a:ext uri="{FF2B5EF4-FFF2-40B4-BE49-F238E27FC236}">
                <a16:creationId xmlns:a16="http://schemas.microsoft.com/office/drawing/2014/main" id="{562BEF3A-5225-4827-B6FB-A5ED3E5A345B}"/>
              </a:ext>
            </a:extLst>
          </p:cNvPr>
          <p:cNvSpPr>
            <a:spLocks xmlns:a="http://schemas.openxmlformats.org/drawingml/2006/main" noGrp="1"/>
          </p:cNvSpPr>
          <p:nvPr/>
        </p:nvSpPr>
        <p:spPr>
          <a:xfrm xmlns:a="http://schemas.openxmlformats.org/drawingml/2006/main">
            <a:off x="5989320" y="2331720"/>
            <a:ext cx="164592" cy="164592"/>
          </a:xfrm>
          <a:prstGeom xmlns:a="http://schemas.openxmlformats.org/drawingml/2006/main" prst="rect">
            <a:avLst/>
          </a:prstGeom>
          <a:solidFill xmlns:a="http://schemas.openxmlformats.org/drawingml/2006/main">
            <a:srgbClr val="244A9A"/>
          </a:solidFill>
          <a:ln xmlns:a="http://schemas.openxmlformats.org/drawingml/2006/main" w="12700">
            <a:solidFill>
              <a:srgbClr val="244A9A"/>
            </a:solidFill>
            <a:prstDash val="solid"/>
          </a:ln>
        </p:spPr>
      </p:sp>
      <p:sp>
        <p:nvSpPr>
          <p:cNvPr id="27" name="Text 23">
            <a:extLst xmlns:a="http://schemas.openxmlformats.org/drawingml/2006/main">
              <a:ext uri="{FF2B5EF4-FFF2-40B4-BE49-F238E27FC236}">
                <a16:creationId xmlns:a16="http://schemas.microsoft.com/office/drawing/2014/main" id="{FEFE5257-EA59-4365-9D8A-1A6D84D9A504}"/>
              </a:ext>
            </a:extLst>
          </p:cNvPr>
          <p:cNvSpPr>
            <a:spLocks xmlns:a="http://schemas.openxmlformats.org/drawingml/2006/main" noGrp="1"/>
          </p:cNvSpPr>
          <p:nvPr/>
        </p:nvSpPr>
        <p:spPr>
          <a:xfrm xmlns:a="http://schemas.openxmlformats.org/drawingml/2006/main">
            <a:off x="6199632" y="2286000"/>
            <a:ext cx="7772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B6B8C"/>
                </a:solidFill>
                <a:latin typeface="Arial"/>
                <a:ea typeface="Arial"/>
                <a:cs typeface="Arial"/>
              </a:rPr>
              <a:t>Обучение</a:t>
            </a:r>
            <a:endParaRPr sz="900"/>
          </a:p>
        </p:txBody>
      </p:sp>
      <p:sp>
        <p:nvSpPr>
          <p:cNvPr id="28" name="Shape 24">
            <a:extLst xmlns:a="http://schemas.openxmlformats.org/drawingml/2006/main">
              <a:ext uri="{FF2B5EF4-FFF2-40B4-BE49-F238E27FC236}">
                <a16:creationId xmlns:a16="http://schemas.microsoft.com/office/drawing/2014/main" id="{49EECAFA-C14B-4C02-8167-6E769CE45804}"/>
              </a:ext>
            </a:extLst>
          </p:cNvPr>
          <p:cNvSpPr>
            <a:spLocks xmlns:a="http://schemas.openxmlformats.org/drawingml/2006/main" noGrp="1"/>
          </p:cNvSpPr>
          <p:nvPr/>
        </p:nvSpPr>
        <p:spPr>
          <a:xfrm xmlns:a="http://schemas.openxmlformats.org/drawingml/2006/main">
            <a:off x="6949440" y="2331720"/>
            <a:ext cx="164592" cy="164592"/>
          </a:xfrm>
          <a:prstGeom xmlns:a="http://schemas.openxmlformats.org/drawingml/2006/main" prst="rect">
            <a:avLst/>
          </a:prstGeom>
          <a:solidFill xmlns:a="http://schemas.openxmlformats.org/drawingml/2006/main">
            <a:srgbClr val="0E2D69"/>
          </a:solidFill>
          <a:ln xmlns:a="http://schemas.openxmlformats.org/drawingml/2006/main" w="12700">
            <a:solidFill>
              <a:srgbClr val="0E2D69"/>
            </a:solidFill>
            <a:prstDash val="solid"/>
          </a:ln>
        </p:spPr>
      </p:sp>
      <p:sp>
        <p:nvSpPr>
          <p:cNvPr id="29" name="Text 25">
            <a:extLst xmlns:a="http://schemas.openxmlformats.org/drawingml/2006/main">
              <a:ext uri="{FF2B5EF4-FFF2-40B4-BE49-F238E27FC236}">
                <a16:creationId xmlns:a16="http://schemas.microsoft.com/office/drawing/2014/main" id="{81D7E1EC-7E7F-40F6-B6C1-B82FF8BB7D13}"/>
              </a:ext>
            </a:extLst>
          </p:cNvPr>
          <p:cNvSpPr>
            <a:spLocks xmlns:a="http://schemas.openxmlformats.org/drawingml/2006/main" noGrp="1"/>
          </p:cNvSpPr>
          <p:nvPr/>
        </p:nvSpPr>
        <p:spPr>
          <a:xfrm xmlns:a="http://schemas.openxmlformats.org/drawingml/2006/main">
            <a:off x="7159752" y="2286000"/>
            <a:ext cx="7772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B6B8C"/>
                </a:solidFill>
                <a:latin typeface="Arial"/>
                <a:ea typeface="Arial"/>
                <a:cs typeface="Arial"/>
              </a:rPr>
              <a:t>Выбор эпохи</a:t>
            </a:r>
            <a:endParaRPr sz="900"/>
          </a:p>
        </p:txBody>
      </p:sp>
      <p:sp>
        <p:nvSpPr>
          <p:cNvPr id="30" name="Shape 26">
            <a:extLst xmlns:a="http://schemas.openxmlformats.org/drawingml/2006/main">
              <a:ext uri="{FF2B5EF4-FFF2-40B4-BE49-F238E27FC236}">
                <a16:creationId xmlns:a16="http://schemas.microsoft.com/office/drawing/2014/main" id="{69200CC9-9BCB-4B4B-8C59-9DAECC47BEE4}"/>
              </a:ext>
            </a:extLst>
          </p:cNvPr>
          <p:cNvSpPr>
            <a:spLocks xmlns:a="http://schemas.openxmlformats.org/drawingml/2006/main" noGrp="1"/>
          </p:cNvSpPr>
          <p:nvPr/>
        </p:nvSpPr>
        <p:spPr>
          <a:xfrm xmlns:a="http://schemas.openxmlformats.org/drawingml/2006/main">
            <a:off x="7909560" y="2331720"/>
            <a:ext cx="164592" cy="164592"/>
          </a:xfrm>
          <a:prstGeom xmlns:a="http://schemas.openxmlformats.org/drawingml/2006/main" prst="rect">
            <a:avLst/>
          </a:prstGeom>
          <a:solidFill xmlns:a="http://schemas.openxmlformats.org/drawingml/2006/main">
            <a:srgbClr val="E8743B"/>
          </a:solidFill>
          <a:ln xmlns:a="http://schemas.openxmlformats.org/drawingml/2006/main" w="12700">
            <a:solidFill>
              <a:srgbClr val="E8743B"/>
            </a:solidFill>
            <a:prstDash val="solid"/>
          </a:ln>
        </p:spPr>
      </p:sp>
      <p:sp>
        <p:nvSpPr>
          <p:cNvPr id="31" name="Text 27">
            <a:extLst xmlns:a="http://schemas.openxmlformats.org/drawingml/2006/main">
              <a:ext uri="{FF2B5EF4-FFF2-40B4-BE49-F238E27FC236}">
                <a16:creationId xmlns:a16="http://schemas.microsoft.com/office/drawing/2014/main" id="{D539E68D-C597-4ED4-A80D-49FC1F2EFB55}"/>
              </a:ext>
            </a:extLst>
          </p:cNvPr>
          <p:cNvSpPr>
            <a:spLocks xmlns:a="http://schemas.openxmlformats.org/drawingml/2006/main" noGrp="1"/>
          </p:cNvSpPr>
          <p:nvPr/>
        </p:nvSpPr>
        <p:spPr>
          <a:xfrm xmlns:a="http://schemas.openxmlformats.org/drawingml/2006/main">
            <a:off x="8119872" y="2286000"/>
            <a:ext cx="7772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B6B8C"/>
                </a:solidFill>
                <a:latin typeface="Arial"/>
                <a:ea typeface="Arial"/>
                <a:cs typeface="Arial"/>
              </a:rPr>
              <a:t>Оценка</a:t>
            </a:r>
            <a:endParaRPr sz="900"/>
          </a:p>
        </p:txBody>
      </p:sp>
      <p:sp>
        <p:nvSpPr>
          <p:cNvPr id="32" name="Text 28">
            <a:extLst xmlns:a="http://schemas.openxmlformats.org/drawingml/2006/main">
              <a:ext uri="{FF2B5EF4-FFF2-40B4-BE49-F238E27FC236}">
                <a16:creationId xmlns:a16="http://schemas.microsoft.com/office/drawing/2014/main" id="{E812C31D-C144-49BC-A19D-34AE8301906D}"/>
              </a:ext>
            </a:extLst>
          </p:cNvPr>
          <p:cNvSpPr>
            <a:spLocks xmlns:a="http://schemas.openxmlformats.org/drawingml/2006/main" noGrp="1"/>
          </p:cNvSpPr>
          <p:nvPr/>
        </p:nvSpPr>
        <p:spPr>
          <a:xfrm xmlns:a="http://schemas.openxmlformats.org/drawingml/2006/main">
            <a:off x="365760" y="2633472"/>
            <a:ext cx="1737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5B6B8C"/>
                </a:solidFill>
                <a:latin typeface="Arial"/>
                <a:ea typeface="Arial"/>
                <a:cs typeface="Arial"/>
              </a:rPr>
              <a:t>Сдвиг 1</a:t>
            </a:r>
            <a:endParaRPr sz="1100"/>
          </a:p>
        </p:txBody>
      </p:sp>
      <p:sp>
        <p:nvSpPr>
          <p:cNvPr id="33" name="Shape 29">
            <a:extLst xmlns:a="http://schemas.openxmlformats.org/drawingml/2006/main">
              <a:ext uri="{FF2B5EF4-FFF2-40B4-BE49-F238E27FC236}">
                <a16:creationId xmlns:a16="http://schemas.microsoft.com/office/drawing/2014/main" id="{41FC59A9-2FB7-4ECD-88B7-0F3181F4A12C}"/>
              </a:ext>
            </a:extLst>
          </p:cNvPr>
          <p:cNvSpPr>
            <a:spLocks xmlns:a="http://schemas.openxmlformats.org/drawingml/2006/main" noGrp="1"/>
          </p:cNvSpPr>
          <p:nvPr/>
        </p:nvSpPr>
        <p:spPr>
          <a:xfrm xmlns:a="http://schemas.openxmlformats.org/drawingml/2006/main">
            <a:off x="2148840" y="2633472"/>
            <a:ext cx="886968" cy="274320"/>
          </a:xfrm>
          <a:prstGeom xmlns:a="http://schemas.openxmlformats.org/drawingml/2006/main" prst="rect">
            <a:avLst/>
          </a:prstGeom>
          <a:solidFill xmlns:a="http://schemas.openxmlformats.org/drawingml/2006/main">
            <a:srgbClr val="244A9A"/>
          </a:solidFill>
          <a:ln xmlns:a="http://schemas.openxmlformats.org/drawingml/2006/main" w="12700">
            <a:solidFill>
              <a:srgbClr val="FFFFFF"/>
            </a:solidFill>
            <a:prstDash val="solid"/>
          </a:ln>
        </p:spPr>
      </p:sp>
      <p:sp>
        <p:nvSpPr>
          <p:cNvPr id="34" name="Shape 30">
            <a:extLst xmlns:a="http://schemas.openxmlformats.org/drawingml/2006/main">
              <a:ext uri="{FF2B5EF4-FFF2-40B4-BE49-F238E27FC236}">
                <a16:creationId xmlns:a16="http://schemas.microsoft.com/office/drawing/2014/main" id="{E508B2B2-CC2E-4A21-BE09-C89D846D47F1}"/>
              </a:ext>
            </a:extLst>
          </p:cNvPr>
          <p:cNvSpPr>
            <a:spLocks xmlns:a="http://schemas.openxmlformats.org/drawingml/2006/main" noGrp="1"/>
          </p:cNvSpPr>
          <p:nvPr/>
        </p:nvSpPr>
        <p:spPr>
          <a:xfrm xmlns:a="http://schemas.openxmlformats.org/drawingml/2006/main">
            <a:off x="3063240" y="2633472"/>
            <a:ext cx="886968" cy="274320"/>
          </a:xfrm>
          <a:prstGeom xmlns:a="http://schemas.openxmlformats.org/drawingml/2006/main" prst="rect">
            <a:avLst/>
          </a:prstGeom>
          <a:solidFill xmlns:a="http://schemas.openxmlformats.org/drawingml/2006/main">
            <a:srgbClr val="0E2D69"/>
          </a:solidFill>
          <a:ln xmlns:a="http://schemas.openxmlformats.org/drawingml/2006/main" w="12700">
            <a:solidFill>
              <a:srgbClr val="FFFFFF"/>
            </a:solidFill>
            <a:prstDash val="solid"/>
          </a:ln>
        </p:spPr>
      </p:sp>
      <p:sp>
        <p:nvSpPr>
          <p:cNvPr id="35" name="Shape 31">
            <a:extLst xmlns:a="http://schemas.openxmlformats.org/drawingml/2006/main">
              <a:ext uri="{FF2B5EF4-FFF2-40B4-BE49-F238E27FC236}">
                <a16:creationId xmlns:a16="http://schemas.microsoft.com/office/drawing/2014/main" id="{8CC198D5-7572-4F4F-9E7E-201A684B071E}"/>
              </a:ext>
            </a:extLst>
          </p:cNvPr>
          <p:cNvSpPr>
            <a:spLocks xmlns:a="http://schemas.openxmlformats.org/drawingml/2006/main" noGrp="1"/>
          </p:cNvSpPr>
          <p:nvPr/>
        </p:nvSpPr>
        <p:spPr>
          <a:xfrm xmlns:a="http://schemas.openxmlformats.org/drawingml/2006/main">
            <a:off x="3977640" y="2633472"/>
            <a:ext cx="886968" cy="274320"/>
          </a:xfrm>
          <a:prstGeom xmlns:a="http://schemas.openxmlformats.org/drawingml/2006/main" prst="rect">
            <a:avLst/>
          </a:prstGeom>
          <a:solidFill xmlns:a="http://schemas.openxmlformats.org/drawingml/2006/main">
            <a:srgbClr val="E8743B"/>
          </a:solidFill>
          <a:ln xmlns:a="http://schemas.openxmlformats.org/drawingml/2006/main" w="12700">
            <a:solidFill>
              <a:srgbClr val="FFFFFF"/>
            </a:solidFill>
            <a:prstDash val="solid"/>
          </a:ln>
        </p:spPr>
      </p:sp>
      <p:sp>
        <p:nvSpPr>
          <p:cNvPr id="36" name="Text 32">
            <a:extLst xmlns:a="http://schemas.openxmlformats.org/drawingml/2006/main">
              <a:ext uri="{FF2B5EF4-FFF2-40B4-BE49-F238E27FC236}">
                <a16:creationId xmlns:a16="http://schemas.microsoft.com/office/drawing/2014/main" id="{D4C05FBE-7EB7-43B9-8A5E-8971DA562A4E}"/>
              </a:ext>
            </a:extLst>
          </p:cNvPr>
          <p:cNvSpPr>
            <a:spLocks xmlns:a="http://schemas.openxmlformats.org/drawingml/2006/main" noGrp="1"/>
          </p:cNvSpPr>
          <p:nvPr/>
        </p:nvSpPr>
        <p:spPr>
          <a:xfrm xmlns:a="http://schemas.openxmlformats.org/drawingml/2006/main">
            <a:off x="365760" y="2980944"/>
            <a:ext cx="1737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5B6B8C"/>
                </a:solidFill>
                <a:latin typeface="Arial"/>
                <a:ea typeface="Arial"/>
                <a:cs typeface="Arial"/>
              </a:rPr>
              <a:t>Сдвиг 2</a:t>
            </a:r>
            <a:endParaRPr sz="1100"/>
          </a:p>
        </p:txBody>
      </p:sp>
      <p:sp>
        <p:nvSpPr>
          <p:cNvPr id="37" name="Shape 33">
            <a:extLst xmlns:a="http://schemas.openxmlformats.org/drawingml/2006/main">
              <a:ext uri="{FF2B5EF4-FFF2-40B4-BE49-F238E27FC236}">
                <a16:creationId xmlns:a16="http://schemas.microsoft.com/office/drawing/2014/main" id="{70096C96-0CD1-4B7B-BA24-B6848B173B18}"/>
              </a:ext>
            </a:extLst>
          </p:cNvPr>
          <p:cNvSpPr>
            <a:spLocks xmlns:a="http://schemas.openxmlformats.org/drawingml/2006/main" noGrp="1"/>
          </p:cNvSpPr>
          <p:nvPr/>
        </p:nvSpPr>
        <p:spPr>
          <a:xfrm xmlns:a="http://schemas.openxmlformats.org/drawingml/2006/main">
            <a:off x="2148840" y="2980944"/>
            <a:ext cx="1801368" cy="274320"/>
          </a:xfrm>
          <a:prstGeom xmlns:a="http://schemas.openxmlformats.org/drawingml/2006/main" prst="rect">
            <a:avLst/>
          </a:prstGeom>
          <a:solidFill xmlns:a="http://schemas.openxmlformats.org/drawingml/2006/main">
            <a:srgbClr val="244A9A"/>
          </a:solidFill>
          <a:ln xmlns:a="http://schemas.openxmlformats.org/drawingml/2006/main" w="12700">
            <a:solidFill>
              <a:srgbClr val="FFFFFF"/>
            </a:solidFill>
            <a:prstDash val="solid"/>
          </a:ln>
        </p:spPr>
      </p:sp>
      <p:sp>
        <p:nvSpPr>
          <p:cNvPr id="38" name="Shape 34">
            <a:extLst xmlns:a="http://schemas.openxmlformats.org/drawingml/2006/main">
              <a:ext uri="{FF2B5EF4-FFF2-40B4-BE49-F238E27FC236}">
                <a16:creationId xmlns:a16="http://schemas.microsoft.com/office/drawing/2014/main" id="{B51AA505-6879-4932-829D-A75A37D8403A}"/>
              </a:ext>
            </a:extLst>
          </p:cNvPr>
          <p:cNvSpPr>
            <a:spLocks xmlns:a="http://schemas.openxmlformats.org/drawingml/2006/main" noGrp="1"/>
          </p:cNvSpPr>
          <p:nvPr/>
        </p:nvSpPr>
        <p:spPr>
          <a:xfrm xmlns:a="http://schemas.openxmlformats.org/drawingml/2006/main">
            <a:off x="3977640" y="2980944"/>
            <a:ext cx="886968" cy="274320"/>
          </a:xfrm>
          <a:prstGeom xmlns:a="http://schemas.openxmlformats.org/drawingml/2006/main" prst="rect">
            <a:avLst/>
          </a:prstGeom>
          <a:solidFill xmlns:a="http://schemas.openxmlformats.org/drawingml/2006/main">
            <a:srgbClr val="0E2D69"/>
          </a:solidFill>
          <a:ln xmlns:a="http://schemas.openxmlformats.org/drawingml/2006/main" w="12700">
            <a:solidFill>
              <a:srgbClr val="FFFFFF"/>
            </a:solidFill>
            <a:prstDash val="solid"/>
          </a:ln>
        </p:spPr>
      </p:sp>
      <p:sp>
        <p:nvSpPr>
          <p:cNvPr id="39" name="Shape 35">
            <a:extLst xmlns:a="http://schemas.openxmlformats.org/drawingml/2006/main">
              <a:ext uri="{FF2B5EF4-FFF2-40B4-BE49-F238E27FC236}">
                <a16:creationId xmlns:a16="http://schemas.microsoft.com/office/drawing/2014/main" id="{A2D18EDE-3E03-4325-8DD8-D99E969A048A}"/>
              </a:ext>
            </a:extLst>
          </p:cNvPr>
          <p:cNvSpPr>
            <a:spLocks xmlns:a="http://schemas.openxmlformats.org/drawingml/2006/main" noGrp="1"/>
          </p:cNvSpPr>
          <p:nvPr/>
        </p:nvSpPr>
        <p:spPr>
          <a:xfrm xmlns:a="http://schemas.openxmlformats.org/drawingml/2006/main">
            <a:off x="4892040" y="2980944"/>
            <a:ext cx="886968" cy="274320"/>
          </a:xfrm>
          <a:prstGeom xmlns:a="http://schemas.openxmlformats.org/drawingml/2006/main" prst="rect">
            <a:avLst/>
          </a:prstGeom>
          <a:solidFill xmlns:a="http://schemas.openxmlformats.org/drawingml/2006/main">
            <a:srgbClr val="E8743B"/>
          </a:solidFill>
          <a:ln xmlns:a="http://schemas.openxmlformats.org/drawingml/2006/main" w="12700">
            <a:solidFill>
              <a:srgbClr val="FFFFFF"/>
            </a:solidFill>
            <a:prstDash val="solid"/>
          </a:ln>
        </p:spPr>
      </p:sp>
      <p:sp>
        <p:nvSpPr>
          <p:cNvPr id="40" name="Text 36">
            <a:extLst xmlns:a="http://schemas.openxmlformats.org/drawingml/2006/main">
              <a:ext uri="{FF2B5EF4-FFF2-40B4-BE49-F238E27FC236}">
                <a16:creationId xmlns:a16="http://schemas.microsoft.com/office/drawing/2014/main" id="{0EDF1CE6-18CA-4825-8D0F-3EA2343EC27B}"/>
              </a:ext>
            </a:extLst>
          </p:cNvPr>
          <p:cNvSpPr>
            <a:spLocks xmlns:a="http://schemas.openxmlformats.org/drawingml/2006/main" noGrp="1"/>
          </p:cNvSpPr>
          <p:nvPr/>
        </p:nvSpPr>
        <p:spPr>
          <a:xfrm xmlns:a="http://schemas.openxmlformats.org/drawingml/2006/main">
            <a:off x="365760" y="3328416"/>
            <a:ext cx="1737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5B6B8C"/>
                </a:solidFill>
                <a:latin typeface="Arial"/>
                <a:ea typeface="Arial"/>
                <a:cs typeface="Arial"/>
              </a:rPr>
              <a:t>Сдвиг 3</a:t>
            </a:r>
            <a:endParaRPr sz="1100"/>
          </a:p>
        </p:txBody>
      </p:sp>
      <p:sp>
        <p:nvSpPr>
          <p:cNvPr id="41" name="Shape 37">
            <a:extLst xmlns:a="http://schemas.openxmlformats.org/drawingml/2006/main">
              <a:ext uri="{FF2B5EF4-FFF2-40B4-BE49-F238E27FC236}">
                <a16:creationId xmlns:a16="http://schemas.microsoft.com/office/drawing/2014/main" id="{0355CD79-CEE2-4B24-83D6-B2DCD0E4D668}"/>
              </a:ext>
            </a:extLst>
          </p:cNvPr>
          <p:cNvSpPr>
            <a:spLocks xmlns:a="http://schemas.openxmlformats.org/drawingml/2006/main" noGrp="1"/>
          </p:cNvSpPr>
          <p:nvPr/>
        </p:nvSpPr>
        <p:spPr>
          <a:xfrm xmlns:a="http://schemas.openxmlformats.org/drawingml/2006/main">
            <a:off x="2148840" y="3328416"/>
            <a:ext cx="2715768" cy="274320"/>
          </a:xfrm>
          <a:prstGeom xmlns:a="http://schemas.openxmlformats.org/drawingml/2006/main" prst="rect">
            <a:avLst/>
          </a:prstGeom>
          <a:solidFill xmlns:a="http://schemas.openxmlformats.org/drawingml/2006/main">
            <a:srgbClr val="244A9A"/>
          </a:solidFill>
          <a:ln xmlns:a="http://schemas.openxmlformats.org/drawingml/2006/main" w="12700">
            <a:solidFill>
              <a:srgbClr val="FFFFFF"/>
            </a:solidFill>
            <a:prstDash val="solid"/>
          </a:ln>
        </p:spPr>
      </p:sp>
      <p:sp>
        <p:nvSpPr>
          <p:cNvPr id="42" name="Shape 38">
            <a:extLst xmlns:a="http://schemas.openxmlformats.org/drawingml/2006/main">
              <a:ext uri="{FF2B5EF4-FFF2-40B4-BE49-F238E27FC236}">
                <a16:creationId xmlns:a16="http://schemas.microsoft.com/office/drawing/2014/main" id="{3F761478-FA2E-42D4-BAA7-A21232FBE0FF}"/>
              </a:ext>
            </a:extLst>
          </p:cNvPr>
          <p:cNvSpPr>
            <a:spLocks xmlns:a="http://schemas.openxmlformats.org/drawingml/2006/main" noGrp="1"/>
          </p:cNvSpPr>
          <p:nvPr/>
        </p:nvSpPr>
        <p:spPr>
          <a:xfrm xmlns:a="http://schemas.openxmlformats.org/drawingml/2006/main">
            <a:off x="4892040" y="3328416"/>
            <a:ext cx="886968" cy="274320"/>
          </a:xfrm>
          <a:prstGeom xmlns:a="http://schemas.openxmlformats.org/drawingml/2006/main" prst="rect">
            <a:avLst/>
          </a:prstGeom>
          <a:solidFill xmlns:a="http://schemas.openxmlformats.org/drawingml/2006/main">
            <a:srgbClr val="0E2D69"/>
          </a:solidFill>
          <a:ln xmlns:a="http://schemas.openxmlformats.org/drawingml/2006/main" w="12700">
            <a:solidFill>
              <a:srgbClr val="FFFFFF"/>
            </a:solidFill>
            <a:prstDash val="solid"/>
          </a:ln>
        </p:spPr>
      </p:sp>
      <p:sp>
        <p:nvSpPr>
          <p:cNvPr id="43" name="Shape 39">
            <a:extLst xmlns:a="http://schemas.openxmlformats.org/drawingml/2006/main">
              <a:ext uri="{FF2B5EF4-FFF2-40B4-BE49-F238E27FC236}">
                <a16:creationId xmlns:a16="http://schemas.microsoft.com/office/drawing/2014/main" id="{FFDD5BA5-AC57-45A1-BD85-7F698878AF25}"/>
              </a:ext>
            </a:extLst>
          </p:cNvPr>
          <p:cNvSpPr>
            <a:spLocks xmlns:a="http://schemas.openxmlformats.org/drawingml/2006/main" noGrp="1"/>
          </p:cNvSpPr>
          <p:nvPr/>
        </p:nvSpPr>
        <p:spPr>
          <a:xfrm xmlns:a="http://schemas.openxmlformats.org/drawingml/2006/main">
            <a:off x="5806440" y="3328416"/>
            <a:ext cx="886968" cy="274320"/>
          </a:xfrm>
          <a:prstGeom xmlns:a="http://schemas.openxmlformats.org/drawingml/2006/main" prst="rect">
            <a:avLst/>
          </a:prstGeom>
          <a:solidFill xmlns:a="http://schemas.openxmlformats.org/drawingml/2006/main">
            <a:srgbClr val="E8743B"/>
          </a:solidFill>
          <a:ln xmlns:a="http://schemas.openxmlformats.org/drawingml/2006/main" w="12700">
            <a:solidFill>
              <a:srgbClr val="FFFFFF"/>
            </a:solidFill>
            <a:prstDash val="solid"/>
          </a:ln>
        </p:spPr>
      </p:sp>
      <p:sp>
        <p:nvSpPr>
          <p:cNvPr id="44" name="Text 40">
            <a:extLst xmlns:a="http://schemas.openxmlformats.org/drawingml/2006/main">
              <a:ext uri="{FF2B5EF4-FFF2-40B4-BE49-F238E27FC236}">
                <a16:creationId xmlns:a16="http://schemas.microsoft.com/office/drawing/2014/main" id="{B45CEBC9-C17A-4FD0-BEA6-E095E417B16F}"/>
              </a:ext>
            </a:extLst>
          </p:cNvPr>
          <p:cNvSpPr>
            <a:spLocks xmlns:a="http://schemas.openxmlformats.org/drawingml/2006/main" noGrp="1"/>
          </p:cNvSpPr>
          <p:nvPr/>
        </p:nvSpPr>
        <p:spPr>
          <a:xfrm xmlns:a="http://schemas.openxmlformats.org/drawingml/2006/main">
            <a:off x="365760" y="3675888"/>
            <a:ext cx="1737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5B6B8C"/>
                </a:solidFill>
                <a:latin typeface="Arial"/>
                <a:ea typeface="Arial"/>
                <a:cs typeface="Arial"/>
              </a:rPr>
              <a:t>Сдвиг 4</a:t>
            </a:r>
            <a:endParaRPr sz="1100"/>
          </a:p>
        </p:txBody>
      </p:sp>
      <p:sp>
        <p:nvSpPr>
          <p:cNvPr id="45" name="Shape 41">
            <a:extLst xmlns:a="http://schemas.openxmlformats.org/drawingml/2006/main">
              <a:ext uri="{FF2B5EF4-FFF2-40B4-BE49-F238E27FC236}">
                <a16:creationId xmlns:a16="http://schemas.microsoft.com/office/drawing/2014/main" id="{515480F9-5587-4005-A768-3745E020AA5D}"/>
              </a:ext>
            </a:extLst>
          </p:cNvPr>
          <p:cNvSpPr>
            <a:spLocks xmlns:a="http://schemas.openxmlformats.org/drawingml/2006/main" noGrp="1"/>
          </p:cNvSpPr>
          <p:nvPr/>
        </p:nvSpPr>
        <p:spPr>
          <a:xfrm xmlns:a="http://schemas.openxmlformats.org/drawingml/2006/main">
            <a:off x="2148840" y="3675888"/>
            <a:ext cx="3630168" cy="274320"/>
          </a:xfrm>
          <a:prstGeom xmlns:a="http://schemas.openxmlformats.org/drawingml/2006/main" prst="rect">
            <a:avLst/>
          </a:prstGeom>
          <a:solidFill xmlns:a="http://schemas.openxmlformats.org/drawingml/2006/main">
            <a:srgbClr val="244A9A"/>
          </a:solidFill>
          <a:ln xmlns:a="http://schemas.openxmlformats.org/drawingml/2006/main" w="12700">
            <a:solidFill>
              <a:srgbClr val="FFFFFF"/>
            </a:solidFill>
            <a:prstDash val="solid"/>
          </a:ln>
        </p:spPr>
      </p:sp>
      <p:sp>
        <p:nvSpPr>
          <p:cNvPr id="46" name="Shape 42">
            <a:extLst xmlns:a="http://schemas.openxmlformats.org/drawingml/2006/main">
              <a:ext uri="{FF2B5EF4-FFF2-40B4-BE49-F238E27FC236}">
                <a16:creationId xmlns:a16="http://schemas.microsoft.com/office/drawing/2014/main" id="{FA7FC015-9500-4F15-92DF-6FE04259F48D}"/>
              </a:ext>
            </a:extLst>
          </p:cNvPr>
          <p:cNvSpPr>
            <a:spLocks xmlns:a="http://schemas.openxmlformats.org/drawingml/2006/main" noGrp="1"/>
          </p:cNvSpPr>
          <p:nvPr/>
        </p:nvSpPr>
        <p:spPr>
          <a:xfrm xmlns:a="http://schemas.openxmlformats.org/drawingml/2006/main">
            <a:off x="5806440" y="3675888"/>
            <a:ext cx="886968" cy="274320"/>
          </a:xfrm>
          <a:prstGeom xmlns:a="http://schemas.openxmlformats.org/drawingml/2006/main" prst="rect">
            <a:avLst/>
          </a:prstGeom>
          <a:solidFill xmlns:a="http://schemas.openxmlformats.org/drawingml/2006/main">
            <a:srgbClr val="0E2D69"/>
          </a:solidFill>
          <a:ln xmlns:a="http://schemas.openxmlformats.org/drawingml/2006/main" w="12700">
            <a:solidFill>
              <a:srgbClr val="FFFFFF"/>
            </a:solidFill>
            <a:prstDash val="solid"/>
          </a:ln>
        </p:spPr>
      </p:sp>
      <p:sp>
        <p:nvSpPr>
          <p:cNvPr id="47" name="Shape 43">
            <a:extLst xmlns:a="http://schemas.openxmlformats.org/drawingml/2006/main">
              <a:ext uri="{FF2B5EF4-FFF2-40B4-BE49-F238E27FC236}">
                <a16:creationId xmlns:a16="http://schemas.microsoft.com/office/drawing/2014/main" id="{7624EA89-BDC3-491A-B46E-708ABA0E9786}"/>
              </a:ext>
            </a:extLst>
          </p:cNvPr>
          <p:cNvSpPr>
            <a:spLocks xmlns:a="http://schemas.openxmlformats.org/drawingml/2006/main" noGrp="1"/>
          </p:cNvSpPr>
          <p:nvPr/>
        </p:nvSpPr>
        <p:spPr>
          <a:xfrm xmlns:a="http://schemas.openxmlformats.org/drawingml/2006/main">
            <a:off x="6720840" y="3675888"/>
            <a:ext cx="886968" cy="274320"/>
          </a:xfrm>
          <a:prstGeom xmlns:a="http://schemas.openxmlformats.org/drawingml/2006/main" prst="rect">
            <a:avLst/>
          </a:prstGeom>
          <a:solidFill xmlns:a="http://schemas.openxmlformats.org/drawingml/2006/main">
            <a:srgbClr val="E8743B"/>
          </a:solidFill>
          <a:ln xmlns:a="http://schemas.openxmlformats.org/drawingml/2006/main" w="12700">
            <a:solidFill>
              <a:srgbClr val="FFFFFF"/>
            </a:solidFill>
            <a:prstDash val="solid"/>
          </a:ln>
        </p:spPr>
      </p:sp>
      <p:sp>
        <p:nvSpPr>
          <p:cNvPr id="48" name="Shape 44">
            <a:extLst xmlns:a="http://schemas.openxmlformats.org/drawingml/2006/main">
              <a:ext uri="{FF2B5EF4-FFF2-40B4-BE49-F238E27FC236}">
                <a16:creationId xmlns:a16="http://schemas.microsoft.com/office/drawing/2014/main" id="{4A689274-DD11-48F5-85A8-ADDECD2A2F0A}"/>
              </a:ext>
            </a:extLst>
          </p:cNvPr>
          <p:cNvSpPr>
            <a:spLocks xmlns:a="http://schemas.openxmlformats.org/drawingml/2006/main" noGrp="1"/>
          </p:cNvSpPr>
          <p:nvPr/>
        </p:nvSpPr>
        <p:spPr>
          <a:xfrm xmlns:a="http://schemas.openxmlformats.org/drawingml/2006/main">
            <a:off x="365760" y="4114800"/>
            <a:ext cx="1999793" cy="685800"/>
          </a:xfrm>
          <a:prstGeom xmlns:a="http://schemas.openxmlformats.org/drawingml/2006/main" prst="roundRect">
            <a:avLst>
              <a:gd name="adj" fmla="val 10667"/>
            </a:avLst>
          </a:prstGeom>
          <a:solidFill xmlns:a="http://schemas.openxmlformats.org/drawingml/2006/main">
            <a:srgbClr val="EAF0FA"/>
          </a:solidFill>
          <a:ln xmlns:a="http://schemas.openxmlformats.org/drawingml/2006/main" w="12700">
            <a:solidFill>
              <a:srgbClr val="EAF0FA"/>
            </a:solidFill>
            <a:prstDash val="solid"/>
          </a:ln>
        </p:spPr>
      </p:sp>
      <p:sp>
        <p:nvSpPr>
          <p:cNvPr id="49" name="Text 45">
            <a:extLst xmlns:a="http://schemas.openxmlformats.org/drawingml/2006/main">
              <a:ext uri="{FF2B5EF4-FFF2-40B4-BE49-F238E27FC236}">
                <a16:creationId xmlns:a16="http://schemas.microsoft.com/office/drawing/2014/main" id="{1F1352F2-2813-41C3-AFC5-22851F988EDE}"/>
              </a:ext>
            </a:extLst>
          </p:cNvPr>
          <p:cNvSpPr>
            <a:spLocks xmlns:a="http://schemas.openxmlformats.org/drawingml/2006/main" noGrp="1"/>
          </p:cNvSpPr>
          <p:nvPr/>
        </p:nvSpPr>
        <p:spPr>
          <a:xfrm xmlns:a="http://schemas.openxmlformats.org/drawingml/2006/main">
            <a:off x="457200" y="4114800"/>
            <a:ext cx="1819656"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0E2D69"/>
                </a:solidFill>
                <a:latin typeface="Arial"/>
                <a:ea typeface="Arial"/>
                <a:cs typeface="Arial"/>
              </a:rPr>
              <a:t>Пользователи не перемешиваются случайно</a:t>
            </a:r>
            <a:endParaRPr sz="1100"/>
          </a:p>
        </p:txBody>
      </p:sp>
      <p:sp>
        <p:nvSpPr>
          <p:cNvPr id="50" name="Shape 46">
            <a:extLst xmlns:a="http://schemas.openxmlformats.org/drawingml/2006/main">
              <a:ext uri="{FF2B5EF4-FFF2-40B4-BE49-F238E27FC236}">
                <a16:creationId xmlns:a16="http://schemas.microsoft.com/office/drawing/2014/main" id="{CEADD4C7-6504-418D-9809-3C1AB5BEB516}"/>
              </a:ext>
            </a:extLst>
          </p:cNvPr>
          <p:cNvSpPr>
            <a:spLocks xmlns:a="http://schemas.openxmlformats.org/drawingml/2006/main" noGrp="1"/>
          </p:cNvSpPr>
          <p:nvPr/>
        </p:nvSpPr>
        <p:spPr>
          <a:xfrm xmlns:a="http://schemas.openxmlformats.org/drawingml/2006/main">
            <a:off x="2502713" y="4114800"/>
            <a:ext cx="1999793" cy="685800"/>
          </a:xfrm>
          <a:prstGeom xmlns:a="http://schemas.openxmlformats.org/drawingml/2006/main" prst="roundRect">
            <a:avLst>
              <a:gd name="adj" fmla="val 10667"/>
            </a:avLst>
          </a:prstGeom>
          <a:solidFill xmlns:a="http://schemas.openxmlformats.org/drawingml/2006/main">
            <a:srgbClr val="EAF0FA"/>
          </a:solidFill>
          <a:ln xmlns:a="http://schemas.openxmlformats.org/drawingml/2006/main" w="12700">
            <a:solidFill>
              <a:srgbClr val="EAF0FA"/>
            </a:solidFill>
            <a:prstDash val="solid"/>
          </a:ln>
        </p:spPr>
      </p:sp>
      <p:sp>
        <p:nvSpPr>
          <p:cNvPr id="51" name="Text 47">
            <a:extLst xmlns:a="http://schemas.openxmlformats.org/drawingml/2006/main">
              <a:ext uri="{FF2B5EF4-FFF2-40B4-BE49-F238E27FC236}">
                <a16:creationId xmlns:a16="http://schemas.microsoft.com/office/drawing/2014/main" id="{A3A48DE2-CBC4-4521-B933-699B363E67D2}"/>
              </a:ext>
            </a:extLst>
          </p:cNvPr>
          <p:cNvSpPr>
            <a:spLocks xmlns:a="http://schemas.openxmlformats.org/drawingml/2006/main" noGrp="1"/>
          </p:cNvSpPr>
          <p:nvPr/>
        </p:nvSpPr>
        <p:spPr>
          <a:xfrm xmlns:a="http://schemas.openxmlformats.org/drawingml/2006/main">
            <a:off x="2594153" y="4114800"/>
            <a:ext cx="1819656"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0E2D69"/>
                </a:solidFill>
                <a:latin typeface="Arial"/>
                <a:ea typeface="Arial"/>
                <a:cs typeface="Arial"/>
              </a:rPr>
              <a:t>После каждой эпохи — проверка на следующем периоде</a:t>
            </a:r>
            <a:endParaRPr sz="1100"/>
          </a:p>
        </p:txBody>
      </p:sp>
      <p:sp>
        <p:nvSpPr>
          <p:cNvPr id="52" name="Shape 48">
            <a:extLst xmlns:a="http://schemas.openxmlformats.org/drawingml/2006/main">
              <a:ext uri="{FF2B5EF4-FFF2-40B4-BE49-F238E27FC236}">
                <a16:creationId xmlns:a16="http://schemas.microsoft.com/office/drawing/2014/main" id="{EE72F171-E590-4A46-91E8-A3018BAD40C6}"/>
              </a:ext>
            </a:extLst>
          </p:cNvPr>
          <p:cNvSpPr>
            <a:spLocks xmlns:a="http://schemas.openxmlformats.org/drawingml/2006/main" noGrp="1"/>
          </p:cNvSpPr>
          <p:nvPr/>
        </p:nvSpPr>
        <p:spPr>
          <a:xfrm xmlns:a="http://schemas.openxmlformats.org/drawingml/2006/main">
            <a:off x="4639666" y="4114800"/>
            <a:ext cx="1999793" cy="685800"/>
          </a:xfrm>
          <a:prstGeom xmlns:a="http://schemas.openxmlformats.org/drawingml/2006/main" prst="roundRect">
            <a:avLst>
              <a:gd name="adj" fmla="val 10667"/>
            </a:avLst>
          </a:prstGeom>
          <a:solidFill xmlns:a="http://schemas.openxmlformats.org/drawingml/2006/main">
            <a:srgbClr val="EAF0FA"/>
          </a:solidFill>
          <a:ln xmlns:a="http://schemas.openxmlformats.org/drawingml/2006/main" w="12700">
            <a:solidFill>
              <a:srgbClr val="EAF0FA"/>
            </a:solidFill>
            <a:prstDash val="solid"/>
          </a:ln>
        </p:spPr>
      </p:sp>
      <p:sp>
        <p:nvSpPr>
          <p:cNvPr id="53" name="Text 49">
            <a:extLst xmlns:a="http://schemas.openxmlformats.org/drawingml/2006/main">
              <a:ext uri="{FF2B5EF4-FFF2-40B4-BE49-F238E27FC236}">
                <a16:creationId xmlns:a16="http://schemas.microsoft.com/office/drawing/2014/main" id="{3094B27C-65BA-401D-9124-74856542CC55}"/>
              </a:ext>
            </a:extLst>
          </p:cNvPr>
          <p:cNvSpPr>
            <a:spLocks xmlns:a="http://schemas.openxmlformats.org/drawingml/2006/main" noGrp="1"/>
          </p:cNvSpPr>
          <p:nvPr/>
        </p:nvSpPr>
        <p:spPr>
          <a:xfrm xmlns:a="http://schemas.openxmlformats.org/drawingml/2006/main">
            <a:off x="4731106" y="4114800"/>
            <a:ext cx="1819656"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0E2D69"/>
                </a:solidFill>
                <a:latin typeface="Arial"/>
                <a:ea typeface="Arial"/>
                <a:cs typeface="Arial"/>
              </a:rPr>
              <a:t>Итоговая оценка — на более позднем периоде</a:t>
            </a:r>
            <a:endParaRPr sz="1100"/>
          </a:p>
        </p:txBody>
      </p:sp>
      <p:sp>
        <p:nvSpPr>
          <p:cNvPr id="54" name="Shape 50">
            <a:extLst xmlns:a="http://schemas.openxmlformats.org/drawingml/2006/main">
              <a:ext uri="{FF2B5EF4-FFF2-40B4-BE49-F238E27FC236}">
                <a16:creationId xmlns:a16="http://schemas.microsoft.com/office/drawing/2014/main" id="{E2992CCC-B4A9-40F4-AF8B-6068DE1D81BA}"/>
              </a:ext>
            </a:extLst>
          </p:cNvPr>
          <p:cNvSpPr>
            <a:spLocks xmlns:a="http://schemas.openxmlformats.org/drawingml/2006/main" noGrp="1"/>
          </p:cNvSpPr>
          <p:nvPr/>
        </p:nvSpPr>
        <p:spPr>
          <a:xfrm xmlns:a="http://schemas.openxmlformats.org/drawingml/2006/main">
            <a:off x="6776618" y="4114800"/>
            <a:ext cx="1999793" cy="685800"/>
          </a:xfrm>
          <a:prstGeom xmlns:a="http://schemas.openxmlformats.org/drawingml/2006/main" prst="roundRect">
            <a:avLst>
              <a:gd name="adj" fmla="val 10667"/>
            </a:avLst>
          </a:prstGeom>
          <a:solidFill xmlns:a="http://schemas.openxmlformats.org/drawingml/2006/main">
            <a:srgbClr val="EAF0FA"/>
          </a:solidFill>
          <a:ln xmlns:a="http://schemas.openxmlformats.org/drawingml/2006/main" w="12700">
            <a:solidFill>
              <a:srgbClr val="EAF0FA"/>
            </a:solidFill>
            <a:prstDash val="solid"/>
          </a:ln>
        </p:spPr>
      </p:sp>
      <p:sp>
        <p:nvSpPr>
          <p:cNvPr id="55" name="Text 51">
            <a:extLst xmlns:a="http://schemas.openxmlformats.org/drawingml/2006/main">
              <a:ext uri="{FF2B5EF4-FFF2-40B4-BE49-F238E27FC236}">
                <a16:creationId xmlns:a16="http://schemas.microsoft.com/office/drawing/2014/main" id="{D33169AE-0F64-4B55-A9CE-21207309FAE6}"/>
              </a:ext>
            </a:extLst>
          </p:cNvPr>
          <p:cNvSpPr>
            <a:spLocks xmlns:a="http://schemas.openxmlformats.org/drawingml/2006/main" noGrp="1"/>
          </p:cNvSpPr>
          <p:nvPr/>
        </p:nvSpPr>
        <p:spPr>
          <a:xfrm xmlns:a="http://schemas.openxmlformats.org/drawingml/2006/main">
            <a:off x="6868058" y="4114800"/>
            <a:ext cx="1819656"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0E2D69"/>
                </a:solidFill>
                <a:latin typeface="Arial"/>
                <a:ea typeface="Arial"/>
                <a:cs typeface="Arial"/>
              </a:rPr>
              <a:t>Все методы: одни и те же 100 тыс. пользователей и правила</a:t>
            </a:r>
            <a:endParaRPr sz="1100"/>
          </a:p>
        </p:txBody>
      </p:sp>
      <p:sp>
        <p:nvSpPr>
          <p:cNvPr id="56" name="Text 52">
            <a:extLst xmlns:a="http://schemas.openxmlformats.org/drawingml/2006/main">
              <a:ext uri="{FF2B5EF4-FFF2-40B4-BE49-F238E27FC236}">
                <a16:creationId xmlns:a16="http://schemas.microsoft.com/office/drawing/2014/main" id="{1BFB1FDA-E8EE-44D7-B068-4C5E713B9BEA}"/>
              </a:ext>
            </a:extLst>
          </p:cNvPr>
          <p:cNvSpPr>
            <a:spLocks xmlns:a="http://schemas.openxmlformats.org/drawingml/2006/main" noGrp="1"/>
          </p:cNvSpPr>
          <p:nvPr/>
        </p:nvSpPr>
        <p:spPr>
          <a:xfrm xmlns:a="http://schemas.openxmlformats.org/drawingml/2006/main">
            <a:off x="8001000" y="201168"/>
            <a:ext cx="8686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defPPr algn="ctr">
              <a:defRPr sz="1200">
                <a:solidFill>
                  <a:srgbClr val="173773"/>
                </a:solidFill>
                <a:latin typeface="Arial"/>
                <a:ea typeface="Arial"/>
                <a:cs typeface="Arial"/>
              </a:defRPr>
            </a:defPPr>
          </a:lstStyle>
          <a:p xmlns:a="http://schemas.openxmlformats.org/drawingml/2006/main">
            <a:pPr marL="0" indent="0" algn="ctr">
              <a:buNone/>
            </a:pPr>
            <a:r>
              <a:rPr sz="1200">
                <a:solidFill>
                  <a:srgbClr val="173773"/>
                </a:solidFill>
                <a:latin typeface="Arial"/>
                <a:ea typeface="Arial"/>
                <a:cs typeface="Arial"/>
              </a:rPr>
              <a:t>10/20</a:t>
            </a:r>
            <a:endParaRPr sz="1200"/>
          </a:p>
        </p:txBody>
      </p:sp>
    </p:spTree>
    <p:extLst>
      <p:ext uri="{BB962C8B-B14F-4D97-AF65-F5344CB8AC3E}">
        <p14:creationId xmlns:p14="http://schemas.microsoft.com/office/powerpoint/2010/main" val="71201570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30F8FC52-2008-4685-B65A-814117C8BBB7}"/>
              </a:ext>
            </a:extLst>
          </p:cNvPr>
          <p:cNvPicPr>
            <a:picLocks xmlns:a="http://schemas.openxmlformats.org/drawingml/2006/main" noChangeAspect="1"/>
          </p:cNvPicPr>
          <p:nvPr/>
        </p:nvPicPr>
        <p:blipFill>
          <a:blip xmlns:r="http://schemas.openxmlformats.org/officeDocument/2006/relationships" xmlns:a="http://schemas.openxmlformats.org/drawingml/2006/main" r:embed="R7f48104a700849ef"/>
          <a:stretch xmlns:a="http://schemas.openxmlformats.org/drawingml/2006/main">
            <a:fillRect l="0" t="0" r="0" b="0"/>
          </a:stretch>
        </p:blipFill>
        <p:spPr>
          <a:xfrm xmlns:a="http://schemas.openxmlformats.org/drawingml/2006/main">
            <a:off x="274320" y="137160"/>
            <a:ext cx="502920" cy="50292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9074A3C4-9BBB-409D-A2CD-D8049222B883}"/>
              </a:ext>
            </a:extLst>
          </p:cNvPr>
          <p:cNvSpPr>
            <a:spLocks xmlns:a="http://schemas.openxmlformats.org/drawingml/2006/main" noGrp="1"/>
          </p:cNvSpPr>
          <p:nvPr/>
        </p:nvSpPr>
        <p:spPr>
          <a:xfrm xmlns:a="http://schemas.openxmlformats.org/drawingml/2006/main">
            <a:off x="868680" y="201168"/>
            <a:ext cx="173736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0E2D69"/>
                </a:solidFill>
                <a:latin typeface="Arial"/>
                <a:ea typeface="Arial"/>
                <a:cs typeface="Arial"/>
              </a:rPr>
              <a:t>Школа информатики, физики и технологий</a:t>
            </a:r>
            <a:endParaRPr sz="800"/>
          </a:p>
        </p:txBody>
      </p:sp>
      <p:sp>
        <p:nvSpPr>
          <p:cNvPr id="4" name="Text 1">
            <a:extLst xmlns:a="http://schemas.openxmlformats.org/drawingml/2006/main">
              <a:ext uri="{FF2B5EF4-FFF2-40B4-BE49-F238E27FC236}">
                <a16:creationId xmlns:a16="http://schemas.microsoft.com/office/drawing/2014/main" id="{3AC78B7F-688B-4E17-88AA-7137201B27AD}"/>
              </a:ext>
            </a:extLst>
          </p:cNvPr>
          <p:cNvSpPr>
            <a:spLocks xmlns:a="http://schemas.openxmlformats.org/drawingml/2006/main" noGrp="1"/>
          </p:cNvSpPr>
          <p:nvPr/>
        </p:nvSpPr>
        <p:spPr>
          <a:xfrm xmlns:a="http://schemas.openxmlformats.org/drawingml/2006/main">
            <a:off x="2834640" y="201168"/>
            <a:ext cx="29260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0E2D69"/>
                </a:solidFill>
                <a:latin typeface="Arial"/>
                <a:ea typeface="Arial"/>
                <a:cs typeface="Arial"/>
              </a:rPr>
              <a:t>Рекомендательная система на основе поведенческих эмбеддингов</a:t>
            </a:r>
            <a:endParaRPr sz="800"/>
          </a:p>
        </p:txBody>
      </p:sp>
      <p:sp>
        <p:nvSpPr>
          <p:cNvPr id="5" name="Text 2">
            <a:extLst xmlns:a="http://schemas.openxmlformats.org/drawingml/2006/main">
              <a:ext uri="{FF2B5EF4-FFF2-40B4-BE49-F238E27FC236}">
                <a16:creationId xmlns:a16="http://schemas.microsoft.com/office/drawing/2014/main" id="{598FAC37-1F7A-4354-A07B-8279BCBA32F0}"/>
              </a:ext>
            </a:extLst>
          </p:cNvPr>
          <p:cNvSpPr>
            <a:spLocks xmlns:a="http://schemas.openxmlformats.org/drawingml/2006/main" noGrp="1"/>
          </p:cNvSpPr>
          <p:nvPr/>
        </p:nvSpPr>
        <p:spPr>
          <a:xfrm xmlns:a="http://schemas.openxmlformats.org/drawingml/2006/main">
            <a:off x="5989320" y="201168"/>
            <a:ext cx="18288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defPPr algn="l">
              <a:defRPr sz="900">
                <a:solidFill>
                  <a:srgbClr val="173773"/>
                </a:solidFill>
                <a:latin typeface="Arial"/>
                <a:ea typeface="Arial"/>
                <a:cs typeface="Arial"/>
              </a:defRPr>
            </a:defPPr>
          </a:lstStyle>
          <a:p xmlns:a="http://schemas.openxmlformats.org/drawingml/2006/main">
            <a:pPr marL="0" indent="0" algn="l">
              <a:buNone/>
            </a:pPr>
            <a:r>
              <a:rPr sz="900">
                <a:solidFill>
                  <a:srgbClr val="173773"/>
                </a:solidFill>
                <a:latin typeface="Arial"/>
                <a:ea typeface="Arial"/>
                <a:cs typeface="Arial"/>
              </a:rPr>
              <a:t>Модель</a:t>
            </a:r>
            <a:endParaRPr sz="800"/>
          </a:p>
        </p:txBody>
      </p:sp>
      <p:sp>
        <p:nvSpPr>
          <p:cNvPr id="6" name="Shape 3">
            <a:extLst xmlns:a="http://schemas.openxmlformats.org/drawingml/2006/main">
              <a:ext uri="{FF2B5EF4-FFF2-40B4-BE49-F238E27FC236}">
                <a16:creationId xmlns:a16="http://schemas.microsoft.com/office/drawing/2014/main" id="{4F862293-5ECF-4295-8494-2857F8968368}"/>
              </a:ext>
            </a:extLst>
          </p:cNvPr>
          <p:cNvSpPr>
            <a:spLocks xmlns:a="http://schemas.openxmlformats.org/drawingml/2006/main" noGrp="1"/>
          </p:cNvSpPr>
          <p:nvPr/>
        </p:nvSpPr>
        <p:spPr>
          <a:xfrm xmlns:a="http://schemas.openxmlformats.org/drawingml/2006/main">
            <a:off x="2697480" y="182880"/>
            <a:ext cx="0" cy="457200"/>
          </a:xfrm>
          <a:prstGeom xmlns:a="http://schemas.openxmlformats.org/drawingml/2006/main" prst="line">
            <a:avLst/>
          </a:prstGeom>
          <a:noFill xmlns:a="http://schemas.openxmlformats.org/drawingml/2006/main"/>
          <a:ln xmlns:a="http://schemas.openxmlformats.org/drawingml/2006/main" w="19050">
            <a:solidFill>
              <a:srgbClr val="0E2D69"/>
            </a:solidFill>
            <a:prstDash val="solid"/>
          </a:ln>
        </p:spPr>
      </p:sp>
      <p:sp>
        <p:nvSpPr>
          <p:cNvPr id="7" name="Shape 4">
            <a:extLst xmlns:a="http://schemas.openxmlformats.org/drawingml/2006/main">
              <a:ext uri="{FF2B5EF4-FFF2-40B4-BE49-F238E27FC236}">
                <a16:creationId xmlns:a16="http://schemas.microsoft.com/office/drawing/2014/main" id="{713B113E-8B32-447E-B0DB-29E7FC273928}"/>
              </a:ext>
            </a:extLst>
          </p:cNvPr>
          <p:cNvSpPr>
            <a:spLocks xmlns:a="http://schemas.openxmlformats.org/drawingml/2006/main" noGrp="1"/>
          </p:cNvSpPr>
          <p:nvPr/>
        </p:nvSpPr>
        <p:spPr>
          <a:xfrm xmlns:a="http://schemas.openxmlformats.org/drawingml/2006/main">
            <a:off x="5852160" y="182880"/>
            <a:ext cx="0" cy="457200"/>
          </a:xfrm>
          <a:prstGeom xmlns:a="http://schemas.openxmlformats.org/drawingml/2006/main" prst="line">
            <a:avLst/>
          </a:prstGeom>
          <a:noFill xmlns:a="http://schemas.openxmlformats.org/drawingml/2006/main"/>
          <a:ln xmlns:a="http://schemas.openxmlformats.org/drawingml/2006/main" w="19050">
            <a:solidFill>
              <a:srgbClr val="0E2D69"/>
            </a:solidFill>
            <a:prstDash val="solid"/>
          </a:ln>
        </p:spPr>
      </p:sp>
      <p:sp>
        <p:nvSpPr>
          <p:cNvPr id="8" name="Shape 5">
            <a:extLst xmlns:a="http://schemas.openxmlformats.org/drawingml/2006/main">
              <a:ext uri="{FF2B5EF4-FFF2-40B4-BE49-F238E27FC236}">
                <a16:creationId xmlns:a16="http://schemas.microsoft.com/office/drawing/2014/main" id="{148C0A76-800B-4869-84B8-FFACBBE247BD}"/>
              </a:ext>
            </a:extLst>
          </p:cNvPr>
          <p:cNvSpPr>
            <a:spLocks xmlns:a="http://schemas.openxmlformats.org/drawingml/2006/main" noGrp="1"/>
          </p:cNvSpPr>
          <p:nvPr/>
        </p:nvSpPr>
        <p:spPr>
          <a:xfrm xmlns:a="http://schemas.openxmlformats.org/drawingml/2006/main">
            <a:off x="7909560" y="182880"/>
            <a:ext cx="0" cy="457200"/>
          </a:xfrm>
          <a:prstGeom xmlns:a="http://schemas.openxmlformats.org/drawingml/2006/main" prst="line">
            <a:avLst/>
          </a:prstGeom>
          <a:noFill xmlns:a="http://schemas.openxmlformats.org/drawingml/2006/main"/>
          <a:ln xmlns:a="http://schemas.openxmlformats.org/drawingml/2006/main" w="19050">
            <a:solidFill>
              <a:srgbClr val="0E2D69"/>
            </a:solidFill>
            <a:prstDash val="solid"/>
          </a:ln>
        </p:spPr>
      </p:sp>
      <p:sp>
        <p:nvSpPr>
          <p:cNvPr id="9" name="Text 6">
            <a:extLst xmlns:a="http://schemas.openxmlformats.org/drawingml/2006/main">
              <a:ext uri="{FF2B5EF4-FFF2-40B4-BE49-F238E27FC236}">
                <a16:creationId xmlns:a16="http://schemas.microsoft.com/office/drawing/2014/main" id="{F54043BA-A96A-471C-B87A-79036DD748CC}"/>
              </a:ext>
            </a:extLst>
          </p:cNvPr>
          <p:cNvSpPr>
            <a:spLocks xmlns:a="http://schemas.openxmlformats.org/drawingml/2006/main" noGrp="1"/>
          </p:cNvSpPr>
          <p:nvPr/>
        </p:nvSpPr>
        <p:spPr>
          <a:xfrm xmlns:a="http://schemas.openxmlformats.org/drawingml/2006/main">
            <a:off x="365760" y="777240"/>
            <a:ext cx="84124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b="1">
                <a:solidFill>
                  <a:srgbClr val="0E2D69"/>
                </a:solidFill>
                <a:latin typeface="Arial"/>
                <a:ea typeface="Arial"/>
                <a:cs typeface="Arial"/>
              </a:rPr>
              <a:t>Почему ComiRec-SA</a:t>
            </a:r>
            <a:endParaRPr sz="2400"/>
          </a:p>
        </p:txBody>
      </p:sp>
      <p:sp>
        <p:nvSpPr>
          <p:cNvPr id="11" name="Shape 7">
            <a:extLst xmlns:a="http://schemas.openxmlformats.org/drawingml/2006/main">
              <a:ext uri="{FF2B5EF4-FFF2-40B4-BE49-F238E27FC236}">
                <a16:creationId xmlns:a16="http://schemas.microsoft.com/office/drawing/2014/main" id="{17B2A13D-F7AB-4B62-AFA7-A6E62A8A5AB7}"/>
              </a:ext>
            </a:extLst>
          </p:cNvPr>
          <p:cNvSpPr>
            <a:spLocks xmlns:a="http://schemas.openxmlformats.org/drawingml/2006/main" noGrp="1"/>
          </p:cNvSpPr>
          <p:nvPr/>
        </p:nvSpPr>
        <p:spPr>
          <a:xfrm xmlns:a="http://schemas.openxmlformats.org/drawingml/2006/main">
            <a:off x="365760" y="1463040"/>
            <a:ext cx="4572000" cy="932688"/>
          </a:xfrm>
          <a:prstGeom xmlns:a="http://schemas.openxmlformats.org/drawingml/2006/main" prst="roundRect">
            <a:avLst>
              <a:gd name="adj" fmla="val 7843"/>
            </a:avLst>
          </a:prstGeom>
          <a:solidFill xmlns:a="http://schemas.openxmlformats.org/drawingml/2006/main">
            <a:srgbClr val="EAF0FA"/>
          </a:solidFill>
          <a:ln xmlns:a="http://schemas.openxmlformats.org/drawingml/2006/main" w="12700">
            <a:solidFill>
              <a:srgbClr val="EAF0FA"/>
            </a:solidFill>
            <a:prstDash val="solid"/>
          </a:ln>
        </p:spPr>
      </p:sp>
      <p:sp>
        <p:nvSpPr>
          <p:cNvPr id="12" name="Shape 8">
            <a:extLst xmlns:a="http://schemas.openxmlformats.org/drawingml/2006/main">
              <a:ext uri="{FF2B5EF4-FFF2-40B4-BE49-F238E27FC236}">
                <a16:creationId xmlns:a16="http://schemas.microsoft.com/office/drawing/2014/main" id="{1A79CE45-10E4-4C35-946B-3BBE45C90AFA}"/>
              </a:ext>
            </a:extLst>
          </p:cNvPr>
          <p:cNvSpPr>
            <a:spLocks xmlns:a="http://schemas.openxmlformats.org/drawingml/2006/main" noGrp="1"/>
          </p:cNvSpPr>
          <p:nvPr/>
        </p:nvSpPr>
        <p:spPr>
          <a:xfrm xmlns:a="http://schemas.openxmlformats.org/drawingml/2006/main">
            <a:off x="530352" y="1700784"/>
            <a:ext cx="457200" cy="457200"/>
          </a:xfrm>
          <a:prstGeom xmlns:a="http://schemas.openxmlformats.org/drawingml/2006/main" prst="ellipse">
            <a:avLst/>
          </a:prstGeom>
          <a:solidFill xmlns:a="http://schemas.openxmlformats.org/drawingml/2006/main">
            <a:srgbClr val="244A9A"/>
          </a:solidFill>
          <a:ln xmlns:a="http://schemas.openxmlformats.org/drawingml/2006/main" w="12700">
            <a:solidFill>
              <a:srgbClr val="244A9A"/>
            </a:solidFill>
            <a:prstDash val="solid"/>
          </a:ln>
        </p:spPr>
      </p:sp>
      <p:sp>
        <p:nvSpPr>
          <p:cNvPr id="13" name="Text 9">
            <a:extLst xmlns:a="http://schemas.openxmlformats.org/drawingml/2006/main">
              <a:ext uri="{FF2B5EF4-FFF2-40B4-BE49-F238E27FC236}">
                <a16:creationId xmlns:a16="http://schemas.microsoft.com/office/drawing/2014/main" id="{BF1F28BD-3A92-447E-8EF0-876132643CE6}"/>
              </a:ext>
            </a:extLst>
          </p:cNvPr>
          <p:cNvSpPr>
            <a:spLocks xmlns:a="http://schemas.openxmlformats.org/drawingml/2006/main" noGrp="1"/>
          </p:cNvSpPr>
          <p:nvPr/>
        </p:nvSpPr>
        <p:spPr>
          <a:xfrm xmlns:a="http://schemas.openxmlformats.org/drawingml/2006/main">
            <a:off x="530352" y="1700784"/>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FFFFFF"/>
                </a:solidFill>
                <a:latin typeface="Arial"/>
                <a:ea typeface="Arial"/>
                <a:cs typeface="Arial"/>
              </a:rPr>
              <a:t>1</a:t>
            </a:r>
            <a:endParaRPr sz="1600"/>
          </a:p>
        </p:txBody>
      </p:sp>
      <p:sp>
        <p:nvSpPr>
          <p:cNvPr id="14" name="Text 10">
            <a:extLst xmlns:a="http://schemas.openxmlformats.org/drawingml/2006/main">
              <a:ext uri="{FF2B5EF4-FFF2-40B4-BE49-F238E27FC236}">
                <a16:creationId xmlns:a16="http://schemas.microsoft.com/office/drawing/2014/main" id="{CD3D4D9E-63DC-4EB2-90BB-188E09E4C68F}"/>
              </a:ext>
            </a:extLst>
          </p:cNvPr>
          <p:cNvSpPr>
            <a:spLocks xmlns:a="http://schemas.openxmlformats.org/drawingml/2006/main" noGrp="1"/>
          </p:cNvSpPr>
          <p:nvPr/>
        </p:nvSpPr>
        <p:spPr>
          <a:xfrm xmlns:a="http://schemas.openxmlformats.org/drawingml/2006/main">
            <a:off x="1143000" y="1591056"/>
            <a:ext cx="36576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rgbClr val="0E2D69"/>
                </a:solidFill>
                <a:latin typeface="Arial"/>
                <a:ea typeface="Arial"/>
                <a:cs typeface="Arial"/>
              </a:rPr>
              <a:t>Учитывать порядок действий</a:t>
            </a:r>
            <a:endParaRPr sz="1500"/>
          </a:p>
        </p:txBody>
      </p:sp>
      <p:sp>
        <p:nvSpPr>
          <p:cNvPr id="15" name="Text 11">
            <a:extLst xmlns:a="http://schemas.openxmlformats.org/drawingml/2006/main">
              <a:ext uri="{FF2B5EF4-FFF2-40B4-BE49-F238E27FC236}">
                <a16:creationId xmlns:a16="http://schemas.microsoft.com/office/drawing/2014/main" id="{A352D4BE-12EA-428B-9D77-1CB4E65B4E6D}"/>
              </a:ext>
            </a:extLst>
          </p:cNvPr>
          <p:cNvSpPr>
            <a:spLocks xmlns:a="http://schemas.openxmlformats.org/drawingml/2006/main" noGrp="1"/>
          </p:cNvSpPr>
          <p:nvPr/>
        </p:nvSpPr>
        <p:spPr>
          <a:xfrm xmlns:a="http://schemas.openxmlformats.org/drawingml/2006/main">
            <a:off x="1143000" y="1965960"/>
            <a:ext cx="37033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defPPr>
              <a:defRPr sz="1125">
                <a:solidFill>
                  <a:srgbClr val="5B6F97"/>
                </a:solidFill>
                <a:latin typeface="Arial"/>
                <a:ea typeface="Arial"/>
                <a:cs typeface="Arial"/>
              </a:defRPr>
            </a:defPPr>
          </a:lstStyle>
          <a:p xmlns:a="http://schemas.openxmlformats.org/drawingml/2006/main">
            <a:pPr marL="0" indent="0">
              <a:buNone/>
            </a:pPr>
            <a:r>
              <a:rPr sz="1125">
                <a:solidFill>
                  <a:srgbClr val="5B6F97"/>
                </a:solidFill>
                <a:latin typeface="Arial"/>
                <a:ea typeface="Arial"/>
                <a:cs typeface="Arial"/>
              </a:rPr>
              <a:t>PureSVD не учитывает порядок и время событий</a:t>
            </a:r>
            <a:endParaRPr sz="1100"/>
          </a:p>
        </p:txBody>
      </p:sp>
      <p:sp>
        <p:nvSpPr>
          <p:cNvPr id="16" name="Shape 12">
            <a:extLst xmlns:a="http://schemas.openxmlformats.org/drawingml/2006/main">
              <a:ext uri="{FF2B5EF4-FFF2-40B4-BE49-F238E27FC236}">
                <a16:creationId xmlns:a16="http://schemas.microsoft.com/office/drawing/2014/main" id="{8BD75C06-11CB-4966-B6FB-DEFB44E23781}"/>
              </a:ext>
            </a:extLst>
          </p:cNvPr>
          <p:cNvSpPr>
            <a:spLocks xmlns:a="http://schemas.openxmlformats.org/drawingml/2006/main" noGrp="1"/>
          </p:cNvSpPr>
          <p:nvPr/>
        </p:nvSpPr>
        <p:spPr>
          <a:xfrm xmlns:a="http://schemas.openxmlformats.org/drawingml/2006/main">
            <a:off x="365760" y="2532888"/>
            <a:ext cx="4572000" cy="932688"/>
          </a:xfrm>
          <a:prstGeom xmlns:a="http://schemas.openxmlformats.org/drawingml/2006/main" prst="roundRect">
            <a:avLst>
              <a:gd name="adj" fmla="val 7843"/>
            </a:avLst>
          </a:prstGeom>
          <a:solidFill xmlns:a="http://schemas.openxmlformats.org/drawingml/2006/main">
            <a:srgbClr val="EAF0FA"/>
          </a:solidFill>
          <a:ln xmlns:a="http://schemas.openxmlformats.org/drawingml/2006/main" w="12700">
            <a:solidFill>
              <a:srgbClr val="EAF0FA"/>
            </a:solidFill>
            <a:prstDash val="solid"/>
          </a:ln>
        </p:spPr>
      </p:sp>
      <p:sp>
        <p:nvSpPr>
          <p:cNvPr id="17" name="Shape 13">
            <a:extLst xmlns:a="http://schemas.openxmlformats.org/drawingml/2006/main">
              <a:ext uri="{FF2B5EF4-FFF2-40B4-BE49-F238E27FC236}">
                <a16:creationId xmlns:a16="http://schemas.microsoft.com/office/drawing/2014/main" id="{A89E25BA-2D71-4F50-ADAA-75643B53959D}"/>
              </a:ext>
            </a:extLst>
          </p:cNvPr>
          <p:cNvSpPr>
            <a:spLocks xmlns:a="http://schemas.openxmlformats.org/drawingml/2006/main" noGrp="1"/>
          </p:cNvSpPr>
          <p:nvPr/>
        </p:nvSpPr>
        <p:spPr>
          <a:xfrm xmlns:a="http://schemas.openxmlformats.org/drawingml/2006/main">
            <a:off x="530352" y="2770632"/>
            <a:ext cx="457200" cy="457200"/>
          </a:xfrm>
          <a:prstGeom xmlns:a="http://schemas.openxmlformats.org/drawingml/2006/main" prst="ellipse">
            <a:avLst/>
          </a:prstGeom>
          <a:solidFill xmlns:a="http://schemas.openxmlformats.org/drawingml/2006/main">
            <a:srgbClr val="244A9A"/>
          </a:solidFill>
          <a:ln xmlns:a="http://schemas.openxmlformats.org/drawingml/2006/main" w="12700">
            <a:solidFill>
              <a:srgbClr val="244A9A"/>
            </a:solidFill>
            <a:prstDash val="solid"/>
          </a:ln>
        </p:spPr>
      </p:sp>
      <p:sp>
        <p:nvSpPr>
          <p:cNvPr id="18" name="Text 14">
            <a:extLst xmlns:a="http://schemas.openxmlformats.org/drawingml/2006/main">
              <a:ext uri="{FF2B5EF4-FFF2-40B4-BE49-F238E27FC236}">
                <a16:creationId xmlns:a16="http://schemas.microsoft.com/office/drawing/2014/main" id="{B87A335A-1359-43F7-A615-A2B8FA90641A}"/>
              </a:ext>
            </a:extLst>
          </p:cNvPr>
          <p:cNvSpPr>
            <a:spLocks xmlns:a="http://schemas.openxmlformats.org/drawingml/2006/main" noGrp="1"/>
          </p:cNvSpPr>
          <p:nvPr/>
        </p:nvSpPr>
        <p:spPr>
          <a:xfrm xmlns:a="http://schemas.openxmlformats.org/drawingml/2006/main">
            <a:off x="530352" y="2770632"/>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FFFFFF"/>
                </a:solidFill>
                <a:latin typeface="Arial"/>
                <a:ea typeface="Arial"/>
                <a:cs typeface="Arial"/>
              </a:rPr>
              <a:t>2</a:t>
            </a:r>
            <a:endParaRPr sz="1600"/>
          </a:p>
        </p:txBody>
      </p:sp>
      <p:sp>
        <p:nvSpPr>
          <p:cNvPr id="19" name="Text 15">
            <a:extLst xmlns:a="http://schemas.openxmlformats.org/drawingml/2006/main">
              <a:ext uri="{FF2B5EF4-FFF2-40B4-BE49-F238E27FC236}">
                <a16:creationId xmlns:a16="http://schemas.microsoft.com/office/drawing/2014/main" id="{28091AE5-5DB0-4EC3-8BC4-79AF710F955A}"/>
              </a:ext>
            </a:extLst>
          </p:cNvPr>
          <p:cNvSpPr>
            <a:spLocks xmlns:a="http://schemas.openxmlformats.org/drawingml/2006/main" noGrp="1"/>
          </p:cNvSpPr>
          <p:nvPr/>
        </p:nvSpPr>
        <p:spPr>
          <a:xfrm xmlns:a="http://schemas.openxmlformats.org/drawingml/2006/main">
            <a:off x="1143000" y="2660904"/>
            <a:ext cx="36576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rgbClr val="0E2D69"/>
                </a:solidFill>
                <a:latin typeface="Arial"/>
                <a:ea typeface="Arial"/>
                <a:cs typeface="Arial"/>
              </a:rPr>
              <a:t>Различать тип и давность события</a:t>
            </a:r>
            <a:endParaRPr sz="1500"/>
          </a:p>
        </p:txBody>
      </p:sp>
      <p:sp>
        <p:nvSpPr>
          <p:cNvPr id="20" name="Text 16">
            <a:extLst xmlns:a="http://schemas.openxmlformats.org/drawingml/2006/main">
              <a:ext uri="{FF2B5EF4-FFF2-40B4-BE49-F238E27FC236}">
                <a16:creationId xmlns:a16="http://schemas.microsoft.com/office/drawing/2014/main" id="{26A007E6-3E61-4C68-9CED-C36FD5268565}"/>
              </a:ext>
            </a:extLst>
          </p:cNvPr>
          <p:cNvSpPr>
            <a:spLocks xmlns:a="http://schemas.openxmlformats.org/drawingml/2006/main" noGrp="1"/>
          </p:cNvSpPr>
          <p:nvPr/>
        </p:nvSpPr>
        <p:spPr>
          <a:xfrm xmlns:a="http://schemas.openxmlformats.org/drawingml/2006/main">
            <a:off x="1143000" y="3035808"/>
            <a:ext cx="37033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5B6B8C"/>
                </a:solidFill>
                <a:latin typeface="Arial"/>
                <a:ea typeface="Arial"/>
                <a:cs typeface="Arial"/>
              </a:rPr>
              <a:t>просмотр месяц назад ≠ недавний контакт</a:t>
            </a:r>
            <a:endParaRPr sz="1100"/>
          </a:p>
        </p:txBody>
      </p:sp>
      <p:sp>
        <p:nvSpPr>
          <p:cNvPr id="21" name="Shape 17">
            <a:extLst xmlns:a="http://schemas.openxmlformats.org/drawingml/2006/main">
              <a:ext uri="{FF2B5EF4-FFF2-40B4-BE49-F238E27FC236}">
                <a16:creationId xmlns:a16="http://schemas.microsoft.com/office/drawing/2014/main" id="{C94862B7-2D50-40C3-AA7B-C1FD36574A00}"/>
              </a:ext>
            </a:extLst>
          </p:cNvPr>
          <p:cNvSpPr>
            <a:spLocks xmlns:a="http://schemas.openxmlformats.org/drawingml/2006/main" noGrp="1"/>
          </p:cNvSpPr>
          <p:nvPr/>
        </p:nvSpPr>
        <p:spPr>
          <a:xfrm xmlns:a="http://schemas.openxmlformats.org/drawingml/2006/main">
            <a:off x="365760" y="3602736"/>
            <a:ext cx="4572000" cy="932688"/>
          </a:xfrm>
          <a:prstGeom xmlns:a="http://schemas.openxmlformats.org/drawingml/2006/main" prst="roundRect">
            <a:avLst>
              <a:gd name="adj" fmla="val 7843"/>
            </a:avLst>
          </a:prstGeom>
          <a:solidFill xmlns:a="http://schemas.openxmlformats.org/drawingml/2006/main">
            <a:srgbClr val="EAF0FA"/>
          </a:solidFill>
          <a:ln xmlns:a="http://schemas.openxmlformats.org/drawingml/2006/main" w="12700">
            <a:solidFill>
              <a:srgbClr val="EAF0FA"/>
            </a:solidFill>
            <a:prstDash val="solid"/>
          </a:ln>
        </p:spPr>
      </p:sp>
      <p:sp>
        <p:nvSpPr>
          <p:cNvPr id="22" name="Shape 18">
            <a:extLst xmlns:a="http://schemas.openxmlformats.org/drawingml/2006/main">
              <a:ext uri="{FF2B5EF4-FFF2-40B4-BE49-F238E27FC236}">
                <a16:creationId xmlns:a16="http://schemas.microsoft.com/office/drawing/2014/main" id="{243BCB0D-A254-48BE-9C52-82D38A10D674}"/>
              </a:ext>
            </a:extLst>
          </p:cNvPr>
          <p:cNvSpPr>
            <a:spLocks xmlns:a="http://schemas.openxmlformats.org/drawingml/2006/main" noGrp="1"/>
          </p:cNvSpPr>
          <p:nvPr/>
        </p:nvSpPr>
        <p:spPr>
          <a:xfrm xmlns:a="http://schemas.openxmlformats.org/drawingml/2006/main">
            <a:off x="530352" y="3840480"/>
            <a:ext cx="457200" cy="457200"/>
          </a:xfrm>
          <a:prstGeom xmlns:a="http://schemas.openxmlformats.org/drawingml/2006/main" prst="ellipse">
            <a:avLst/>
          </a:prstGeom>
          <a:solidFill xmlns:a="http://schemas.openxmlformats.org/drawingml/2006/main">
            <a:srgbClr val="244A9A"/>
          </a:solidFill>
          <a:ln xmlns:a="http://schemas.openxmlformats.org/drawingml/2006/main" w="12700">
            <a:solidFill>
              <a:srgbClr val="244A9A"/>
            </a:solidFill>
            <a:prstDash val="solid"/>
          </a:ln>
        </p:spPr>
      </p:sp>
      <p:sp>
        <p:nvSpPr>
          <p:cNvPr id="23" name="Text 19">
            <a:extLst xmlns:a="http://schemas.openxmlformats.org/drawingml/2006/main">
              <a:ext uri="{FF2B5EF4-FFF2-40B4-BE49-F238E27FC236}">
                <a16:creationId xmlns:a16="http://schemas.microsoft.com/office/drawing/2014/main" id="{02494D1A-816F-4610-9B5B-B3CC5D343FB0}"/>
              </a:ext>
            </a:extLst>
          </p:cNvPr>
          <p:cNvSpPr>
            <a:spLocks xmlns:a="http://schemas.openxmlformats.org/drawingml/2006/main" noGrp="1"/>
          </p:cNvSpPr>
          <p:nvPr/>
        </p:nvSpPr>
        <p:spPr>
          <a:xfrm xmlns:a="http://schemas.openxmlformats.org/drawingml/2006/main">
            <a:off x="530352" y="3840480"/>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FFFFFF"/>
                </a:solidFill>
                <a:latin typeface="Arial"/>
                <a:ea typeface="Arial"/>
                <a:cs typeface="Arial"/>
              </a:rPr>
              <a:t>3</a:t>
            </a:r>
            <a:endParaRPr sz="1600"/>
          </a:p>
        </p:txBody>
      </p:sp>
      <p:sp>
        <p:nvSpPr>
          <p:cNvPr id="24" name="Text 20">
            <a:extLst xmlns:a="http://schemas.openxmlformats.org/drawingml/2006/main">
              <a:ext uri="{FF2B5EF4-FFF2-40B4-BE49-F238E27FC236}">
                <a16:creationId xmlns:a16="http://schemas.microsoft.com/office/drawing/2014/main" id="{A4FE8018-F66D-4687-A23A-AA4947D4910B}"/>
              </a:ext>
            </a:extLst>
          </p:cNvPr>
          <p:cNvSpPr>
            <a:spLocks xmlns:a="http://schemas.openxmlformats.org/drawingml/2006/main" noGrp="1"/>
          </p:cNvSpPr>
          <p:nvPr/>
        </p:nvSpPr>
        <p:spPr>
          <a:xfrm xmlns:a="http://schemas.openxmlformats.org/drawingml/2006/main">
            <a:off x="1143000" y="3730752"/>
            <a:ext cx="36576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rgbClr val="0E2D69"/>
                </a:solidFill>
                <a:latin typeface="Arial"/>
                <a:ea typeface="Arial"/>
                <a:cs typeface="Arial"/>
              </a:rPr>
              <a:t>Не смешивать части поведения</a:t>
            </a:r>
            <a:endParaRPr sz="1500"/>
          </a:p>
        </p:txBody>
      </p:sp>
      <p:sp>
        <p:nvSpPr>
          <p:cNvPr id="25" name="Text 21">
            <a:extLst xmlns:a="http://schemas.openxmlformats.org/drawingml/2006/main">
              <a:ext uri="{FF2B5EF4-FFF2-40B4-BE49-F238E27FC236}">
                <a16:creationId xmlns:a16="http://schemas.microsoft.com/office/drawing/2014/main" id="{4B505A8F-056E-4EA6-BD0E-04BE9AB6CBC4}"/>
              </a:ext>
            </a:extLst>
          </p:cNvPr>
          <p:cNvSpPr>
            <a:spLocks xmlns:a="http://schemas.openxmlformats.org/drawingml/2006/main" noGrp="1"/>
          </p:cNvSpPr>
          <p:nvPr/>
        </p:nvSpPr>
        <p:spPr>
          <a:xfrm xmlns:a="http://schemas.openxmlformats.org/drawingml/2006/main">
            <a:off x="1143000" y="4105656"/>
            <a:ext cx="37033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defPPr>
              <a:defRPr sz="1125">
                <a:solidFill>
                  <a:srgbClr val="5B6F97"/>
                </a:solidFill>
                <a:latin typeface="Arial"/>
                <a:ea typeface="Arial"/>
                <a:cs typeface="Arial"/>
              </a:defRPr>
            </a:defPPr>
          </a:lstStyle>
          <a:p xmlns:a="http://schemas.openxmlformats.org/drawingml/2006/main">
            <a:pPr marL="0" indent="0">
              <a:buNone/>
            </a:pPr>
            <a:r>
              <a:rPr sz="1125">
                <a:solidFill>
                  <a:srgbClr val="5B6F97"/>
                </a:solidFill>
                <a:latin typeface="Arial"/>
                <a:ea typeface="Arial"/>
                <a:cs typeface="Arial"/>
              </a:rPr>
              <a:t>Один вектор может смешать разные части поведения</a:t>
            </a:r>
            <a:endParaRPr sz="1100"/>
          </a:p>
        </p:txBody>
      </p:sp>
      <p:sp>
        <p:nvSpPr>
          <p:cNvPr id="26" name="Shape 22">
            <a:extLst xmlns:a="http://schemas.openxmlformats.org/drawingml/2006/main">
              <a:ext uri="{FF2B5EF4-FFF2-40B4-BE49-F238E27FC236}">
                <a16:creationId xmlns:a16="http://schemas.microsoft.com/office/drawing/2014/main" id="{A7E72E4E-FA77-48CF-AA2D-C2EB0D2643A5}"/>
              </a:ext>
            </a:extLst>
          </p:cNvPr>
          <p:cNvSpPr>
            <a:spLocks xmlns:a="http://schemas.openxmlformats.org/drawingml/2006/main" noGrp="1"/>
          </p:cNvSpPr>
          <p:nvPr/>
        </p:nvSpPr>
        <p:spPr>
          <a:xfrm xmlns:a="http://schemas.openxmlformats.org/drawingml/2006/main">
            <a:off x="5120640" y="1463040"/>
            <a:ext cx="3657600" cy="3072384"/>
          </a:xfrm>
          <a:prstGeom xmlns:a="http://schemas.openxmlformats.org/drawingml/2006/main" prst="roundRect">
            <a:avLst>
              <a:gd name="adj" fmla="val 2381"/>
            </a:avLst>
          </a:prstGeom>
          <a:solidFill xmlns:a="http://schemas.openxmlformats.org/drawingml/2006/main">
            <a:srgbClr val="0E2D69"/>
          </a:solidFill>
          <a:ln xmlns:a="http://schemas.openxmlformats.org/drawingml/2006/main" w="12700">
            <a:solidFill>
              <a:srgbClr val="0E2D69"/>
            </a:solidFill>
            <a:prstDash val="solid"/>
          </a:ln>
        </p:spPr>
      </p:sp>
      <p:sp>
        <p:nvSpPr>
          <p:cNvPr id="27" name="Text 23">
            <a:extLst xmlns:a="http://schemas.openxmlformats.org/drawingml/2006/main">
              <a:ext uri="{FF2B5EF4-FFF2-40B4-BE49-F238E27FC236}">
                <a16:creationId xmlns:a16="http://schemas.microsoft.com/office/drawing/2014/main" id="{22429F17-C8BA-4F95-ADA0-BF9FE1C6BC39}"/>
              </a:ext>
            </a:extLst>
          </p:cNvPr>
          <p:cNvSpPr>
            <a:spLocks xmlns:a="http://schemas.openxmlformats.org/drawingml/2006/main" noGrp="1"/>
          </p:cNvSpPr>
          <p:nvPr/>
        </p:nvSpPr>
        <p:spPr>
          <a:xfrm xmlns:a="http://schemas.openxmlformats.org/drawingml/2006/main">
            <a:off x="5349240" y="1600200"/>
            <a:ext cx="32004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000" b="1">
                <a:solidFill>
                  <a:srgbClr val="FFFFFF"/>
                </a:solidFill>
                <a:latin typeface="Arial"/>
                <a:ea typeface="Arial"/>
                <a:cs typeface="Arial"/>
              </a:rPr>
              <a:t>ComiRec-SA [9]</a:t>
            </a:r>
            <a:endParaRPr sz="2000"/>
          </a:p>
        </p:txBody>
      </p:sp>
      <p:sp>
        <p:nvSpPr>
          <p:cNvPr id="28" name="Text 24">
            <a:extLst xmlns:a="http://schemas.openxmlformats.org/drawingml/2006/main">
              <a:ext uri="{FF2B5EF4-FFF2-40B4-BE49-F238E27FC236}">
                <a16:creationId xmlns:a16="http://schemas.microsoft.com/office/drawing/2014/main" id="{DC2ADB70-D058-4FC8-B64B-57ACAB7C51EC}"/>
              </a:ext>
            </a:extLst>
          </p:cNvPr>
          <p:cNvSpPr>
            <a:spLocks xmlns:a="http://schemas.openxmlformats.org/drawingml/2006/main" noGrp="1"/>
          </p:cNvSpPr>
          <p:nvPr/>
        </p:nvSpPr>
        <p:spPr>
          <a:xfrm xmlns:a="http://schemas.openxmlformats.org/drawingml/2006/main">
            <a:off x="5349240" y="2057400"/>
            <a:ext cx="32004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a:solidFill>
                  <a:srgbClr val="FFFFFF"/>
                </a:solidFill>
                <a:latin typeface="Arial"/>
                <a:ea typeface="Arial"/>
                <a:cs typeface="Arial"/>
              </a:rPr>
              <a:t>Transformer обрабатывает историю, затем несколько обучаемых запросов формируют несколько эмбеддингов пользователя</a:t>
            </a:r>
            <a:endParaRPr sz="1300"/>
          </a:p>
        </p:txBody>
      </p:sp>
      <p:sp>
        <p:nvSpPr>
          <p:cNvPr id="29" name="Text 25">
            <a:extLst xmlns:a="http://schemas.openxmlformats.org/drawingml/2006/main">
              <a:ext uri="{FF2B5EF4-FFF2-40B4-BE49-F238E27FC236}">
                <a16:creationId xmlns:a16="http://schemas.microsoft.com/office/drawing/2014/main" id="{578B8871-2A12-45CB-B05F-67B70AB4459B}"/>
              </a:ext>
            </a:extLst>
          </p:cNvPr>
          <p:cNvSpPr>
            <a:spLocks xmlns:a="http://schemas.openxmlformats.org/drawingml/2006/main" noGrp="1"/>
          </p:cNvSpPr>
          <p:nvPr/>
        </p:nvSpPr>
        <p:spPr>
          <a:xfrm xmlns:a="http://schemas.openxmlformats.org/drawingml/2006/main">
            <a:off x="5349240" y="3063240"/>
            <a:ext cx="3200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AFC4EE"/>
                </a:solidFill>
                <a:latin typeface="Arial"/>
                <a:ea typeface="Arial"/>
                <a:cs typeface="Arial"/>
              </a:rPr>
              <a:t>Наша адаптация</a:t>
            </a:r>
            <a:endParaRPr sz="1300"/>
          </a:p>
        </p:txBody>
      </p:sp>
      <p:sp>
        <p:nvSpPr>
          <p:cNvPr id="30" name="Text 26">
            <a:extLst xmlns:a="http://schemas.openxmlformats.org/drawingml/2006/main">
              <a:ext uri="{FF2B5EF4-FFF2-40B4-BE49-F238E27FC236}">
                <a16:creationId xmlns:a16="http://schemas.microsoft.com/office/drawing/2014/main" id="{65AF5D3E-A9DD-44BA-8C1A-054B7DFD9982}"/>
              </a:ext>
            </a:extLst>
          </p:cNvPr>
          <p:cNvSpPr>
            <a:spLocks xmlns:a="http://schemas.openxmlformats.org/drawingml/2006/main" noGrp="1"/>
          </p:cNvSpPr>
          <p:nvPr/>
        </p:nvSpPr>
        <p:spPr>
          <a:xfrm xmlns:a="http://schemas.openxmlformats.org/drawingml/2006/main">
            <a:off x="5349240" y="3364992"/>
            <a:ext cx="32004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300"/>
              </a:spcAft>
              <a:buSzPct val="100000"/>
              <a:buChar char="•"/>
            </a:pPr>
            <a:r>
              <a:rPr sz="1200">
                <a:solidFill>
                  <a:srgbClr val="FFFFFF"/>
                </a:solidFill>
                <a:latin typeface="Arial"/>
                <a:ea typeface="Arial"/>
                <a:cs typeface="Arial"/>
              </a:rPr>
              <a:t>типы действий и давность</a:t>
            </a:r>
            <a:endParaRPr sz="1200"/>
          </a:p>
          <a:p xmlns:a="http://schemas.openxmlformats.org/drawingml/2006/main">
            <a:pPr marL="342900" indent="-342900">
              <a:spcAft>
                <a:spcPts val="300"/>
              </a:spcAft>
              <a:buSzPct val="100000"/>
              <a:buChar char="•"/>
            </a:pPr>
            <a:r>
              <a:rPr sz="1200">
                <a:solidFill>
                  <a:srgbClr val="FFFFFF"/>
                </a:solidFill>
                <a:latin typeface="Arial"/>
                <a:ea typeface="Arial"/>
                <a:cs typeface="Arial"/>
              </a:rPr>
              <a:t>несколько правильных категорий</a:t>
            </a:r>
            <a:endParaRPr sz="1200"/>
          </a:p>
          <a:p xmlns:a="http://schemas.openxmlformats.org/drawingml/2006/main">
            <a:pPr marL="342900" indent="-342900">
              <a:spcAft>
                <a:spcPts val="300"/>
              </a:spcAft>
              <a:buSzPct val="100000"/>
              <a:buChar char="•"/>
            </a:pPr>
            <a:r>
              <a:rPr sz="1200">
                <a:solidFill>
                  <a:srgbClr val="FFFFFF"/>
                </a:solidFill>
                <a:latin typeface="Arial"/>
                <a:ea typeface="Arial"/>
                <a:cs typeface="Arial"/>
              </a:rPr>
              <a:t>исключение категорий с недавним контактом</a:t>
            </a:r>
            <a:endParaRPr sz="1200"/>
          </a:p>
        </p:txBody>
      </p:sp>
      <p:sp>
        <p:nvSpPr>
          <p:cNvPr id="31" name="Text 27">
            <a:extLst xmlns:a="http://schemas.openxmlformats.org/drawingml/2006/main">
              <a:ext uri="{FF2B5EF4-FFF2-40B4-BE49-F238E27FC236}">
                <a16:creationId xmlns:a16="http://schemas.microsoft.com/office/drawing/2014/main" id="{D98AF3C5-5B33-40B9-91BC-80032FBAA319}"/>
              </a:ext>
            </a:extLst>
          </p:cNvPr>
          <p:cNvSpPr>
            <a:spLocks xmlns:a="http://schemas.openxmlformats.org/drawingml/2006/main" noGrp="1"/>
          </p:cNvSpPr>
          <p:nvPr/>
        </p:nvSpPr>
        <p:spPr>
          <a:xfrm xmlns:a="http://schemas.openxmlformats.org/drawingml/2006/main">
            <a:off x="8001000" y="201168"/>
            <a:ext cx="8686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defPPr algn="ctr">
              <a:defRPr sz="1200">
                <a:solidFill>
                  <a:srgbClr val="173773"/>
                </a:solidFill>
                <a:latin typeface="Arial"/>
                <a:ea typeface="Arial"/>
                <a:cs typeface="Arial"/>
              </a:defRPr>
            </a:defPPr>
          </a:lstStyle>
          <a:p xmlns:a="http://schemas.openxmlformats.org/drawingml/2006/main">
            <a:pPr marL="0" indent="0" algn="ctr">
              <a:buNone/>
            </a:pPr>
            <a:r>
              <a:rPr sz="1200">
                <a:solidFill>
                  <a:srgbClr val="173773"/>
                </a:solidFill>
                <a:latin typeface="Arial"/>
                <a:ea typeface="Arial"/>
                <a:cs typeface="Arial"/>
              </a:rPr>
              <a:t>11/20</a:t>
            </a:r>
            <a:endParaRPr sz="1200"/>
          </a:p>
        </p:txBody>
      </p:sp>
    </p:spTree>
    <p:extLst>
      <p:ext uri="{BB962C8B-B14F-4D97-AF65-F5344CB8AC3E}">
        <p14:creationId xmlns:p14="http://schemas.microsoft.com/office/powerpoint/2010/main" val="170202470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958CB7D7-0DBA-4F82-A546-6E98C1547330}"/>
              </a:ext>
            </a:extLst>
          </p:cNvPr>
          <p:cNvPicPr>
            <a:picLocks xmlns:a="http://schemas.openxmlformats.org/drawingml/2006/main" noChangeAspect="1"/>
          </p:cNvPicPr>
          <p:nvPr/>
        </p:nvPicPr>
        <p:blipFill>
          <a:blip xmlns:r="http://schemas.openxmlformats.org/officeDocument/2006/relationships" xmlns:a="http://schemas.openxmlformats.org/drawingml/2006/main" r:embed="Rf8cc76050e834330"/>
          <a:stretch xmlns:a="http://schemas.openxmlformats.org/drawingml/2006/main">
            <a:fillRect l="0" t="0" r="0" b="0"/>
          </a:stretch>
        </p:blipFill>
        <p:spPr>
          <a:xfrm xmlns:a="http://schemas.openxmlformats.org/drawingml/2006/main">
            <a:off x="274320" y="137160"/>
            <a:ext cx="502920" cy="50292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BE8BBAB9-95EB-4612-B63E-F40ED89EA025}"/>
              </a:ext>
            </a:extLst>
          </p:cNvPr>
          <p:cNvSpPr>
            <a:spLocks xmlns:a="http://schemas.openxmlformats.org/drawingml/2006/main" noGrp="1"/>
          </p:cNvSpPr>
          <p:nvPr/>
        </p:nvSpPr>
        <p:spPr>
          <a:xfrm xmlns:a="http://schemas.openxmlformats.org/drawingml/2006/main">
            <a:off x="868680" y="201168"/>
            <a:ext cx="173736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0E2D69"/>
                </a:solidFill>
                <a:latin typeface="Arial"/>
                <a:ea typeface="Arial"/>
                <a:cs typeface="Arial"/>
              </a:rPr>
              <a:t>Школа информатики, физики и технологий</a:t>
            </a:r>
            <a:endParaRPr sz="800"/>
          </a:p>
        </p:txBody>
      </p:sp>
      <p:sp>
        <p:nvSpPr>
          <p:cNvPr id="4" name="Text 1">
            <a:extLst xmlns:a="http://schemas.openxmlformats.org/drawingml/2006/main">
              <a:ext uri="{FF2B5EF4-FFF2-40B4-BE49-F238E27FC236}">
                <a16:creationId xmlns:a16="http://schemas.microsoft.com/office/drawing/2014/main" id="{8C890C07-36EF-4C28-BA33-41C1FD228DC5}"/>
              </a:ext>
            </a:extLst>
          </p:cNvPr>
          <p:cNvSpPr>
            <a:spLocks xmlns:a="http://schemas.openxmlformats.org/drawingml/2006/main" noGrp="1"/>
          </p:cNvSpPr>
          <p:nvPr/>
        </p:nvSpPr>
        <p:spPr>
          <a:xfrm xmlns:a="http://schemas.openxmlformats.org/drawingml/2006/main">
            <a:off x="2834640" y="201168"/>
            <a:ext cx="29260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0E2D69"/>
                </a:solidFill>
                <a:latin typeface="Arial"/>
                <a:ea typeface="Arial"/>
                <a:cs typeface="Arial"/>
              </a:rPr>
              <a:t>Рекомендательная система на основе поведенческих эмбеддингов</a:t>
            </a:r>
            <a:endParaRPr sz="800"/>
          </a:p>
        </p:txBody>
      </p:sp>
      <p:sp>
        <p:nvSpPr>
          <p:cNvPr id="5" name="Text 2">
            <a:extLst xmlns:a="http://schemas.openxmlformats.org/drawingml/2006/main">
              <a:ext uri="{FF2B5EF4-FFF2-40B4-BE49-F238E27FC236}">
                <a16:creationId xmlns:a16="http://schemas.microsoft.com/office/drawing/2014/main" id="{E5B3B5E9-00A1-4BF8-8D2F-46F110724353}"/>
              </a:ext>
            </a:extLst>
          </p:cNvPr>
          <p:cNvSpPr>
            <a:spLocks xmlns:a="http://schemas.openxmlformats.org/drawingml/2006/main" noGrp="1"/>
          </p:cNvSpPr>
          <p:nvPr/>
        </p:nvSpPr>
        <p:spPr>
          <a:xfrm xmlns:a="http://schemas.openxmlformats.org/drawingml/2006/main">
            <a:off x="5989320" y="201168"/>
            <a:ext cx="18288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defPPr algn="l">
              <a:defRPr sz="900">
                <a:solidFill>
                  <a:srgbClr val="173773"/>
                </a:solidFill>
                <a:latin typeface="Arial"/>
                <a:ea typeface="Arial"/>
                <a:cs typeface="Arial"/>
              </a:defRPr>
            </a:defPPr>
          </a:lstStyle>
          <a:p xmlns:a="http://schemas.openxmlformats.org/drawingml/2006/main">
            <a:pPr marL="0" indent="0" algn="l">
              <a:buNone/>
            </a:pPr>
            <a:r>
              <a:rPr sz="900">
                <a:solidFill>
                  <a:srgbClr val="173773"/>
                </a:solidFill>
                <a:latin typeface="Arial"/>
                <a:ea typeface="Arial"/>
                <a:cs typeface="Arial"/>
              </a:rPr>
              <a:t>Модель</a:t>
            </a:r>
            <a:endParaRPr sz="800"/>
          </a:p>
        </p:txBody>
      </p:sp>
      <p:sp>
        <p:nvSpPr>
          <p:cNvPr id="6" name="Shape 3">
            <a:extLst xmlns:a="http://schemas.openxmlformats.org/drawingml/2006/main">
              <a:ext uri="{FF2B5EF4-FFF2-40B4-BE49-F238E27FC236}">
                <a16:creationId xmlns:a16="http://schemas.microsoft.com/office/drawing/2014/main" id="{7200EDEE-8574-4E44-AA11-1F1AB079FD19}"/>
              </a:ext>
            </a:extLst>
          </p:cNvPr>
          <p:cNvSpPr>
            <a:spLocks xmlns:a="http://schemas.openxmlformats.org/drawingml/2006/main" noGrp="1"/>
          </p:cNvSpPr>
          <p:nvPr/>
        </p:nvSpPr>
        <p:spPr>
          <a:xfrm xmlns:a="http://schemas.openxmlformats.org/drawingml/2006/main">
            <a:off x="2697480" y="182880"/>
            <a:ext cx="0" cy="457200"/>
          </a:xfrm>
          <a:prstGeom xmlns:a="http://schemas.openxmlformats.org/drawingml/2006/main" prst="line">
            <a:avLst/>
          </a:prstGeom>
          <a:noFill xmlns:a="http://schemas.openxmlformats.org/drawingml/2006/main"/>
          <a:ln xmlns:a="http://schemas.openxmlformats.org/drawingml/2006/main" w="19050">
            <a:solidFill>
              <a:srgbClr val="0E2D69"/>
            </a:solidFill>
            <a:prstDash val="solid"/>
          </a:ln>
        </p:spPr>
      </p:sp>
      <p:sp>
        <p:nvSpPr>
          <p:cNvPr id="7" name="Shape 4">
            <a:extLst xmlns:a="http://schemas.openxmlformats.org/drawingml/2006/main">
              <a:ext uri="{FF2B5EF4-FFF2-40B4-BE49-F238E27FC236}">
                <a16:creationId xmlns:a16="http://schemas.microsoft.com/office/drawing/2014/main" id="{2A19C589-936C-4781-8A11-3E6A57725958}"/>
              </a:ext>
            </a:extLst>
          </p:cNvPr>
          <p:cNvSpPr>
            <a:spLocks xmlns:a="http://schemas.openxmlformats.org/drawingml/2006/main" noGrp="1"/>
          </p:cNvSpPr>
          <p:nvPr/>
        </p:nvSpPr>
        <p:spPr>
          <a:xfrm xmlns:a="http://schemas.openxmlformats.org/drawingml/2006/main">
            <a:off x="5852160" y="182880"/>
            <a:ext cx="0" cy="457200"/>
          </a:xfrm>
          <a:prstGeom xmlns:a="http://schemas.openxmlformats.org/drawingml/2006/main" prst="line">
            <a:avLst/>
          </a:prstGeom>
          <a:noFill xmlns:a="http://schemas.openxmlformats.org/drawingml/2006/main"/>
          <a:ln xmlns:a="http://schemas.openxmlformats.org/drawingml/2006/main" w="19050">
            <a:solidFill>
              <a:srgbClr val="0E2D69"/>
            </a:solidFill>
            <a:prstDash val="solid"/>
          </a:ln>
        </p:spPr>
      </p:sp>
      <p:sp>
        <p:nvSpPr>
          <p:cNvPr id="8" name="Shape 5">
            <a:extLst xmlns:a="http://schemas.openxmlformats.org/drawingml/2006/main">
              <a:ext uri="{FF2B5EF4-FFF2-40B4-BE49-F238E27FC236}">
                <a16:creationId xmlns:a16="http://schemas.microsoft.com/office/drawing/2014/main" id="{E0421055-8512-43D9-A270-812596D7DE4A}"/>
              </a:ext>
            </a:extLst>
          </p:cNvPr>
          <p:cNvSpPr>
            <a:spLocks xmlns:a="http://schemas.openxmlformats.org/drawingml/2006/main" noGrp="1"/>
          </p:cNvSpPr>
          <p:nvPr/>
        </p:nvSpPr>
        <p:spPr>
          <a:xfrm xmlns:a="http://schemas.openxmlformats.org/drawingml/2006/main">
            <a:off x="7909560" y="182880"/>
            <a:ext cx="0" cy="457200"/>
          </a:xfrm>
          <a:prstGeom xmlns:a="http://schemas.openxmlformats.org/drawingml/2006/main" prst="line">
            <a:avLst/>
          </a:prstGeom>
          <a:noFill xmlns:a="http://schemas.openxmlformats.org/drawingml/2006/main"/>
          <a:ln xmlns:a="http://schemas.openxmlformats.org/drawingml/2006/main" w="19050">
            <a:solidFill>
              <a:srgbClr val="0E2D69"/>
            </a:solidFill>
            <a:prstDash val="solid"/>
          </a:ln>
        </p:spPr>
      </p:sp>
      <p:sp>
        <p:nvSpPr>
          <p:cNvPr id="9" name="Text 6">
            <a:extLst xmlns:a="http://schemas.openxmlformats.org/drawingml/2006/main">
              <a:ext uri="{FF2B5EF4-FFF2-40B4-BE49-F238E27FC236}">
                <a16:creationId xmlns:a16="http://schemas.microsoft.com/office/drawing/2014/main" id="{6787D9BD-4B51-48FF-AA06-7BD834C5A95E}"/>
              </a:ext>
            </a:extLst>
          </p:cNvPr>
          <p:cNvSpPr>
            <a:spLocks xmlns:a="http://schemas.openxmlformats.org/drawingml/2006/main" noGrp="1"/>
          </p:cNvSpPr>
          <p:nvPr/>
        </p:nvSpPr>
        <p:spPr>
          <a:xfrm xmlns:a="http://schemas.openxmlformats.org/drawingml/2006/main">
            <a:off x="365760" y="777240"/>
            <a:ext cx="84124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b="1">
                <a:solidFill>
                  <a:srgbClr val="0E2D69"/>
                </a:solidFill>
                <a:latin typeface="Arial"/>
                <a:ea typeface="Arial"/>
                <a:cs typeface="Arial"/>
              </a:rPr>
              <a:t>Архитектура модели</a:t>
            </a:r>
            <a:endParaRPr sz="2400"/>
          </a:p>
        </p:txBody>
      </p:sp>
      <p:sp>
        <p:nvSpPr>
          <p:cNvPr id="11" name="Shape 7">
            <a:extLst xmlns:a="http://schemas.openxmlformats.org/drawingml/2006/main">
              <a:ext uri="{FF2B5EF4-FFF2-40B4-BE49-F238E27FC236}">
                <a16:creationId xmlns:a16="http://schemas.microsoft.com/office/drawing/2014/main" id="{0FF226BE-8814-4F40-BCF5-2AC718E66E46}"/>
              </a:ext>
            </a:extLst>
          </p:cNvPr>
          <p:cNvSpPr>
            <a:spLocks xmlns:a="http://schemas.openxmlformats.org/drawingml/2006/main" noGrp="1"/>
          </p:cNvSpPr>
          <p:nvPr/>
        </p:nvSpPr>
        <p:spPr>
          <a:xfrm xmlns:a="http://schemas.openxmlformats.org/drawingml/2006/main">
            <a:off x="365760" y="1508760"/>
            <a:ext cx="1219200" cy="1417320"/>
          </a:xfrm>
          <a:prstGeom xmlns:a="http://schemas.openxmlformats.org/drawingml/2006/main" prst="roundRect">
            <a:avLst>
              <a:gd name="adj" fmla="val 6000"/>
            </a:avLst>
          </a:prstGeom>
          <a:solidFill xmlns:a="http://schemas.openxmlformats.org/drawingml/2006/main">
            <a:srgbClr val="EAF0FA"/>
          </a:solidFill>
          <a:ln xmlns:a="http://schemas.openxmlformats.org/drawingml/2006/main" w="12700">
            <a:solidFill>
              <a:srgbClr val="EAF0FA"/>
            </a:solidFill>
            <a:prstDash val="solid"/>
          </a:ln>
        </p:spPr>
      </p:sp>
      <p:sp>
        <p:nvSpPr>
          <p:cNvPr id="12" name="Text 8">
            <a:extLst xmlns:a="http://schemas.openxmlformats.org/drawingml/2006/main">
              <a:ext uri="{FF2B5EF4-FFF2-40B4-BE49-F238E27FC236}">
                <a16:creationId xmlns:a16="http://schemas.microsoft.com/office/drawing/2014/main" id="{FA434F73-0983-42C9-8949-A27C9B474796}"/>
              </a:ext>
            </a:extLst>
          </p:cNvPr>
          <p:cNvSpPr>
            <a:spLocks xmlns:a="http://schemas.openxmlformats.org/drawingml/2006/main" noGrp="1"/>
          </p:cNvSpPr>
          <p:nvPr/>
        </p:nvSpPr>
        <p:spPr>
          <a:xfrm xmlns:a="http://schemas.openxmlformats.org/drawingml/2006/main">
            <a:off x="438912" y="1600200"/>
            <a:ext cx="107289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0E2D69"/>
                </a:solidFill>
                <a:latin typeface="Arial"/>
                <a:ea typeface="Arial"/>
                <a:cs typeface="Arial"/>
              </a:rPr>
              <a:t>Событие</a:t>
            </a:r>
            <a:endParaRPr sz="1300"/>
          </a:p>
        </p:txBody>
      </p:sp>
      <p:sp>
        <p:nvSpPr>
          <p:cNvPr id="13" name="Text 9">
            <a:extLst xmlns:a="http://schemas.openxmlformats.org/drawingml/2006/main">
              <a:ext uri="{FF2B5EF4-FFF2-40B4-BE49-F238E27FC236}">
                <a16:creationId xmlns:a16="http://schemas.microsoft.com/office/drawing/2014/main" id="{9ACC2890-8F7C-473E-A41A-90A7276E3ED2}"/>
              </a:ext>
            </a:extLst>
          </p:cNvPr>
          <p:cNvSpPr>
            <a:spLocks xmlns:a="http://schemas.openxmlformats.org/drawingml/2006/main" noGrp="1"/>
          </p:cNvSpPr>
          <p:nvPr/>
        </p:nvSpPr>
        <p:spPr>
          <a:xfrm xmlns:a="http://schemas.openxmlformats.org/drawingml/2006/main">
            <a:off x="438912" y="2057400"/>
            <a:ext cx="1072896"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a:solidFill>
                  <a:srgbClr val="0E2D69"/>
                </a:solidFill>
                <a:latin typeface="Arial"/>
                <a:ea typeface="Arial"/>
                <a:cs typeface="Arial"/>
              </a:rPr>
              <a:t>категория, тип действия, позиция, давность</a:t>
            </a:r>
            <a:endParaRPr sz="1100"/>
          </a:p>
        </p:txBody>
      </p:sp>
      <p:sp>
        <p:nvSpPr>
          <p:cNvPr id="14" name="Text 10">
            <a:extLst xmlns:a="http://schemas.openxmlformats.org/drawingml/2006/main">
              <a:ext uri="{FF2B5EF4-FFF2-40B4-BE49-F238E27FC236}">
                <a16:creationId xmlns:a16="http://schemas.microsoft.com/office/drawing/2014/main" id="{CE2DB04C-046A-41C5-A5FB-5902D086C8EE}"/>
              </a:ext>
            </a:extLst>
          </p:cNvPr>
          <p:cNvSpPr>
            <a:spLocks xmlns:a="http://schemas.openxmlformats.org/drawingml/2006/main" noGrp="1"/>
          </p:cNvSpPr>
          <p:nvPr/>
        </p:nvSpPr>
        <p:spPr>
          <a:xfrm xmlns:a="http://schemas.openxmlformats.org/drawingml/2006/main">
            <a:off x="1584960" y="2011680"/>
            <a:ext cx="219456"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600" b="1">
                <a:solidFill>
                  <a:srgbClr val="244A9A"/>
                </a:solidFill>
                <a:latin typeface="Arial"/>
                <a:ea typeface="Arial"/>
                <a:cs typeface="Arial"/>
              </a:rPr>
              <a:t>→</a:t>
            </a:r>
            <a:endParaRPr sz="1600"/>
          </a:p>
        </p:txBody>
      </p:sp>
      <p:sp>
        <p:nvSpPr>
          <p:cNvPr id="15" name="Shape 11">
            <a:extLst xmlns:a="http://schemas.openxmlformats.org/drawingml/2006/main">
              <a:ext uri="{FF2B5EF4-FFF2-40B4-BE49-F238E27FC236}">
                <a16:creationId xmlns:a16="http://schemas.microsoft.com/office/drawing/2014/main" id="{5FC4E0B3-28C3-495C-9518-C892CE2B9F7F}"/>
              </a:ext>
            </a:extLst>
          </p:cNvPr>
          <p:cNvSpPr>
            <a:spLocks xmlns:a="http://schemas.openxmlformats.org/drawingml/2006/main" noGrp="1"/>
          </p:cNvSpPr>
          <p:nvPr/>
        </p:nvSpPr>
        <p:spPr>
          <a:xfrm xmlns:a="http://schemas.openxmlformats.org/drawingml/2006/main">
            <a:off x="1804416" y="1508760"/>
            <a:ext cx="1219200" cy="1417320"/>
          </a:xfrm>
          <a:prstGeom xmlns:a="http://schemas.openxmlformats.org/drawingml/2006/main" prst="roundRect">
            <a:avLst>
              <a:gd name="adj" fmla="val 6000"/>
            </a:avLst>
          </a:prstGeom>
          <a:solidFill xmlns:a="http://schemas.openxmlformats.org/drawingml/2006/main">
            <a:srgbClr val="EAF0FA"/>
          </a:solidFill>
          <a:ln xmlns:a="http://schemas.openxmlformats.org/drawingml/2006/main" w="12700">
            <a:solidFill>
              <a:srgbClr val="EAF0FA"/>
            </a:solidFill>
            <a:prstDash val="solid"/>
          </a:ln>
        </p:spPr>
      </p:sp>
      <p:sp>
        <p:nvSpPr>
          <p:cNvPr id="16" name="Text 12">
            <a:extLst xmlns:a="http://schemas.openxmlformats.org/drawingml/2006/main">
              <a:ext uri="{FF2B5EF4-FFF2-40B4-BE49-F238E27FC236}">
                <a16:creationId xmlns:a16="http://schemas.microsoft.com/office/drawing/2014/main" id="{DBC19270-8418-4209-9A13-533ADE694C7C}"/>
              </a:ext>
            </a:extLst>
          </p:cNvPr>
          <p:cNvSpPr>
            <a:spLocks xmlns:a="http://schemas.openxmlformats.org/drawingml/2006/main" noGrp="1"/>
          </p:cNvSpPr>
          <p:nvPr/>
        </p:nvSpPr>
        <p:spPr>
          <a:xfrm xmlns:a="http://schemas.openxmlformats.org/drawingml/2006/main">
            <a:off x="1877568" y="1600200"/>
            <a:ext cx="107289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0E2D69"/>
                </a:solidFill>
                <a:latin typeface="Arial"/>
                <a:ea typeface="Arial"/>
                <a:cs typeface="Arial"/>
              </a:rPr>
              <a:t>Сумма</a:t>
            </a:r>
            <a:endParaRPr sz="1300"/>
          </a:p>
        </p:txBody>
      </p:sp>
      <p:sp>
        <p:nvSpPr>
          <p:cNvPr id="17" name="Text 13">
            <a:extLst xmlns:a="http://schemas.openxmlformats.org/drawingml/2006/main">
              <a:ext uri="{FF2B5EF4-FFF2-40B4-BE49-F238E27FC236}">
                <a16:creationId xmlns:a16="http://schemas.microsoft.com/office/drawing/2014/main" id="{D56C48DE-6550-48E1-A086-6E6F12B2065D}"/>
              </a:ext>
            </a:extLst>
          </p:cNvPr>
          <p:cNvSpPr>
            <a:spLocks xmlns:a="http://schemas.openxmlformats.org/drawingml/2006/main" noGrp="1"/>
          </p:cNvSpPr>
          <p:nvPr/>
        </p:nvSpPr>
        <p:spPr>
          <a:xfrm xmlns:a="http://schemas.openxmlformats.org/drawingml/2006/main">
            <a:off x="1877568" y="2057400"/>
            <a:ext cx="1072896"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a:solidFill>
                  <a:srgbClr val="0E2D69"/>
                </a:solidFill>
                <a:latin typeface="Arial"/>
                <a:ea typeface="Arial"/>
                <a:cs typeface="Arial"/>
              </a:rPr>
              <a:t>четырёх обучаемых векторов</a:t>
            </a:r>
            <a:endParaRPr sz="1100"/>
          </a:p>
        </p:txBody>
      </p:sp>
      <p:sp>
        <p:nvSpPr>
          <p:cNvPr id="18" name="Text 14">
            <a:extLst xmlns:a="http://schemas.openxmlformats.org/drawingml/2006/main">
              <a:ext uri="{FF2B5EF4-FFF2-40B4-BE49-F238E27FC236}">
                <a16:creationId xmlns:a16="http://schemas.microsoft.com/office/drawing/2014/main" id="{522B9916-459C-4B71-9ABB-B083914C60AE}"/>
              </a:ext>
            </a:extLst>
          </p:cNvPr>
          <p:cNvSpPr>
            <a:spLocks xmlns:a="http://schemas.openxmlformats.org/drawingml/2006/main" noGrp="1"/>
          </p:cNvSpPr>
          <p:nvPr/>
        </p:nvSpPr>
        <p:spPr>
          <a:xfrm xmlns:a="http://schemas.openxmlformats.org/drawingml/2006/main">
            <a:off x="3023616" y="2011680"/>
            <a:ext cx="219456"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600" b="1">
                <a:solidFill>
                  <a:srgbClr val="244A9A"/>
                </a:solidFill>
                <a:latin typeface="Arial"/>
                <a:ea typeface="Arial"/>
                <a:cs typeface="Arial"/>
              </a:rPr>
              <a:t>→</a:t>
            </a:r>
            <a:endParaRPr sz="1600"/>
          </a:p>
        </p:txBody>
      </p:sp>
      <p:sp>
        <p:nvSpPr>
          <p:cNvPr id="19" name="Shape 15">
            <a:extLst xmlns:a="http://schemas.openxmlformats.org/drawingml/2006/main">
              <a:ext uri="{FF2B5EF4-FFF2-40B4-BE49-F238E27FC236}">
                <a16:creationId xmlns:a16="http://schemas.microsoft.com/office/drawing/2014/main" id="{2D981BF5-BC1C-4CC9-BFB2-614A5314405F}"/>
              </a:ext>
            </a:extLst>
          </p:cNvPr>
          <p:cNvSpPr>
            <a:spLocks xmlns:a="http://schemas.openxmlformats.org/drawingml/2006/main" noGrp="1"/>
          </p:cNvSpPr>
          <p:nvPr/>
        </p:nvSpPr>
        <p:spPr>
          <a:xfrm xmlns:a="http://schemas.openxmlformats.org/drawingml/2006/main">
            <a:off x="3243072" y="1508760"/>
            <a:ext cx="1219200" cy="1417320"/>
          </a:xfrm>
          <a:prstGeom xmlns:a="http://schemas.openxmlformats.org/drawingml/2006/main" prst="roundRect">
            <a:avLst>
              <a:gd name="adj" fmla="val 6000"/>
            </a:avLst>
          </a:prstGeom>
          <a:solidFill xmlns:a="http://schemas.openxmlformats.org/drawingml/2006/main">
            <a:srgbClr val="EAF0FA"/>
          </a:solidFill>
          <a:ln xmlns:a="http://schemas.openxmlformats.org/drawingml/2006/main" w="12700">
            <a:solidFill>
              <a:srgbClr val="EAF0FA"/>
            </a:solidFill>
            <a:prstDash val="solid"/>
          </a:ln>
        </p:spPr>
      </p:sp>
      <p:sp>
        <p:nvSpPr>
          <p:cNvPr id="20" name="Text 16">
            <a:extLst xmlns:a="http://schemas.openxmlformats.org/drawingml/2006/main">
              <a:ext uri="{FF2B5EF4-FFF2-40B4-BE49-F238E27FC236}">
                <a16:creationId xmlns:a16="http://schemas.microsoft.com/office/drawing/2014/main" id="{1E4185E5-3B4E-4295-A4E5-1B597DEA290D}"/>
              </a:ext>
            </a:extLst>
          </p:cNvPr>
          <p:cNvSpPr>
            <a:spLocks xmlns:a="http://schemas.openxmlformats.org/drawingml/2006/main" noGrp="1"/>
          </p:cNvSpPr>
          <p:nvPr/>
        </p:nvSpPr>
        <p:spPr>
          <a:xfrm xmlns:a="http://schemas.openxmlformats.org/drawingml/2006/main">
            <a:off x="3316224" y="1600200"/>
            <a:ext cx="107289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0E2D69"/>
                </a:solidFill>
                <a:latin typeface="Arial"/>
                <a:ea typeface="Arial"/>
                <a:cs typeface="Arial"/>
              </a:rPr>
              <a:t>Transformer</a:t>
            </a:r>
            <a:endParaRPr sz="1300"/>
          </a:p>
        </p:txBody>
      </p:sp>
      <p:sp>
        <p:nvSpPr>
          <p:cNvPr id="21" name="Text 17">
            <a:extLst xmlns:a="http://schemas.openxmlformats.org/drawingml/2006/main">
              <a:ext uri="{FF2B5EF4-FFF2-40B4-BE49-F238E27FC236}">
                <a16:creationId xmlns:a16="http://schemas.microsoft.com/office/drawing/2014/main" id="{A712EBDF-4694-4082-913F-35CCBFF7BE17}"/>
              </a:ext>
            </a:extLst>
          </p:cNvPr>
          <p:cNvSpPr>
            <a:spLocks xmlns:a="http://schemas.openxmlformats.org/drawingml/2006/main" noGrp="1"/>
          </p:cNvSpPr>
          <p:nvPr/>
        </p:nvSpPr>
        <p:spPr>
          <a:xfrm xmlns:a="http://schemas.openxmlformats.org/drawingml/2006/main">
            <a:off x="3316224" y="2057400"/>
            <a:ext cx="1072896"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a:solidFill>
                  <a:srgbClr val="0E2D69"/>
                </a:solidFill>
                <a:latin typeface="Arial"/>
                <a:ea typeface="Arial"/>
                <a:cs typeface="Arial"/>
              </a:rPr>
              <a:t>2 слоя, 4 головы внимания</a:t>
            </a:r>
            <a:endParaRPr sz="1100"/>
          </a:p>
        </p:txBody>
      </p:sp>
      <p:sp>
        <p:nvSpPr>
          <p:cNvPr id="22" name="Text 18">
            <a:extLst xmlns:a="http://schemas.openxmlformats.org/drawingml/2006/main">
              <a:ext uri="{FF2B5EF4-FFF2-40B4-BE49-F238E27FC236}">
                <a16:creationId xmlns:a16="http://schemas.microsoft.com/office/drawing/2014/main" id="{CF9588F7-DFC6-4162-920E-F84258D7A136}"/>
              </a:ext>
            </a:extLst>
          </p:cNvPr>
          <p:cNvSpPr>
            <a:spLocks xmlns:a="http://schemas.openxmlformats.org/drawingml/2006/main" noGrp="1"/>
          </p:cNvSpPr>
          <p:nvPr/>
        </p:nvSpPr>
        <p:spPr>
          <a:xfrm xmlns:a="http://schemas.openxmlformats.org/drawingml/2006/main">
            <a:off x="4462272" y="2011680"/>
            <a:ext cx="219456"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600" b="1">
                <a:solidFill>
                  <a:srgbClr val="244A9A"/>
                </a:solidFill>
                <a:latin typeface="Arial"/>
                <a:ea typeface="Arial"/>
                <a:cs typeface="Arial"/>
              </a:rPr>
              <a:t>→</a:t>
            </a:r>
            <a:endParaRPr sz="1600"/>
          </a:p>
        </p:txBody>
      </p:sp>
      <p:sp>
        <p:nvSpPr>
          <p:cNvPr id="23" name="Shape 19">
            <a:extLst xmlns:a="http://schemas.openxmlformats.org/drawingml/2006/main">
              <a:ext uri="{FF2B5EF4-FFF2-40B4-BE49-F238E27FC236}">
                <a16:creationId xmlns:a16="http://schemas.microsoft.com/office/drawing/2014/main" id="{076E8AFD-DDA8-4D6F-B2D9-3744794FA062}"/>
              </a:ext>
            </a:extLst>
          </p:cNvPr>
          <p:cNvSpPr>
            <a:spLocks xmlns:a="http://schemas.openxmlformats.org/drawingml/2006/main" noGrp="1"/>
          </p:cNvSpPr>
          <p:nvPr/>
        </p:nvSpPr>
        <p:spPr>
          <a:xfrm xmlns:a="http://schemas.openxmlformats.org/drawingml/2006/main">
            <a:off x="4681728" y="1508760"/>
            <a:ext cx="1219200" cy="1417320"/>
          </a:xfrm>
          <a:prstGeom xmlns:a="http://schemas.openxmlformats.org/drawingml/2006/main" prst="roundRect">
            <a:avLst>
              <a:gd name="adj" fmla="val 6000"/>
            </a:avLst>
          </a:prstGeom>
          <a:solidFill xmlns:a="http://schemas.openxmlformats.org/drawingml/2006/main">
            <a:srgbClr val="244A9A"/>
          </a:solidFill>
          <a:ln xmlns:a="http://schemas.openxmlformats.org/drawingml/2006/main" w="12700">
            <a:solidFill>
              <a:srgbClr val="244A9A"/>
            </a:solidFill>
            <a:prstDash val="solid"/>
          </a:ln>
        </p:spPr>
      </p:sp>
      <p:sp>
        <p:nvSpPr>
          <p:cNvPr id="24" name="Text 20">
            <a:extLst xmlns:a="http://schemas.openxmlformats.org/drawingml/2006/main">
              <a:ext uri="{FF2B5EF4-FFF2-40B4-BE49-F238E27FC236}">
                <a16:creationId xmlns:a16="http://schemas.microsoft.com/office/drawing/2014/main" id="{C0C94E68-D8A3-4E01-9EBC-469EF78723B2}"/>
              </a:ext>
            </a:extLst>
          </p:cNvPr>
          <p:cNvSpPr>
            <a:spLocks xmlns:a="http://schemas.openxmlformats.org/drawingml/2006/main" noGrp="1"/>
          </p:cNvSpPr>
          <p:nvPr/>
        </p:nvSpPr>
        <p:spPr>
          <a:xfrm xmlns:a="http://schemas.openxmlformats.org/drawingml/2006/main">
            <a:off x="4754880" y="1600200"/>
            <a:ext cx="107289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Arial"/>
                <a:ea typeface="Arial"/>
                <a:cs typeface="Arial"/>
              </a:rPr>
              <a:t>Два эмбеддинга</a:t>
            </a:r>
            <a:endParaRPr sz="1300"/>
          </a:p>
        </p:txBody>
      </p:sp>
      <p:sp>
        <p:nvSpPr>
          <p:cNvPr id="25" name="Text 21">
            <a:extLst xmlns:a="http://schemas.openxmlformats.org/drawingml/2006/main">
              <a:ext uri="{FF2B5EF4-FFF2-40B4-BE49-F238E27FC236}">
                <a16:creationId xmlns:a16="http://schemas.microsoft.com/office/drawing/2014/main" id="{B23FE9DA-742A-4F43-9143-CD51175DFDC5}"/>
              </a:ext>
            </a:extLst>
          </p:cNvPr>
          <p:cNvSpPr>
            <a:spLocks xmlns:a="http://schemas.openxmlformats.org/drawingml/2006/main" noGrp="1"/>
          </p:cNvSpPr>
          <p:nvPr/>
        </p:nvSpPr>
        <p:spPr>
          <a:xfrm xmlns:a="http://schemas.openxmlformats.org/drawingml/2006/main">
            <a:off x="4754880" y="2057400"/>
            <a:ext cx="1072896"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a:solidFill>
                  <a:srgbClr val="FFFFFF"/>
                </a:solidFill>
                <a:latin typeface="Arial"/>
                <a:ea typeface="Arial"/>
                <a:cs typeface="Arial"/>
              </a:rPr>
              <a:t>пользователя</a:t>
            </a:r>
            <a:endParaRPr sz="1100"/>
          </a:p>
        </p:txBody>
      </p:sp>
      <p:sp>
        <p:nvSpPr>
          <p:cNvPr id="26" name="Text 22">
            <a:extLst xmlns:a="http://schemas.openxmlformats.org/drawingml/2006/main">
              <a:ext uri="{FF2B5EF4-FFF2-40B4-BE49-F238E27FC236}">
                <a16:creationId xmlns:a16="http://schemas.microsoft.com/office/drawing/2014/main" id="{B5676138-C2D8-4A2B-B96A-4097E0B9A64D}"/>
              </a:ext>
            </a:extLst>
          </p:cNvPr>
          <p:cNvSpPr>
            <a:spLocks xmlns:a="http://schemas.openxmlformats.org/drawingml/2006/main" noGrp="1"/>
          </p:cNvSpPr>
          <p:nvPr/>
        </p:nvSpPr>
        <p:spPr>
          <a:xfrm xmlns:a="http://schemas.openxmlformats.org/drawingml/2006/main">
            <a:off x="5900928" y="2011680"/>
            <a:ext cx="219456"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600" b="1">
                <a:solidFill>
                  <a:srgbClr val="244A9A"/>
                </a:solidFill>
                <a:latin typeface="Arial"/>
                <a:ea typeface="Arial"/>
                <a:cs typeface="Arial"/>
              </a:rPr>
              <a:t>→</a:t>
            </a:r>
            <a:endParaRPr sz="1600"/>
          </a:p>
        </p:txBody>
      </p:sp>
      <p:sp>
        <p:nvSpPr>
          <p:cNvPr id="27" name="Shape 23">
            <a:extLst xmlns:a="http://schemas.openxmlformats.org/drawingml/2006/main">
              <a:ext uri="{FF2B5EF4-FFF2-40B4-BE49-F238E27FC236}">
                <a16:creationId xmlns:a16="http://schemas.microsoft.com/office/drawing/2014/main" id="{F7E423A4-2913-4808-B295-03BF1273F519}"/>
              </a:ext>
            </a:extLst>
          </p:cNvPr>
          <p:cNvSpPr>
            <a:spLocks xmlns:a="http://schemas.openxmlformats.org/drawingml/2006/main" noGrp="1"/>
          </p:cNvSpPr>
          <p:nvPr/>
        </p:nvSpPr>
        <p:spPr>
          <a:xfrm xmlns:a="http://schemas.openxmlformats.org/drawingml/2006/main">
            <a:off x="6120384" y="1508760"/>
            <a:ext cx="1219200" cy="1417320"/>
          </a:xfrm>
          <a:prstGeom xmlns:a="http://schemas.openxmlformats.org/drawingml/2006/main" prst="roundRect">
            <a:avLst>
              <a:gd name="adj" fmla="val 6000"/>
            </a:avLst>
          </a:prstGeom>
          <a:solidFill xmlns:a="http://schemas.openxmlformats.org/drawingml/2006/main">
            <a:srgbClr val="EAF0FA"/>
          </a:solidFill>
          <a:ln xmlns:a="http://schemas.openxmlformats.org/drawingml/2006/main" w="12700">
            <a:solidFill>
              <a:srgbClr val="EAF0FA"/>
            </a:solidFill>
            <a:prstDash val="solid"/>
          </a:ln>
        </p:spPr>
      </p:sp>
      <p:sp>
        <p:nvSpPr>
          <p:cNvPr id="28" name="Text 24">
            <a:extLst xmlns:a="http://schemas.openxmlformats.org/drawingml/2006/main">
              <a:ext uri="{FF2B5EF4-FFF2-40B4-BE49-F238E27FC236}">
                <a16:creationId xmlns:a16="http://schemas.microsoft.com/office/drawing/2014/main" id="{F6B8EBE0-97F9-4150-A88E-569AA410BAFA}"/>
              </a:ext>
            </a:extLst>
          </p:cNvPr>
          <p:cNvSpPr>
            <a:spLocks xmlns:a="http://schemas.openxmlformats.org/drawingml/2006/main" noGrp="1"/>
          </p:cNvSpPr>
          <p:nvPr/>
        </p:nvSpPr>
        <p:spPr>
          <a:xfrm xmlns:a="http://schemas.openxmlformats.org/drawingml/2006/main">
            <a:off x="6193536" y="1600200"/>
            <a:ext cx="107289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0E2D69"/>
                </a:solidFill>
                <a:latin typeface="Arial"/>
                <a:ea typeface="Arial"/>
                <a:cs typeface="Arial"/>
              </a:rPr>
              <a:t>Сравнение</a:t>
            </a:r>
            <a:endParaRPr sz="1300"/>
          </a:p>
        </p:txBody>
      </p:sp>
      <p:sp>
        <p:nvSpPr>
          <p:cNvPr id="29" name="Text 25">
            <a:extLst xmlns:a="http://schemas.openxmlformats.org/drawingml/2006/main">
              <a:ext uri="{FF2B5EF4-FFF2-40B4-BE49-F238E27FC236}">
                <a16:creationId xmlns:a16="http://schemas.microsoft.com/office/drawing/2014/main" id="{863B5862-F61A-45A7-9227-7164A849AA92}"/>
              </a:ext>
            </a:extLst>
          </p:cNvPr>
          <p:cNvSpPr>
            <a:spLocks xmlns:a="http://schemas.openxmlformats.org/drawingml/2006/main" noGrp="1"/>
          </p:cNvSpPr>
          <p:nvPr/>
        </p:nvSpPr>
        <p:spPr>
          <a:xfrm xmlns:a="http://schemas.openxmlformats.org/drawingml/2006/main">
            <a:off x="6193536" y="2057400"/>
            <a:ext cx="1072896"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a:solidFill>
                  <a:srgbClr val="0E2D69"/>
                </a:solidFill>
                <a:latin typeface="Arial"/>
                <a:ea typeface="Arial"/>
                <a:cs typeface="Arial"/>
              </a:rPr>
              <a:t>с эмбеддингами 351 категории</a:t>
            </a:r>
            <a:endParaRPr sz="1100"/>
          </a:p>
        </p:txBody>
      </p:sp>
      <p:sp>
        <p:nvSpPr>
          <p:cNvPr id="30" name="Text 26">
            <a:extLst xmlns:a="http://schemas.openxmlformats.org/drawingml/2006/main">
              <a:ext uri="{FF2B5EF4-FFF2-40B4-BE49-F238E27FC236}">
                <a16:creationId xmlns:a16="http://schemas.microsoft.com/office/drawing/2014/main" id="{550A92C3-9FCE-4107-89BF-EB2B585D171F}"/>
              </a:ext>
            </a:extLst>
          </p:cNvPr>
          <p:cNvSpPr>
            <a:spLocks xmlns:a="http://schemas.openxmlformats.org/drawingml/2006/main" noGrp="1"/>
          </p:cNvSpPr>
          <p:nvPr/>
        </p:nvSpPr>
        <p:spPr>
          <a:xfrm xmlns:a="http://schemas.openxmlformats.org/drawingml/2006/main">
            <a:off x="7339584" y="2011680"/>
            <a:ext cx="219456"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600" b="1">
                <a:solidFill>
                  <a:srgbClr val="244A9A"/>
                </a:solidFill>
                <a:latin typeface="Arial"/>
                <a:ea typeface="Arial"/>
                <a:cs typeface="Arial"/>
              </a:rPr>
              <a:t>→</a:t>
            </a:r>
            <a:endParaRPr sz="1600"/>
          </a:p>
        </p:txBody>
      </p:sp>
      <p:sp>
        <p:nvSpPr>
          <p:cNvPr id="31" name="Shape 27">
            <a:extLst xmlns:a="http://schemas.openxmlformats.org/drawingml/2006/main">
              <a:ext uri="{FF2B5EF4-FFF2-40B4-BE49-F238E27FC236}">
                <a16:creationId xmlns:a16="http://schemas.microsoft.com/office/drawing/2014/main" id="{3A41996E-7F61-46A3-9C29-38EC15C3DD4B}"/>
              </a:ext>
            </a:extLst>
          </p:cNvPr>
          <p:cNvSpPr>
            <a:spLocks xmlns:a="http://schemas.openxmlformats.org/drawingml/2006/main" noGrp="1"/>
          </p:cNvSpPr>
          <p:nvPr/>
        </p:nvSpPr>
        <p:spPr>
          <a:xfrm xmlns:a="http://schemas.openxmlformats.org/drawingml/2006/main">
            <a:off x="7559040" y="1508760"/>
            <a:ext cx="1219200" cy="1417320"/>
          </a:xfrm>
          <a:prstGeom xmlns:a="http://schemas.openxmlformats.org/drawingml/2006/main" prst="roundRect">
            <a:avLst>
              <a:gd name="adj" fmla="val 6000"/>
            </a:avLst>
          </a:prstGeom>
          <a:solidFill xmlns:a="http://schemas.openxmlformats.org/drawingml/2006/main">
            <a:srgbClr val="EAF0FA"/>
          </a:solidFill>
          <a:ln xmlns:a="http://schemas.openxmlformats.org/drawingml/2006/main" w="12700">
            <a:solidFill>
              <a:srgbClr val="EAF0FA"/>
            </a:solidFill>
            <a:prstDash val="solid"/>
          </a:ln>
        </p:spPr>
      </p:sp>
      <p:sp>
        <p:nvSpPr>
          <p:cNvPr id="32" name="Text 28">
            <a:extLst xmlns:a="http://schemas.openxmlformats.org/drawingml/2006/main">
              <a:ext uri="{FF2B5EF4-FFF2-40B4-BE49-F238E27FC236}">
                <a16:creationId xmlns:a16="http://schemas.microsoft.com/office/drawing/2014/main" id="{80D8C7EE-BF38-4D50-B110-CF73E154EC45}"/>
              </a:ext>
            </a:extLst>
          </p:cNvPr>
          <p:cNvSpPr>
            <a:spLocks xmlns:a="http://schemas.openxmlformats.org/drawingml/2006/main" noGrp="1"/>
          </p:cNvSpPr>
          <p:nvPr/>
        </p:nvSpPr>
        <p:spPr>
          <a:xfrm xmlns:a="http://schemas.openxmlformats.org/drawingml/2006/main">
            <a:off x="7632192" y="1600200"/>
            <a:ext cx="107289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0E2D69"/>
                </a:solidFill>
                <a:latin typeface="Arial"/>
                <a:ea typeface="Arial"/>
                <a:cs typeface="Arial"/>
              </a:rPr>
              <a:t>Топ-5</a:t>
            </a:r>
            <a:endParaRPr sz="1300"/>
          </a:p>
        </p:txBody>
      </p:sp>
      <p:sp>
        <p:nvSpPr>
          <p:cNvPr id="33" name="Text 29">
            <a:extLst xmlns:a="http://schemas.openxmlformats.org/drawingml/2006/main">
              <a:ext uri="{FF2B5EF4-FFF2-40B4-BE49-F238E27FC236}">
                <a16:creationId xmlns:a16="http://schemas.microsoft.com/office/drawing/2014/main" id="{DA31354A-9E5E-4086-91C2-A942CA51ABB8}"/>
              </a:ext>
            </a:extLst>
          </p:cNvPr>
          <p:cNvSpPr>
            <a:spLocks xmlns:a="http://schemas.openxmlformats.org/drawingml/2006/main" noGrp="1"/>
          </p:cNvSpPr>
          <p:nvPr/>
        </p:nvSpPr>
        <p:spPr>
          <a:xfrm xmlns:a="http://schemas.openxmlformats.org/drawingml/2006/main">
            <a:off x="7632192" y="2057400"/>
            <a:ext cx="1072896"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a:solidFill>
                  <a:srgbClr val="0E2D69"/>
                </a:solidFill>
                <a:latin typeface="Arial"/>
                <a:ea typeface="Arial"/>
                <a:cs typeface="Arial"/>
              </a:rPr>
              <a:t>новых категорий</a:t>
            </a:r>
            <a:endParaRPr sz="1100"/>
          </a:p>
        </p:txBody>
      </p:sp>
      <p:sp>
        <p:nvSpPr>
          <p:cNvPr id="34" name="Shape 30">
            <a:extLst xmlns:a="http://schemas.openxmlformats.org/drawingml/2006/main">
              <a:ext uri="{FF2B5EF4-FFF2-40B4-BE49-F238E27FC236}">
                <a16:creationId xmlns:a16="http://schemas.microsoft.com/office/drawing/2014/main" id="{95E33DD1-6610-48B4-9AC9-2323A2C4F6A0}"/>
              </a:ext>
            </a:extLst>
          </p:cNvPr>
          <p:cNvSpPr>
            <a:spLocks xmlns:a="http://schemas.openxmlformats.org/drawingml/2006/main" noGrp="1"/>
          </p:cNvSpPr>
          <p:nvPr/>
        </p:nvSpPr>
        <p:spPr>
          <a:xfrm xmlns:a="http://schemas.openxmlformats.org/drawingml/2006/main">
            <a:off x="365760" y="3108960"/>
            <a:ext cx="1999793" cy="868680"/>
          </a:xfrm>
          <a:prstGeom xmlns:a="http://schemas.openxmlformats.org/drawingml/2006/main" prst="roundRect">
            <a:avLst>
              <a:gd name="adj" fmla="val 8421"/>
            </a:avLst>
          </a:prstGeom>
          <a:solidFill xmlns:a="http://schemas.openxmlformats.org/drawingml/2006/main">
            <a:srgbClr val="0E2D69"/>
          </a:solidFill>
          <a:ln xmlns:a="http://schemas.openxmlformats.org/drawingml/2006/main" w="12700">
            <a:solidFill>
              <a:srgbClr val="0E2D69"/>
            </a:solidFill>
            <a:prstDash val="solid"/>
          </a:ln>
        </p:spPr>
      </p:sp>
      <p:sp>
        <p:nvSpPr>
          <p:cNvPr id="35" name="Text 31">
            <a:extLst xmlns:a="http://schemas.openxmlformats.org/drawingml/2006/main">
              <a:ext uri="{FF2B5EF4-FFF2-40B4-BE49-F238E27FC236}">
                <a16:creationId xmlns:a16="http://schemas.microsoft.com/office/drawing/2014/main" id="{BA59CE99-86D4-4D3E-B1D3-83C9D99F24F7}"/>
              </a:ext>
            </a:extLst>
          </p:cNvPr>
          <p:cNvSpPr>
            <a:spLocks xmlns:a="http://schemas.openxmlformats.org/drawingml/2006/main" noGrp="1"/>
          </p:cNvSpPr>
          <p:nvPr/>
        </p:nvSpPr>
        <p:spPr>
          <a:xfrm xmlns:a="http://schemas.openxmlformats.org/drawingml/2006/main">
            <a:off x="365760" y="3200400"/>
            <a:ext cx="1999793"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2200" b="1">
                <a:solidFill>
                  <a:srgbClr val="FFFFFF"/>
                </a:solidFill>
                <a:latin typeface="Arial"/>
                <a:ea typeface="Arial"/>
                <a:cs typeface="Arial"/>
              </a:rPr>
              <a:t>d = 128</a:t>
            </a:r>
            <a:endParaRPr sz="2200"/>
          </a:p>
        </p:txBody>
      </p:sp>
      <p:sp>
        <p:nvSpPr>
          <p:cNvPr id="36" name="Text 32">
            <a:extLst xmlns:a="http://schemas.openxmlformats.org/drawingml/2006/main">
              <a:ext uri="{FF2B5EF4-FFF2-40B4-BE49-F238E27FC236}">
                <a16:creationId xmlns:a16="http://schemas.microsoft.com/office/drawing/2014/main" id="{485476CC-1632-43A5-B634-61C1E12EB09E}"/>
              </a:ext>
            </a:extLst>
          </p:cNvPr>
          <p:cNvSpPr>
            <a:spLocks xmlns:a="http://schemas.openxmlformats.org/drawingml/2006/main" noGrp="1"/>
          </p:cNvSpPr>
          <p:nvPr/>
        </p:nvSpPr>
        <p:spPr>
          <a:xfrm xmlns:a="http://schemas.openxmlformats.org/drawingml/2006/main">
            <a:off x="502920" y="3730752"/>
            <a:ext cx="1725473"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a:solidFill>
                  <a:srgbClr val="FFFFFF"/>
                </a:solidFill>
                <a:latin typeface="Arial"/>
                <a:ea typeface="Arial"/>
                <a:cs typeface="Arial"/>
              </a:rPr>
              <a:t>размерность векторов</a:t>
            </a:r>
            <a:endParaRPr sz="1100"/>
          </a:p>
        </p:txBody>
      </p:sp>
      <p:sp>
        <p:nvSpPr>
          <p:cNvPr id="37" name="Shape 33">
            <a:extLst xmlns:a="http://schemas.openxmlformats.org/drawingml/2006/main">
              <a:ext uri="{FF2B5EF4-FFF2-40B4-BE49-F238E27FC236}">
                <a16:creationId xmlns:a16="http://schemas.microsoft.com/office/drawing/2014/main" id="{4F2CAAFF-CDF5-4D02-92FE-165A6501320A}"/>
              </a:ext>
            </a:extLst>
          </p:cNvPr>
          <p:cNvSpPr>
            <a:spLocks xmlns:a="http://schemas.openxmlformats.org/drawingml/2006/main" noGrp="1"/>
          </p:cNvSpPr>
          <p:nvPr/>
        </p:nvSpPr>
        <p:spPr>
          <a:xfrm xmlns:a="http://schemas.openxmlformats.org/drawingml/2006/main">
            <a:off x="2502713" y="3108960"/>
            <a:ext cx="1999793" cy="868680"/>
          </a:xfrm>
          <a:prstGeom xmlns:a="http://schemas.openxmlformats.org/drawingml/2006/main" prst="roundRect">
            <a:avLst>
              <a:gd name="adj" fmla="val 8421"/>
            </a:avLst>
          </a:prstGeom>
          <a:solidFill xmlns:a="http://schemas.openxmlformats.org/drawingml/2006/main">
            <a:srgbClr val="EAF0FA"/>
          </a:solidFill>
          <a:ln xmlns:a="http://schemas.openxmlformats.org/drawingml/2006/main" w="12700">
            <a:solidFill>
              <a:srgbClr val="EAF0FA"/>
            </a:solidFill>
            <a:prstDash val="solid"/>
          </a:ln>
        </p:spPr>
      </p:sp>
      <p:sp>
        <p:nvSpPr>
          <p:cNvPr id="38" name="Text 34">
            <a:extLst xmlns:a="http://schemas.openxmlformats.org/drawingml/2006/main">
              <a:ext uri="{FF2B5EF4-FFF2-40B4-BE49-F238E27FC236}">
                <a16:creationId xmlns:a16="http://schemas.microsoft.com/office/drawing/2014/main" id="{EFE6CBA1-71BD-477B-A898-D059C4E8D06B}"/>
              </a:ext>
            </a:extLst>
          </p:cNvPr>
          <p:cNvSpPr>
            <a:spLocks xmlns:a="http://schemas.openxmlformats.org/drawingml/2006/main" noGrp="1"/>
          </p:cNvSpPr>
          <p:nvPr/>
        </p:nvSpPr>
        <p:spPr>
          <a:xfrm xmlns:a="http://schemas.openxmlformats.org/drawingml/2006/main">
            <a:off x="2502713" y="3200400"/>
            <a:ext cx="1999793"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2200" b="1">
                <a:solidFill>
                  <a:srgbClr val="0E2D69"/>
                </a:solidFill>
                <a:latin typeface="Arial"/>
                <a:ea typeface="Arial"/>
                <a:cs typeface="Arial"/>
              </a:rPr>
              <a:t>2 × 4</a:t>
            </a:r>
            <a:endParaRPr sz="2200"/>
          </a:p>
        </p:txBody>
      </p:sp>
      <p:sp>
        <p:nvSpPr>
          <p:cNvPr id="39" name="Text 35">
            <a:extLst xmlns:a="http://schemas.openxmlformats.org/drawingml/2006/main">
              <a:ext uri="{FF2B5EF4-FFF2-40B4-BE49-F238E27FC236}">
                <a16:creationId xmlns:a16="http://schemas.microsoft.com/office/drawing/2014/main" id="{9FD80698-D115-4510-A3D8-77D501DB8EC8}"/>
              </a:ext>
            </a:extLst>
          </p:cNvPr>
          <p:cNvSpPr>
            <a:spLocks xmlns:a="http://schemas.openxmlformats.org/drawingml/2006/main" noGrp="1"/>
          </p:cNvSpPr>
          <p:nvPr/>
        </p:nvSpPr>
        <p:spPr>
          <a:xfrm xmlns:a="http://schemas.openxmlformats.org/drawingml/2006/main">
            <a:off x="2639873" y="3730752"/>
            <a:ext cx="1725473"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a:solidFill>
                  <a:srgbClr val="0E2D69"/>
                </a:solidFill>
                <a:latin typeface="Arial"/>
                <a:ea typeface="Arial"/>
                <a:cs typeface="Arial"/>
              </a:rPr>
              <a:t>слоя × головы внимания</a:t>
            </a:r>
            <a:endParaRPr sz="1100"/>
          </a:p>
        </p:txBody>
      </p:sp>
      <p:sp>
        <p:nvSpPr>
          <p:cNvPr id="40" name="Shape 36">
            <a:extLst xmlns:a="http://schemas.openxmlformats.org/drawingml/2006/main">
              <a:ext uri="{FF2B5EF4-FFF2-40B4-BE49-F238E27FC236}">
                <a16:creationId xmlns:a16="http://schemas.microsoft.com/office/drawing/2014/main" id="{2A076075-68CB-4C32-8974-6C6F5F4692DB}"/>
              </a:ext>
            </a:extLst>
          </p:cNvPr>
          <p:cNvSpPr>
            <a:spLocks xmlns:a="http://schemas.openxmlformats.org/drawingml/2006/main" noGrp="1"/>
          </p:cNvSpPr>
          <p:nvPr/>
        </p:nvSpPr>
        <p:spPr>
          <a:xfrm xmlns:a="http://schemas.openxmlformats.org/drawingml/2006/main">
            <a:off x="4639666" y="3108960"/>
            <a:ext cx="1999793" cy="868680"/>
          </a:xfrm>
          <a:prstGeom xmlns:a="http://schemas.openxmlformats.org/drawingml/2006/main" prst="roundRect">
            <a:avLst>
              <a:gd name="adj" fmla="val 8421"/>
            </a:avLst>
          </a:prstGeom>
          <a:solidFill xmlns:a="http://schemas.openxmlformats.org/drawingml/2006/main">
            <a:srgbClr val="EAF0FA"/>
          </a:solidFill>
          <a:ln xmlns:a="http://schemas.openxmlformats.org/drawingml/2006/main" w="12700">
            <a:solidFill>
              <a:srgbClr val="EAF0FA"/>
            </a:solidFill>
            <a:prstDash val="solid"/>
          </a:ln>
        </p:spPr>
      </p:sp>
      <p:sp>
        <p:nvSpPr>
          <p:cNvPr id="41" name="Text 37">
            <a:extLst xmlns:a="http://schemas.openxmlformats.org/drawingml/2006/main">
              <a:ext uri="{FF2B5EF4-FFF2-40B4-BE49-F238E27FC236}">
                <a16:creationId xmlns:a16="http://schemas.microsoft.com/office/drawing/2014/main" id="{C548B73C-8A37-4D60-B763-CD4641DD4032}"/>
              </a:ext>
            </a:extLst>
          </p:cNvPr>
          <p:cNvSpPr>
            <a:spLocks xmlns:a="http://schemas.openxmlformats.org/drawingml/2006/main" noGrp="1"/>
          </p:cNvSpPr>
          <p:nvPr/>
        </p:nvSpPr>
        <p:spPr>
          <a:xfrm xmlns:a="http://schemas.openxmlformats.org/drawingml/2006/main">
            <a:off x="4639666" y="3200400"/>
            <a:ext cx="1999793"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2200" b="1">
                <a:solidFill>
                  <a:srgbClr val="0E2D69"/>
                </a:solidFill>
                <a:latin typeface="Arial"/>
                <a:ea typeface="Arial"/>
                <a:cs typeface="Arial"/>
              </a:rPr>
              <a:t>128</a:t>
            </a:r>
            <a:endParaRPr sz="2200"/>
          </a:p>
        </p:txBody>
      </p:sp>
      <p:sp>
        <p:nvSpPr>
          <p:cNvPr id="42" name="Text 38">
            <a:extLst xmlns:a="http://schemas.openxmlformats.org/drawingml/2006/main">
              <a:ext uri="{FF2B5EF4-FFF2-40B4-BE49-F238E27FC236}">
                <a16:creationId xmlns:a16="http://schemas.microsoft.com/office/drawing/2014/main" id="{A9BADB69-0709-4D70-AB07-2446A64AC224}"/>
              </a:ext>
            </a:extLst>
          </p:cNvPr>
          <p:cNvSpPr>
            <a:spLocks xmlns:a="http://schemas.openxmlformats.org/drawingml/2006/main" noGrp="1"/>
          </p:cNvSpPr>
          <p:nvPr/>
        </p:nvSpPr>
        <p:spPr>
          <a:xfrm xmlns:a="http://schemas.openxmlformats.org/drawingml/2006/main">
            <a:off x="4776826" y="3730752"/>
            <a:ext cx="1725473"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a:solidFill>
                  <a:srgbClr val="0E2D69"/>
                </a:solidFill>
                <a:latin typeface="Arial"/>
                <a:ea typeface="Arial"/>
                <a:cs typeface="Arial"/>
              </a:rPr>
              <a:t>максимум событий</a:t>
            </a:r>
            <a:endParaRPr sz="1100"/>
          </a:p>
        </p:txBody>
      </p:sp>
      <p:sp>
        <p:nvSpPr>
          <p:cNvPr id="43" name="Shape 39">
            <a:extLst xmlns:a="http://schemas.openxmlformats.org/drawingml/2006/main">
              <a:ext uri="{FF2B5EF4-FFF2-40B4-BE49-F238E27FC236}">
                <a16:creationId xmlns:a16="http://schemas.microsoft.com/office/drawing/2014/main" id="{66DAEF38-D3EB-4F3E-A21D-E9F27439C243}"/>
              </a:ext>
            </a:extLst>
          </p:cNvPr>
          <p:cNvSpPr>
            <a:spLocks xmlns:a="http://schemas.openxmlformats.org/drawingml/2006/main" noGrp="1"/>
          </p:cNvSpPr>
          <p:nvPr/>
        </p:nvSpPr>
        <p:spPr>
          <a:xfrm xmlns:a="http://schemas.openxmlformats.org/drawingml/2006/main">
            <a:off x="6776618" y="3108960"/>
            <a:ext cx="1999793" cy="868680"/>
          </a:xfrm>
          <a:prstGeom xmlns:a="http://schemas.openxmlformats.org/drawingml/2006/main" prst="roundRect">
            <a:avLst>
              <a:gd name="adj" fmla="val 8421"/>
            </a:avLst>
          </a:prstGeom>
          <a:solidFill xmlns:a="http://schemas.openxmlformats.org/drawingml/2006/main">
            <a:srgbClr val="EAF0FA"/>
          </a:solidFill>
          <a:ln xmlns:a="http://schemas.openxmlformats.org/drawingml/2006/main" w="12700">
            <a:solidFill>
              <a:srgbClr val="EAF0FA"/>
            </a:solidFill>
            <a:prstDash val="solid"/>
          </a:ln>
        </p:spPr>
      </p:sp>
      <p:sp>
        <p:nvSpPr>
          <p:cNvPr id="44" name="Text 40">
            <a:extLst xmlns:a="http://schemas.openxmlformats.org/drawingml/2006/main">
              <a:ext uri="{FF2B5EF4-FFF2-40B4-BE49-F238E27FC236}">
                <a16:creationId xmlns:a16="http://schemas.microsoft.com/office/drawing/2014/main" id="{07BC7CBF-8666-4438-894D-38E030FD8398}"/>
              </a:ext>
            </a:extLst>
          </p:cNvPr>
          <p:cNvSpPr>
            <a:spLocks xmlns:a="http://schemas.openxmlformats.org/drawingml/2006/main" noGrp="1"/>
          </p:cNvSpPr>
          <p:nvPr/>
        </p:nvSpPr>
        <p:spPr>
          <a:xfrm xmlns:a="http://schemas.openxmlformats.org/drawingml/2006/main">
            <a:off x="6776618" y="3200400"/>
            <a:ext cx="1999793"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2200" b="1">
                <a:solidFill>
                  <a:srgbClr val="0E2D69"/>
                </a:solidFill>
                <a:latin typeface="Arial"/>
                <a:ea typeface="Arial"/>
                <a:cs typeface="Arial"/>
              </a:rPr>
              <a:t>≈ 332 тыс.</a:t>
            </a:r>
            <a:endParaRPr sz="2200"/>
          </a:p>
        </p:txBody>
      </p:sp>
      <p:sp>
        <p:nvSpPr>
          <p:cNvPr id="45" name="Text 41">
            <a:extLst xmlns:a="http://schemas.openxmlformats.org/drawingml/2006/main">
              <a:ext uri="{FF2B5EF4-FFF2-40B4-BE49-F238E27FC236}">
                <a16:creationId xmlns:a16="http://schemas.microsoft.com/office/drawing/2014/main" id="{AD9A76A0-5FE9-4D30-8100-5F847B8F1A23}"/>
              </a:ext>
            </a:extLst>
          </p:cNvPr>
          <p:cNvSpPr>
            <a:spLocks xmlns:a="http://schemas.openxmlformats.org/drawingml/2006/main" noGrp="1"/>
          </p:cNvSpPr>
          <p:nvPr/>
        </p:nvSpPr>
        <p:spPr>
          <a:xfrm xmlns:a="http://schemas.openxmlformats.org/drawingml/2006/main">
            <a:off x="6913778" y="3730752"/>
            <a:ext cx="1725473"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a:solidFill>
                  <a:srgbClr val="0E2D69"/>
                </a:solidFill>
                <a:latin typeface="Arial"/>
                <a:ea typeface="Arial"/>
                <a:cs typeface="Arial"/>
              </a:rPr>
              <a:t>обучаемых параметров</a:t>
            </a:r>
            <a:endParaRPr sz="1100"/>
          </a:p>
        </p:txBody>
      </p:sp>
      <p:sp>
        <p:nvSpPr>
          <p:cNvPr id="46" name="Shape 42">
            <a:extLst xmlns:a="http://schemas.openxmlformats.org/drawingml/2006/main">
              <a:ext uri="{FF2B5EF4-FFF2-40B4-BE49-F238E27FC236}">
                <a16:creationId xmlns:a16="http://schemas.microsoft.com/office/drawing/2014/main" id="{0B4346AF-5CAD-4553-A75F-F2857A39C0F5}"/>
              </a:ext>
            </a:extLst>
          </p:cNvPr>
          <p:cNvSpPr>
            <a:spLocks xmlns:a="http://schemas.openxmlformats.org/drawingml/2006/main" noGrp="1"/>
          </p:cNvSpPr>
          <p:nvPr/>
        </p:nvSpPr>
        <p:spPr>
          <a:xfrm xmlns:a="http://schemas.openxmlformats.org/drawingml/2006/main">
            <a:off x="365760" y="4114800"/>
            <a:ext cx="8412480" cy="594360"/>
          </a:xfrm>
          <a:prstGeom xmlns:a="http://schemas.openxmlformats.org/drawingml/2006/main" prst="roundRect">
            <a:avLst>
              <a:gd name="adj" fmla="val 12308"/>
            </a:avLst>
          </a:prstGeom>
          <a:solidFill xmlns:a="http://schemas.openxmlformats.org/drawingml/2006/main">
            <a:srgbClr val="FDEBDD"/>
          </a:solidFill>
          <a:ln xmlns:a="http://schemas.openxmlformats.org/drawingml/2006/main" w="12700">
            <a:solidFill>
              <a:srgbClr val="FDEBDD"/>
            </a:solidFill>
            <a:prstDash val="solid"/>
          </a:ln>
        </p:spPr>
      </p:sp>
      <p:sp>
        <p:nvSpPr>
          <p:cNvPr id="47" name="Text 43">
            <a:extLst xmlns:a="http://schemas.openxmlformats.org/drawingml/2006/main">
              <a:ext uri="{FF2B5EF4-FFF2-40B4-BE49-F238E27FC236}">
                <a16:creationId xmlns:a16="http://schemas.microsoft.com/office/drawing/2014/main" id="{F455CFCA-F62E-46EC-ACEF-07B7F748A0B7}"/>
              </a:ext>
            </a:extLst>
          </p:cNvPr>
          <p:cNvSpPr>
            <a:spLocks xmlns:a="http://schemas.openxmlformats.org/drawingml/2006/main" noGrp="1"/>
          </p:cNvSpPr>
          <p:nvPr/>
        </p:nvSpPr>
        <p:spPr>
          <a:xfrm xmlns:a="http://schemas.openxmlformats.org/drawingml/2006/main">
            <a:off x="502920" y="4114800"/>
            <a:ext cx="813816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0E2D69"/>
                </a:solidFill>
                <a:latin typeface="Arial"/>
                <a:ea typeface="Arial"/>
                <a:cs typeface="Arial"/>
              </a:rPr>
              <a:t>Оценка категории — большее из двух совпадений. Она задаёт порядок, но не является вероятностью контакта</a:t>
            </a:r>
            <a:endParaRPr sz="1300"/>
          </a:p>
        </p:txBody>
      </p:sp>
      <p:sp>
        <p:nvSpPr>
          <p:cNvPr id="48" name="Text 44">
            <a:extLst xmlns:a="http://schemas.openxmlformats.org/drawingml/2006/main">
              <a:ext uri="{FF2B5EF4-FFF2-40B4-BE49-F238E27FC236}">
                <a16:creationId xmlns:a16="http://schemas.microsoft.com/office/drawing/2014/main" id="{3FD15CF8-9716-4C23-AAC3-B9DF9DFB4BC0}"/>
              </a:ext>
            </a:extLst>
          </p:cNvPr>
          <p:cNvSpPr>
            <a:spLocks xmlns:a="http://schemas.openxmlformats.org/drawingml/2006/main" noGrp="1"/>
          </p:cNvSpPr>
          <p:nvPr/>
        </p:nvSpPr>
        <p:spPr>
          <a:xfrm xmlns:a="http://schemas.openxmlformats.org/drawingml/2006/main">
            <a:off x="8001000" y="201168"/>
            <a:ext cx="8686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defPPr algn="ctr">
              <a:defRPr sz="1200">
                <a:solidFill>
                  <a:srgbClr val="173773"/>
                </a:solidFill>
                <a:latin typeface="Arial"/>
                <a:ea typeface="Arial"/>
                <a:cs typeface="Arial"/>
              </a:defRPr>
            </a:defPPr>
          </a:lstStyle>
          <a:p xmlns:a="http://schemas.openxmlformats.org/drawingml/2006/main">
            <a:pPr marL="0" indent="0" algn="ctr">
              <a:buNone/>
            </a:pPr>
            <a:r>
              <a:rPr sz="1200">
                <a:solidFill>
                  <a:srgbClr val="173773"/>
                </a:solidFill>
                <a:latin typeface="Arial"/>
                <a:ea typeface="Arial"/>
                <a:cs typeface="Arial"/>
              </a:rPr>
              <a:t>12/20</a:t>
            </a:r>
            <a:endParaRPr sz="1200"/>
          </a:p>
        </p:txBody>
      </p:sp>
    </p:spTree>
    <p:extLst>
      <p:ext uri="{BB962C8B-B14F-4D97-AF65-F5344CB8AC3E}">
        <p14:creationId xmlns:p14="http://schemas.microsoft.com/office/powerpoint/2010/main" val="147788983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695A4DB6-2200-4F9F-8E86-A408D09D9BD8}"/>
              </a:ext>
            </a:extLst>
          </p:cNvPr>
          <p:cNvPicPr>
            <a:picLocks xmlns:a="http://schemas.openxmlformats.org/drawingml/2006/main" noChangeAspect="1"/>
          </p:cNvPicPr>
          <p:nvPr/>
        </p:nvPicPr>
        <p:blipFill>
          <a:blip xmlns:r="http://schemas.openxmlformats.org/officeDocument/2006/relationships" xmlns:a="http://schemas.openxmlformats.org/drawingml/2006/main" r:embed="Rb23c3bb20cb946d8"/>
          <a:stretch xmlns:a="http://schemas.openxmlformats.org/drawingml/2006/main">
            <a:fillRect l="0" t="0" r="0" b="0"/>
          </a:stretch>
        </p:blipFill>
        <p:spPr>
          <a:xfrm xmlns:a="http://schemas.openxmlformats.org/drawingml/2006/main">
            <a:off x="274320" y="137160"/>
            <a:ext cx="502920" cy="50292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6112062E-BE8F-45E2-9DC9-282FA3F37411}"/>
              </a:ext>
            </a:extLst>
          </p:cNvPr>
          <p:cNvSpPr>
            <a:spLocks xmlns:a="http://schemas.openxmlformats.org/drawingml/2006/main" noGrp="1"/>
          </p:cNvSpPr>
          <p:nvPr/>
        </p:nvSpPr>
        <p:spPr>
          <a:xfrm xmlns:a="http://schemas.openxmlformats.org/drawingml/2006/main">
            <a:off x="868680" y="201168"/>
            <a:ext cx="173736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0E2D69"/>
                </a:solidFill>
                <a:latin typeface="Arial"/>
                <a:ea typeface="Arial"/>
                <a:cs typeface="Arial"/>
              </a:rPr>
              <a:t>Школа информатики, физики и технологий</a:t>
            </a:r>
            <a:endParaRPr sz="800"/>
          </a:p>
        </p:txBody>
      </p:sp>
      <p:sp>
        <p:nvSpPr>
          <p:cNvPr id="4" name="Text 1">
            <a:extLst xmlns:a="http://schemas.openxmlformats.org/drawingml/2006/main">
              <a:ext uri="{FF2B5EF4-FFF2-40B4-BE49-F238E27FC236}">
                <a16:creationId xmlns:a16="http://schemas.microsoft.com/office/drawing/2014/main" id="{8DC7B25A-4529-4A45-8F78-EC18355F9E32}"/>
              </a:ext>
            </a:extLst>
          </p:cNvPr>
          <p:cNvSpPr>
            <a:spLocks xmlns:a="http://schemas.openxmlformats.org/drawingml/2006/main" noGrp="1"/>
          </p:cNvSpPr>
          <p:nvPr/>
        </p:nvSpPr>
        <p:spPr>
          <a:xfrm xmlns:a="http://schemas.openxmlformats.org/drawingml/2006/main">
            <a:off x="2834640" y="201168"/>
            <a:ext cx="29260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0E2D69"/>
                </a:solidFill>
                <a:latin typeface="Arial"/>
                <a:ea typeface="Arial"/>
                <a:cs typeface="Arial"/>
              </a:rPr>
              <a:t>Рекомендательная система на основе поведенческих эмбеддингов</a:t>
            </a:r>
            <a:endParaRPr sz="800"/>
          </a:p>
        </p:txBody>
      </p:sp>
      <p:sp>
        <p:nvSpPr>
          <p:cNvPr id="5" name="Text 2">
            <a:extLst xmlns:a="http://schemas.openxmlformats.org/drawingml/2006/main">
              <a:ext uri="{FF2B5EF4-FFF2-40B4-BE49-F238E27FC236}">
                <a16:creationId xmlns:a16="http://schemas.microsoft.com/office/drawing/2014/main" id="{6FDB20C2-6715-46AF-96ED-B5F9D42628C5}"/>
              </a:ext>
            </a:extLst>
          </p:cNvPr>
          <p:cNvSpPr>
            <a:spLocks xmlns:a="http://schemas.openxmlformats.org/drawingml/2006/main" noGrp="1"/>
          </p:cNvSpPr>
          <p:nvPr/>
        </p:nvSpPr>
        <p:spPr>
          <a:xfrm xmlns:a="http://schemas.openxmlformats.org/drawingml/2006/main">
            <a:off x="5989320" y="201168"/>
            <a:ext cx="18288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defPPr algn="l">
              <a:defRPr sz="900">
                <a:solidFill>
                  <a:srgbClr val="173773"/>
                </a:solidFill>
                <a:latin typeface="Arial"/>
                <a:ea typeface="Arial"/>
                <a:cs typeface="Arial"/>
              </a:defRPr>
            </a:defPPr>
          </a:lstStyle>
          <a:p xmlns:a="http://schemas.openxmlformats.org/drawingml/2006/main">
            <a:pPr marL="0" indent="0" algn="l">
              <a:buNone/>
            </a:pPr>
            <a:r>
              <a:rPr sz="900">
                <a:solidFill>
                  <a:srgbClr val="173773"/>
                </a:solidFill>
                <a:latin typeface="Arial"/>
                <a:ea typeface="Arial"/>
                <a:cs typeface="Arial"/>
              </a:rPr>
              <a:t>Модель</a:t>
            </a:r>
            <a:endParaRPr sz="800"/>
          </a:p>
        </p:txBody>
      </p:sp>
      <p:sp>
        <p:nvSpPr>
          <p:cNvPr id="6" name="Shape 3">
            <a:extLst xmlns:a="http://schemas.openxmlformats.org/drawingml/2006/main">
              <a:ext uri="{FF2B5EF4-FFF2-40B4-BE49-F238E27FC236}">
                <a16:creationId xmlns:a16="http://schemas.microsoft.com/office/drawing/2014/main" id="{FFAA379B-8CBD-4F5E-BF42-E62EE191E394}"/>
              </a:ext>
            </a:extLst>
          </p:cNvPr>
          <p:cNvSpPr>
            <a:spLocks xmlns:a="http://schemas.openxmlformats.org/drawingml/2006/main" noGrp="1"/>
          </p:cNvSpPr>
          <p:nvPr/>
        </p:nvSpPr>
        <p:spPr>
          <a:xfrm xmlns:a="http://schemas.openxmlformats.org/drawingml/2006/main">
            <a:off x="2697480" y="182880"/>
            <a:ext cx="0" cy="457200"/>
          </a:xfrm>
          <a:prstGeom xmlns:a="http://schemas.openxmlformats.org/drawingml/2006/main" prst="line">
            <a:avLst/>
          </a:prstGeom>
          <a:noFill xmlns:a="http://schemas.openxmlformats.org/drawingml/2006/main"/>
          <a:ln xmlns:a="http://schemas.openxmlformats.org/drawingml/2006/main" w="19050">
            <a:solidFill>
              <a:srgbClr val="0E2D69"/>
            </a:solidFill>
            <a:prstDash val="solid"/>
          </a:ln>
        </p:spPr>
      </p:sp>
      <p:sp>
        <p:nvSpPr>
          <p:cNvPr id="7" name="Shape 4">
            <a:extLst xmlns:a="http://schemas.openxmlformats.org/drawingml/2006/main">
              <a:ext uri="{FF2B5EF4-FFF2-40B4-BE49-F238E27FC236}">
                <a16:creationId xmlns:a16="http://schemas.microsoft.com/office/drawing/2014/main" id="{6ED6E4AA-51F3-4706-BAC3-77C6D5405345}"/>
              </a:ext>
            </a:extLst>
          </p:cNvPr>
          <p:cNvSpPr>
            <a:spLocks xmlns:a="http://schemas.openxmlformats.org/drawingml/2006/main" noGrp="1"/>
          </p:cNvSpPr>
          <p:nvPr/>
        </p:nvSpPr>
        <p:spPr>
          <a:xfrm xmlns:a="http://schemas.openxmlformats.org/drawingml/2006/main">
            <a:off x="5852160" y="182880"/>
            <a:ext cx="0" cy="457200"/>
          </a:xfrm>
          <a:prstGeom xmlns:a="http://schemas.openxmlformats.org/drawingml/2006/main" prst="line">
            <a:avLst/>
          </a:prstGeom>
          <a:noFill xmlns:a="http://schemas.openxmlformats.org/drawingml/2006/main"/>
          <a:ln xmlns:a="http://schemas.openxmlformats.org/drawingml/2006/main" w="19050">
            <a:solidFill>
              <a:srgbClr val="0E2D69"/>
            </a:solidFill>
            <a:prstDash val="solid"/>
          </a:ln>
        </p:spPr>
      </p:sp>
      <p:sp>
        <p:nvSpPr>
          <p:cNvPr id="8" name="Shape 5">
            <a:extLst xmlns:a="http://schemas.openxmlformats.org/drawingml/2006/main">
              <a:ext uri="{FF2B5EF4-FFF2-40B4-BE49-F238E27FC236}">
                <a16:creationId xmlns:a16="http://schemas.microsoft.com/office/drawing/2014/main" id="{BC019EA7-7DD2-4C9A-88C8-B1A3C9306533}"/>
              </a:ext>
            </a:extLst>
          </p:cNvPr>
          <p:cNvSpPr>
            <a:spLocks xmlns:a="http://schemas.openxmlformats.org/drawingml/2006/main" noGrp="1"/>
          </p:cNvSpPr>
          <p:nvPr/>
        </p:nvSpPr>
        <p:spPr>
          <a:xfrm xmlns:a="http://schemas.openxmlformats.org/drawingml/2006/main">
            <a:off x="7909560" y="182880"/>
            <a:ext cx="0" cy="457200"/>
          </a:xfrm>
          <a:prstGeom xmlns:a="http://schemas.openxmlformats.org/drawingml/2006/main" prst="line">
            <a:avLst/>
          </a:prstGeom>
          <a:noFill xmlns:a="http://schemas.openxmlformats.org/drawingml/2006/main"/>
          <a:ln xmlns:a="http://schemas.openxmlformats.org/drawingml/2006/main" w="19050">
            <a:solidFill>
              <a:srgbClr val="0E2D69"/>
            </a:solidFill>
            <a:prstDash val="solid"/>
          </a:ln>
        </p:spPr>
      </p:sp>
      <p:sp>
        <p:nvSpPr>
          <p:cNvPr id="9" name="Text 6">
            <a:extLst xmlns:a="http://schemas.openxmlformats.org/drawingml/2006/main">
              <a:ext uri="{FF2B5EF4-FFF2-40B4-BE49-F238E27FC236}">
                <a16:creationId xmlns:a16="http://schemas.microsoft.com/office/drawing/2014/main" id="{F50AD9D2-AA38-41ED-ACBA-7D9AE0BFA55D}"/>
              </a:ext>
            </a:extLst>
          </p:cNvPr>
          <p:cNvSpPr>
            <a:spLocks xmlns:a="http://schemas.openxmlformats.org/drawingml/2006/main" noGrp="1"/>
          </p:cNvSpPr>
          <p:nvPr/>
        </p:nvSpPr>
        <p:spPr>
          <a:xfrm xmlns:a="http://schemas.openxmlformats.org/drawingml/2006/main">
            <a:off x="365760" y="777240"/>
            <a:ext cx="84124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defPPr algn="l">
              <a:defRPr sz="2400" b="1">
                <a:solidFill>
                  <a:srgbClr val="173773"/>
                </a:solidFill>
                <a:latin typeface="Arial"/>
                <a:ea typeface="Arial"/>
                <a:cs typeface="Arial"/>
              </a:defRPr>
            </a:defPPr>
          </a:lstStyle>
          <a:p xmlns:a="http://schemas.openxmlformats.org/drawingml/2006/main">
            <a:pPr marL="0" indent="0" algn="l">
              <a:buNone/>
            </a:pPr>
            <a:r>
              <a:rPr sz="2400" b="1">
                <a:solidFill>
                  <a:srgbClr val="173773"/>
                </a:solidFill>
                <a:latin typeface="Arial"/>
                <a:ea typeface="Arial"/>
                <a:cs typeface="Arial"/>
              </a:rPr>
              <a:t>Обучение модели</a:t>
            </a:r>
            <a:endParaRPr sz="2400"/>
          </a:p>
        </p:txBody>
      </p:sp>
      <p:sp>
        <p:nvSpPr>
          <p:cNvPr id="51" name="Text 47">
            <a:extLst xmlns:a="http://schemas.openxmlformats.org/drawingml/2006/main">
              <a:ext uri="{FF2B5EF4-FFF2-40B4-BE49-F238E27FC236}">
                <a16:creationId xmlns:a16="http://schemas.microsoft.com/office/drawing/2014/main" id="{CFC19B53-AB3E-4FBD-BB5D-3DA9555A15C3}"/>
              </a:ext>
            </a:extLst>
          </p:cNvPr>
          <p:cNvSpPr>
            <a:spLocks xmlns:a="http://schemas.openxmlformats.org/drawingml/2006/main" noGrp="1"/>
          </p:cNvSpPr>
          <p:nvPr/>
        </p:nvSpPr>
        <p:spPr>
          <a:xfrm xmlns:a="http://schemas.openxmlformats.org/drawingml/2006/main">
            <a:off x="8001000" y="201168"/>
            <a:ext cx="8686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defPPr algn="ctr">
              <a:defRPr sz="1200">
                <a:solidFill>
                  <a:srgbClr val="173773"/>
                </a:solidFill>
                <a:latin typeface="Arial"/>
                <a:ea typeface="Arial"/>
                <a:cs typeface="Arial"/>
              </a:defRPr>
            </a:defPPr>
          </a:lstStyle>
          <a:p xmlns:a="http://schemas.openxmlformats.org/drawingml/2006/main">
            <a:pPr marL="0" indent="0" algn="ctr">
              <a:buNone/>
            </a:pPr>
            <a:r>
              <a:rPr sz="1200">
                <a:solidFill>
                  <a:srgbClr val="173773"/>
                </a:solidFill>
                <a:latin typeface="Arial"/>
                <a:ea typeface="Arial"/>
                <a:cs typeface="Arial"/>
              </a:rPr>
              <a:t>13/20</a:t>
            </a:r>
            <a:endParaRPr sz="1200"/>
          </a:p>
        </p:txBody>
      </p:sp>
      <p:sp>
        <p:nvSpPr>
          <p:cNvPr id="52" name="">
            <a:extLst xmlns:a="http://schemas.openxmlformats.org/drawingml/2006/main">
              <a:ext uri="{FF2B5EF4-FFF2-40B4-BE49-F238E27FC236}">
                <a16:creationId xmlns:a16="http://schemas.microsoft.com/office/drawing/2014/main" id="{0A57CB44-5792-457D-8709-E80E85B5CF3F}"/>
              </a:ext>
            </a:extLst>
          </p:cNvPr>
          <p:cNvSpPr>
            <a:spLocks xmlns:a="http://schemas.openxmlformats.org/drawingml/2006/main" noGrp="1"/>
          </p:cNvSpPr>
          <p:nvPr/>
        </p:nvSpPr>
        <p:spPr>
          <a:xfrm xmlns:a="http://schemas.openxmlformats.org/drawingml/2006/main">
            <a:off x="274320" y="1428750"/>
            <a:ext cx="1381125" cy="685800"/>
          </a:xfrm>
          <a:prstGeom xmlns:a="http://schemas.openxmlformats.org/drawingml/2006/main" prst="roundRect">
            <a:avLst>
              <a:gd name="adj" fmla="val 11111"/>
            </a:avLst>
          </a:prstGeom>
          <a:solidFill xmlns:a="http://schemas.openxmlformats.org/drawingml/2006/main">
            <a:srgbClr val="E8EEF8"/>
          </a:solidFill>
          <a:ln xmlns:a="http://schemas.openxmlformats.org/drawingml/2006/main" w="0">
            <a:noFill/>
          </a:ln>
        </p:spPr>
      </p:sp>
      <p:sp>
        <p:nvSpPr>
          <p:cNvPr id="53" name="">
            <a:extLst xmlns:a="http://schemas.openxmlformats.org/drawingml/2006/main">
              <a:ext uri="{FF2B5EF4-FFF2-40B4-BE49-F238E27FC236}">
                <a16:creationId xmlns:a16="http://schemas.microsoft.com/office/drawing/2014/main" id="{204D1415-7595-4517-9F51-5FEE49571913}"/>
              </a:ext>
            </a:extLst>
          </p:cNvPr>
          <p:cNvSpPr>
            <a:spLocks xmlns:a="http://schemas.openxmlformats.org/drawingml/2006/main" noGrp="1"/>
          </p:cNvSpPr>
          <p:nvPr/>
        </p:nvSpPr>
        <p:spPr>
          <a:xfrm xmlns:a="http://schemas.openxmlformats.org/drawingml/2006/main">
            <a:off x="274320" y="1428750"/>
            <a:ext cx="1381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33350" tIns="95250" rIns="133350" bIns="95250" anchor="ctr">
            <a:normAutofit fontScale="93278"/>
          </a:bodyPr>
          <a:lstStyle xmlns:a="http://schemas.openxmlformats.org/drawingml/2006/main">
            <a:defPPr algn="ctr">
              <a:defRPr sz="1200" b="1">
                <a:solidFill>
                  <a:srgbClr val="173773"/>
                </a:solidFill>
                <a:latin typeface="Arial"/>
                <a:ea typeface="Arial"/>
                <a:cs typeface="Arial"/>
              </a:defRPr>
            </a:defPPr>
          </a:lstStyle>
          <a:p xmlns:a="http://schemas.openxmlformats.org/drawingml/2006/main">
            <a:pPr algn="ctr">
              <a:defRPr sz="1200" b="1">
                <a:solidFill>
                  <a:srgbClr val="173773"/>
                </a:solidFill>
                <a:latin typeface="Arial"/>
                <a:ea typeface="Arial"/>
                <a:cs typeface="Arial"/>
              </a:defRPr>
            </a:pPr>
            <a:r>
              <a:rPr sz="1200" b="1">
                <a:solidFill>
                  <a:srgbClr val="173773"/>
                </a:solidFill>
                <a:latin typeface="Arial"/>
                <a:ea typeface="Arial"/>
                <a:cs typeface="Arial"/>
              </a:rPr>
              <a:t>История</a:t>
            </a:r>
          </a:p>
          <a:p xmlns:a="http://schemas.openxmlformats.org/drawingml/2006/main">
            <a:pPr algn="ctr">
              <a:defRPr sz="1200" b="1">
                <a:solidFill>
                  <a:srgbClr val="173773"/>
                </a:solidFill>
                <a:latin typeface="Arial"/>
                <a:ea typeface="Arial"/>
                <a:cs typeface="Arial"/>
              </a:defRPr>
            </a:pPr>
            <a:r>
              <a:rPr sz="1200" b="1">
                <a:solidFill>
                  <a:srgbClr val="173773"/>
                </a:solidFill>
                <a:latin typeface="Arial"/>
                <a:ea typeface="Arial"/>
                <a:cs typeface="Arial"/>
              </a:rPr>
              <a:t>до 128 событий</a:t>
            </a:r>
          </a:p>
        </p:txBody>
      </p:sp>
      <p:sp>
        <p:nvSpPr>
          <p:cNvPr id="54" name="">
            <a:extLst xmlns:a="http://schemas.openxmlformats.org/drawingml/2006/main">
              <a:ext uri="{FF2B5EF4-FFF2-40B4-BE49-F238E27FC236}">
                <a16:creationId xmlns:a16="http://schemas.microsoft.com/office/drawing/2014/main" id="{71C3FAD3-D131-4D61-AC16-5EFCCC80149C}"/>
              </a:ext>
            </a:extLst>
          </p:cNvPr>
          <p:cNvSpPr>
            <a:spLocks xmlns:a="http://schemas.openxmlformats.org/drawingml/2006/main" noGrp="1"/>
          </p:cNvSpPr>
          <p:nvPr/>
        </p:nvSpPr>
        <p:spPr>
          <a:xfrm xmlns:a="http://schemas.openxmlformats.org/drawingml/2006/main">
            <a:off x="1724025" y="1428750"/>
            <a:ext cx="285750" cy="685800"/>
          </a:xfrm>
          <a:prstGeom xmlns:a="http://schemas.openxmlformats.org/drawingml/2006/main" prst="roundRect">
            <a:avLst>
              <a:gd name="adj" fmla="val 26667"/>
            </a:avLst>
          </a:prstGeom>
          <a:solidFill xmlns:a="http://schemas.openxmlformats.org/drawingml/2006/main">
            <a:srgbClr val="FFFFFF"/>
          </a:solidFill>
          <a:ln xmlns:a="http://schemas.openxmlformats.org/drawingml/2006/main" w="0">
            <a:noFill/>
          </a:ln>
        </p:spPr>
      </p:sp>
      <p:sp>
        <p:nvSpPr>
          <p:cNvPr id="55" name="">
            <a:extLst xmlns:a="http://schemas.openxmlformats.org/drawingml/2006/main">
              <a:ext uri="{FF2B5EF4-FFF2-40B4-BE49-F238E27FC236}">
                <a16:creationId xmlns:a16="http://schemas.microsoft.com/office/drawing/2014/main" id="{8C7C9B04-D04A-4362-89E8-0C81A3FD5894}"/>
              </a:ext>
            </a:extLst>
          </p:cNvPr>
          <p:cNvSpPr>
            <a:spLocks xmlns:a="http://schemas.openxmlformats.org/drawingml/2006/main" noGrp="1"/>
          </p:cNvSpPr>
          <p:nvPr/>
        </p:nvSpPr>
        <p:spPr>
          <a:xfrm xmlns:a="http://schemas.openxmlformats.org/drawingml/2006/main">
            <a:off x="1724025" y="1428750"/>
            <a:ext cx="285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33350" tIns="95250" rIns="133350" bIns="95250" anchor="ctr">
            <a:normAutofit fontScale="10000"/>
          </a:bodyPr>
          <a:lstStyle xmlns:a="http://schemas.openxmlformats.org/drawingml/2006/main">
            <a:defPPr algn="ctr">
              <a:defRPr sz="1650" b="1">
                <a:solidFill>
                  <a:srgbClr val="173773"/>
                </a:solidFill>
                <a:latin typeface="Arial"/>
                <a:ea typeface="Arial"/>
                <a:cs typeface="Arial"/>
              </a:defRPr>
            </a:defPPr>
          </a:lstStyle>
          <a:p xmlns:a="http://schemas.openxmlformats.org/drawingml/2006/main">
            <a:pPr algn="ctr">
              <a:defRPr sz="1650" b="1">
                <a:solidFill>
                  <a:srgbClr val="173773"/>
                </a:solidFill>
                <a:latin typeface="Arial"/>
                <a:ea typeface="Arial"/>
                <a:cs typeface="Arial"/>
              </a:defRPr>
            </a:pPr>
            <a:r>
              <a:rPr sz="1650" b="1">
                <a:solidFill>
                  <a:srgbClr val="173773"/>
                </a:solidFill>
                <a:latin typeface="Arial"/>
                <a:ea typeface="Arial"/>
                <a:cs typeface="Arial"/>
              </a:rPr>
              <a:t>→</a:t>
            </a:r>
          </a:p>
        </p:txBody>
      </p:sp>
      <p:sp>
        <p:nvSpPr>
          <p:cNvPr id="56" name="">
            <a:extLst xmlns:a="http://schemas.openxmlformats.org/drawingml/2006/main">
              <a:ext uri="{FF2B5EF4-FFF2-40B4-BE49-F238E27FC236}">
                <a16:creationId xmlns:a16="http://schemas.microsoft.com/office/drawing/2014/main" id="{F08672EC-C36C-4B3C-B54A-3368643363AF}"/>
              </a:ext>
            </a:extLst>
          </p:cNvPr>
          <p:cNvSpPr>
            <a:spLocks xmlns:a="http://schemas.openxmlformats.org/drawingml/2006/main" noGrp="1"/>
          </p:cNvSpPr>
          <p:nvPr/>
        </p:nvSpPr>
        <p:spPr>
          <a:xfrm xmlns:a="http://schemas.openxmlformats.org/drawingml/2006/main">
            <a:off x="2047875" y="1428750"/>
            <a:ext cx="1381125" cy="685800"/>
          </a:xfrm>
          <a:prstGeom xmlns:a="http://schemas.openxmlformats.org/drawingml/2006/main" prst="roundRect">
            <a:avLst>
              <a:gd name="adj" fmla="val 11111"/>
            </a:avLst>
          </a:prstGeom>
          <a:solidFill xmlns:a="http://schemas.openxmlformats.org/drawingml/2006/main">
            <a:srgbClr val="173773"/>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545329BA-B085-4161-8CD9-0F53D94A9D2F}"/>
              </a:ext>
            </a:extLst>
          </p:cNvPr>
          <p:cNvSpPr>
            <a:spLocks xmlns:a="http://schemas.openxmlformats.org/drawingml/2006/main" noGrp="1"/>
          </p:cNvSpPr>
          <p:nvPr/>
        </p:nvSpPr>
        <p:spPr>
          <a:xfrm xmlns:a="http://schemas.openxmlformats.org/drawingml/2006/main">
            <a:off x="2047875" y="1428750"/>
            <a:ext cx="1381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33350" tIns="95250" rIns="133350" bIns="95250" anchor="ctr">
            <a:normAutofit fontScale="100000"/>
          </a:bodyPr>
          <a:lstStyle xmlns:a="http://schemas.openxmlformats.org/drawingml/2006/main">
            <a:defPPr algn="ctr">
              <a:defRPr sz="1200" b="1">
                <a:solidFill>
                  <a:srgbClr val="FFFFFF"/>
                </a:solidFill>
                <a:latin typeface="Arial"/>
                <a:ea typeface="Arial"/>
                <a:cs typeface="Arial"/>
              </a:defRPr>
            </a:defPPr>
          </a:lstStyle>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Transformer +</a:t>
            </a:r>
          </a:p>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2 запроса</a:t>
            </a:r>
          </a:p>
        </p:txBody>
      </p:sp>
      <p:sp>
        <p:nvSpPr>
          <p:cNvPr id="58" name="">
            <a:extLst xmlns:a="http://schemas.openxmlformats.org/drawingml/2006/main">
              <a:ext uri="{FF2B5EF4-FFF2-40B4-BE49-F238E27FC236}">
                <a16:creationId xmlns:a16="http://schemas.microsoft.com/office/drawing/2014/main" id="{75465166-C1F8-4F2E-8939-446A3AE55212}"/>
              </a:ext>
            </a:extLst>
          </p:cNvPr>
          <p:cNvSpPr>
            <a:spLocks xmlns:a="http://schemas.openxmlformats.org/drawingml/2006/main" noGrp="1"/>
          </p:cNvSpPr>
          <p:nvPr/>
        </p:nvSpPr>
        <p:spPr>
          <a:xfrm xmlns:a="http://schemas.openxmlformats.org/drawingml/2006/main">
            <a:off x="3581400" y="1428750"/>
            <a:ext cx="285750" cy="685800"/>
          </a:xfrm>
          <a:prstGeom xmlns:a="http://schemas.openxmlformats.org/drawingml/2006/main" prst="roundRect">
            <a:avLst>
              <a:gd name="adj" fmla="val 26667"/>
            </a:avLst>
          </a:prstGeom>
          <a:solidFill xmlns:a="http://schemas.openxmlformats.org/drawingml/2006/main">
            <a:srgbClr val="FFFFFF"/>
          </a:solidFill>
          <a:ln xmlns:a="http://schemas.openxmlformats.org/drawingml/2006/main" w="0">
            <a:noFill/>
          </a:ln>
        </p:spPr>
      </p:sp>
      <p:sp>
        <p:nvSpPr>
          <p:cNvPr id="59" name="">
            <a:extLst xmlns:a="http://schemas.openxmlformats.org/drawingml/2006/main">
              <a:ext uri="{FF2B5EF4-FFF2-40B4-BE49-F238E27FC236}">
                <a16:creationId xmlns:a16="http://schemas.microsoft.com/office/drawing/2014/main" id="{0E44BAD4-56D4-4E4A-BBD0-CCC03F35F18A}"/>
              </a:ext>
            </a:extLst>
          </p:cNvPr>
          <p:cNvSpPr>
            <a:spLocks xmlns:a="http://schemas.openxmlformats.org/drawingml/2006/main" noGrp="1"/>
          </p:cNvSpPr>
          <p:nvPr/>
        </p:nvSpPr>
        <p:spPr>
          <a:xfrm xmlns:a="http://schemas.openxmlformats.org/drawingml/2006/main">
            <a:off x="3581400" y="1428750"/>
            <a:ext cx="285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33350" tIns="95250" rIns="133350" bIns="95250" anchor="ctr">
            <a:normAutofit fontScale="10000"/>
          </a:bodyPr>
          <a:lstStyle xmlns:a="http://schemas.openxmlformats.org/drawingml/2006/main">
            <a:defPPr algn="ctr">
              <a:defRPr sz="1650" b="1">
                <a:solidFill>
                  <a:srgbClr val="173773"/>
                </a:solidFill>
                <a:latin typeface="Arial"/>
                <a:ea typeface="Arial"/>
                <a:cs typeface="Arial"/>
              </a:defRPr>
            </a:defPPr>
          </a:lstStyle>
          <a:p xmlns:a="http://schemas.openxmlformats.org/drawingml/2006/main">
            <a:pPr algn="ctr">
              <a:defRPr sz="1650" b="1">
                <a:solidFill>
                  <a:srgbClr val="173773"/>
                </a:solidFill>
                <a:latin typeface="Arial"/>
                <a:ea typeface="Arial"/>
                <a:cs typeface="Arial"/>
              </a:defRPr>
            </a:pPr>
            <a:r>
              <a:rPr sz="1650" b="1">
                <a:solidFill>
                  <a:srgbClr val="173773"/>
                </a:solidFill>
                <a:latin typeface="Arial"/>
                <a:ea typeface="Arial"/>
                <a:cs typeface="Arial"/>
              </a:rPr>
              <a:t>→</a:t>
            </a:r>
          </a:p>
        </p:txBody>
      </p:sp>
      <p:sp>
        <p:nvSpPr>
          <p:cNvPr id="60" name="">
            <a:extLst xmlns:a="http://schemas.openxmlformats.org/drawingml/2006/main">
              <a:ext uri="{FF2B5EF4-FFF2-40B4-BE49-F238E27FC236}">
                <a16:creationId xmlns:a16="http://schemas.microsoft.com/office/drawing/2014/main" id="{790D437F-AD3C-4FB3-B272-E86F2CC7F0CA}"/>
              </a:ext>
            </a:extLst>
          </p:cNvPr>
          <p:cNvSpPr>
            <a:spLocks xmlns:a="http://schemas.openxmlformats.org/drawingml/2006/main" noGrp="1"/>
          </p:cNvSpPr>
          <p:nvPr/>
        </p:nvSpPr>
        <p:spPr>
          <a:xfrm xmlns:a="http://schemas.openxmlformats.org/drawingml/2006/main">
            <a:off x="3905250" y="1428750"/>
            <a:ext cx="1381125" cy="685800"/>
          </a:xfrm>
          <a:prstGeom xmlns:a="http://schemas.openxmlformats.org/drawingml/2006/main" prst="roundRect">
            <a:avLst>
              <a:gd name="adj" fmla="val 11111"/>
            </a:avLst>
          </a:prstGeom>
          <a:solidFill xmlns:a="http://schemas.openxmlformats.org/drawingml/2006/main">
            <a:srgbClr val="E8EEF8"/>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A0B93559-618E-4205-B33C-1D1EE8AF17A0}"/>
              </a:ext>
            </a:extLst>
          </p:cNvPr>
          <p:cNvSpPr>
            <a:spLocks xmlns:a="http://schemas.openxmlformats.org/drawingml/2006/main" noGrp="1"/>
          </p:cNvSpPr>
          <p:nvPr/>
        </p:nvSpPr>
        <p:spPr>
          <a:xfrm xmlns:a="http://schemas.openxmlformats.org/drawingml/2006/main">
            <a:off x="3905250" y="1428750"/>
            <a:ext cx="1381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33350" tIns="95250" rIns="133350" bIns="95250" anchor="ctr">
            <a:normAutofit fontScale="100000"/>
          </a:bodyPr>
          <a:lstStyle xmlns:a="http://schemas.openxmlformats.org/drawingml/2006/main">
            <a:defPPr algn="ctr">
              <a:defRPr sz="1200" b="1">
                <a:solidFill>
                  <a:srgbClr val="173773"/>
                </a:solidFill>
                <a:latin typeface="Arial"/>
                <a:ea typeface="Arial"/>
                <a:cs typeface="Arial"/>
              </a:defRPr>
            </a:defPPr>
          </a:lstStyle>
          <a:p xmlns:a="http://schemas.openxmlformats.org/drawingml/2006/main">
            <a:pPr algn="ctr">
              <a:defRPr sz="1200" b="1">
                <a:solidFill>
                  <a:srgbClr val="173773"/>
                </a:solidFill>
                <a:latin typeface="Arial"/>
                <a:ea typeface="Arial"/>
                <a:cs typeface="Arial"/>
              </a:defRPr>
            </a:pPr>
            <a:r>
              <a:rPr sz="1200" b="1">
                <a:solidFill>
                  <a:srgbClr val="173773"/>
                </a:solidFill>
                <a:latin typeface="Arial"/>
                <a:ea typeface="Arial"/>
                <a:cs typeface="Arial"/>
              </a:rPr>
              <a:t>351 оценка</a:t>
            </a:r>
          </a:p>
          <a:p xmlns:a="http://schemas.openxmlformats.org/drawingml/2006/main">
            <a:pPr algn="ctr">
              <a:defRPr sz="1200" b="1">
                <a:solidFill>
                  <a:srgbClr val="173773"/>
                </a:solidFill>
                <a:latin typeface="Arial"/>
                <a:ea typeface="Arial"/>
                <a:cs typeface="Arial"/>
              </a:defRPr>
            </a:pPr>
            <a:r>
              <a:rPr sz="1200" b="1">
                <a:solidFill>
                  <a:srgbClr val="173773"/>
                </a:solidFill>
                <a:latin typeface="Arial"/>
                <a:ea typeface="Arial"/>
                <a:cs typeface="Arial"/>
              </a:rPr>
              <a:t>категорий</a:t>
            </a:r>
          </a:p>
        </p:txBody>
      </p:sp>
      <p:sp>
        <p:nvSpPr>
          <p:cNvPr id="62" name="">
            <a:extLst xmlns:a="http://schemas.openxmlformats.org/drawingml/2006/main">
              <a:ext uri="{FF2B5EF4-FFF2-40B4-BE49-F238E27FC236}">
                <a16:creationId xmlns:a16="http://schemas.microsoft.com/office/drawing/2014/main" id="{F12EFC38-DC4F-4863-AE09-6440143AEC4E}"/>
              </a:ext>
            </a:extLst>
          </p:cNvPr>
          <p:cNvSpPr>
            <a:spLocks xmlns:a="http://schemas.openxmlformats.org/drawingml/2006/main" noGrp="1"/>
          </p:cNvSpPr>
          <p:nvPr/>
        </p:nvSpPr>
        <p:spPr>
          <a:xfrm xmlns:a="http://schemas.openxmlformats.org/drawingml/2006/main">
            <a:off x="5438775" y="1428750"/>
            <a:ext cx="285750" cy="685800"/>
          </a:xfrm>
          <a:prstGeom xmlns:a="http://schemas.openxmlformats.org/drawingml/2006/main" prst="roundRect">
            <a:avLst>
              <a:gd name="adj" fmla="val 26667"/>
            </a:avLst>
          </a:prstGeom>
          <a:solidFill xmlns:a="http://schemas.openxmlformats.org/drawingml/2006/main">
            <a:srgbClr val="FFFFFF"/>
          </a:solidFill>
          <a:ln xmlns:a="http://schemas.openxmlformats.org/drawingml/2006/main" w="0">
            <a:noFill/>
          </a:ln>
        </p:spPr>
      </p:sp>
      <p:sp>
        <p:nvSpPr>
          <p:cNvPr id="63" name="">
            <a:extLst xmlns:a="http://schemas.openxmlformats.org/drawingml/2006/main">
              <a:ext uri="{FF2B5EF4-FFF2-40B4-BE49-F238E27FC236}">
                <a16:creationId xmlns:a16="http://schemas.microsoft.com/office/drawing/2014/main" id="{5E5FE270-1167-4A0F-92F4-CA4AE1972CD8}"/>
              </a:ext>
            </a:extLst>
          </p:cNvPr>
          <p:cNvSpPr>
            <a:spLocks xmlns:a="http://schemas.openxmlformats.org/drawingml/2006/main" noGrp="1"/>
          </p:cNvSpPr>
          <p:nvPr/>
        </p:nvSpPr>
        <p:spPr>
          <a:xfrm xmlns:a="http://schemas.openxmlformats.org/drawingml/2006/main">
            <a:off x="5438775" y="1428750"/>
            <a:ext cx="285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33350" tIns="95250" rIns="133350" bIns="95250" anchor="ctr">
            <a:normAutofit fontScale="10000"/>
          </a:bodyPr>
          <a:lstStyle xmlns:a="http://schemas.openxmlformats.org/drawingml/2006/main">
            <a:defPPr algn="ctr">
              <a:defRPr sz="1650" b="1">
                <a:solidFill>
                  <a:srgbClr val="173773"/>
                </a:solidFill>
                <a:latin typeface="Arial"/>
                <a:ea typeface="Arial"/>
                <a:cs typeface="Arial"/>
              </a:defRPr>
            </a:defPPr>
          </a:lstStyle>
          <a:p xmlns:a="http://schemas.openxmlformats.org/drawingml/2006/main">
            <a:pPr algn="ctr">
              <a:defRPr sz="1650" b="1">
                <a:solidFill>
                  <a:srgbClr val="173773"/>
                </a:solidFill>
                <a:latin typeface="Arial"/>
                <a:ea typeface="Arial"/>
                <a:cs typeface="Arial"/>
              </a:defRPr>
            </a:pPr>
            <a:r>
              <a:rPr sz="1650" b="1">
                <a:solidFill>
                  <a:srgbClr val="173773"/>
                </a:solidFill>
                <a:latin typeface="Arial"/>
                <a:ea typeface="Arial"/>
                <a:cs typeface="Arial"/>
              </a:rPr>
              <a:t>→</a:t>
            </a:r>
          </a:p>
        </p:txBody>
      </p:sp>
      <p:sp>
        <p:nvSpPr>
          <p:cNvPr id="64" name="">
            <a:extLst xmlns:a="http://schemas.openxmlformats.org/drawingml/2006/main">
              <a:ext uri="{FF2B5EF4-FFF2-40B4-BE49-F238E27FC236}">
                <a16:creationId xmlns:a16="http://schemas.microsoft.com/office/drawing/2014/main" id="{172809F0-6839-43AE-A4DA-CCD39D95A529}"/>
              </a:ext>
            </a:extLst>
          </p:cNvPr>
          <p:cNvSpPr>
            <a:spLocks xmlns:a="http://schemas.openxmlformats.org/drawingml/2006/main" noGrp="1"/>
          </p:cNvSpPr>
          <p:nvPr/>
        </p:nvSpPr>
        <p:spPr>
          <a:xfrm xmlns:a="http://schemas.openxmlformats.org/drawingml/2006/main">
            <a:off x="5762625" y="1428750"/>
            <a:ext cx="1381125" cy="685800"/>
          </a:xfrm>
          <a:prstGeom xmlns:a="http://schemas.openxmlformats.org/drawingml/2006/main" prst="roundRect">
            <a:avLst>
              <a:gd name="adj" fmla="val 11111"/>
            </a:avLst>
          </a:prstGeom>
          <a:solidFill xmlns:a="http://schemas.openxmlformats.org/drawingml/2006/main">
            <a:srgbClr val="FDE8D7"/>
          </a:solidFill>
          <a:ln xmlns:a="http://schemas.openxmlformats.org/drawingml/2006/main" w="0">
            <a:noFill/>
          </a:ln>
        </p:spPr>
      </p:sp>
      <p:sp>
        <p:nvSpPr>
          <p:cNvPr id="65" name="">
            <a:extLst xmlns:a="http://schemas.openxmlformats.org/drawingml/2006/main">
              <a:ext uri="{FF2B5EF4-FFF2-40B4-BE49-F238E27FC236}">
                <a16:creationId xmlns:a16="http://schemas.microsoft.com/office/drawing/2014/main" id="{F4A0F54A-2CA2-4FA9-B276-CEF709A7AE71}"/>
              </a:ext>
            </a:extLst>
          </p:cNvPr>
          <p:cNvSpPr>
            <a:spLocks xmlns:a="http://schemas.openxmlformats.org/drawingml/2006/main" noGrp="1"/>
          </p:cNvSpPr>
          <p:nvPr/>
        </p:nvSpPr>
        <p:spPr>
          <a:xfrm xmlns:a="http://schemas.openxmlformats.org/drawingml/2006/main">
            <a:off x="5762625" y="1428750"/>
            <a:ext cx="1381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33350" tIns="95250" rIns="133350" bIns="95250" anchor="ctr">
            <a:normAutofit fontScale="100000"/>
          </a:bodyPr>
          <a:lstStyle xmlns:a="http://schemas.openxmlformats.org/drawingml/2006/main">
            <a:defPPr algn="ctr">
              <a:defRPr sz="1200" b="1">
                <a:solidFill>
                  <a:srgbClr val="173773"/>
                </a:solidFill>
                <a:latin typeface="Arial"/>
                <a:ea typeface="Arial"/>
                <a:cs typeface="Arial"/>
              </a:defRPr>
            </a:defPPr>
          </a:lstStyle>
          <a:p xmlns:a="http://schemas.openxmlformats.org/drawingml/2006/main">
            <a:pPr algn="ctr">
              <a:defRPr sz="1200" b="1">
                <a:solidFill>
                  <a:srgbClr val="173773"/>
                </a:solidFill>
                <a:latin typeface="Arial"/>
                <a:ea typeface="Arial"/>
                <a:cs typeface="Arial"/>
              </a:defRPr>
            </a:pPr>
            <a:r>
              <a:rPr sz="1200" b="1">
                <a:solidFill>
                  <a:srgbClr val="173773"/>
                </a:solidFill>
                <a:latin typeface="Arial"/>
                <a:ea typeface="Arial"/>
                <a:cs typeface="Arial"/>
              </a:rPr>
              <a:t>Метки</a:t>
            </a:r>
          </a:p>
          <a:p xmlns:a="http://schemas.openxmlformats.org/drawingml/2006/main">
            <a:pPr algn="ctr">
              <a:defRPr sz="1200" b="1">
                <a:solidFill>
                  <a:srgbClr val="173773"/>
                </a:solidFill>
                <a:latin typeface="Arial"/>
                <a:ea typeface="Arial"/>
                <a:cs typeface="Arial"/>
              </a:defRPr>
            </a:pPr>
            <a:r>
              <a:rPr sz="1200" b="1">
                <a:solidFill>
                  <a:srgbClr val="173773"/>
                </a:solidFill>
                <a:latin typeface="Arial"/>
                <a:ea typeface="Arial"/>
                <a:cs typeface="Arial"/>
              </a:rPr>
              <a:t>0 или 1</a:t>
            </a:r>
          </a:p>
        </p:txBody>
      </p:sp>
      <p:sp>
        <p:nvSpPr>
          <p:cNvPr id="66" name="">
            <a:extLst xmlns:a="http://schemas.openxmlformats.org/drawingml/2006/main">
              <a:ext uri="{FF2B5EF4-FFF2-40B4-BE49-F238E27FC236}">
                <a16:creationId xmlns:a16="http://schemas.microsoft.com/office/drawing/2014/main" id="{C5DD777E-B11C-4AC9-8AD3-0F7DC3E0B6F5}"/>
              </a:ext>
            </a:extLst>
          </p:cNvPr>
          <p:cNvSpPr>
            <a:spLocks xmlns:a="http://schemas.openxmlformats.org/drawingml/2006/main" noGrp="1"/>
          </p:cNvSpPr>
          <p:nvPr/>
        </p:nvSpPr>
        <p:spPr>
          <a:xfrm xmlns:a="http://schemas.openxmlformats.org/drawingml/2006/main">
            <a:off x="274320" y="2266950"/>
            <a:ext cx="8595360" cy="514350"/>
          </a:xfrm>
          <a:prstGeom xmlns:a="http://schemas.openxmlformats.org/drawingml/2006/main" prst="roundRect">
            <a:avLst>
              <a:gd name="adj" fmla="val 14815"/>
            </a:avLst>
          </a:prstGeom>
          <a:solidFill xmlns:a="http://schemas.openxmlformats.org/drawingml/2006/main">
            <a:srgbClr val="173773"/>
          </a:solidFill>
          <a:ln xmlns:a="http://schemas.openxmlformats.org/drawingml/2006/main" w="0">
            <a:noFill/>
          </a:ln>
        </p:spPr>
      </p:sp>
      <p:sp>
        <p:nvSpPr>
          <p:cNvPr id="67" name="">
            <a:extLst xmlns:a="http://schemas.openxmlformats.org/drawingml/2006/main">
              <a:ext uri="{FF2B5EF4-FFF2-40B4-BE49-F238E27FC236}">
                <a16:creationId xmlns:a16="http://schemas.microsoft.com/office/drawing/2014/main" id="{CFA6B3BB-DE7F-4E50-8426-7B6445A18F61}"/>
              </a:ext>
            </a:extLst>
          </p:cNvPr>
          <p:cNvSpPr>
            <a:spLocks xmlns:a="http://schemas.openxmlformats.org/drawingml/2006/main" noGrp="1"/>
          </p:cNvSpPr>
          <p:nvPr/>
        </p:nvSpPr>
        <p:spPr>
          <a:xfrm xmlns:a="http://schemas.openxmlformats.org/drawingml/2006/main">
            <a:off x="274320" y="2266950"/>
            <a:ext cx="859536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33350" tIns="95250" rIns="133350" bIns="95250" anchor="ctr">
            <a:normAutofit fontScale="92597"/>
          </a:bodyPr>
          <a:lstStyle xmlns:a="http://schemas.openxmlformats.org/drawingml/2006/main">
            <a:defPPr algn="ctr">
              <a:defRPr sz="1200" b="1">
                <a:solidFill>
                  <a:srgbClr val="FFFFFF"/>
                </a:solidFill>
                <a:latin typeface="Arial"/>
                <a:ea typeface="Arial"/>
                <a:cs typeface="Arial"/>
              </a:defRPr>
            </a:defPPr>
          </a:lstStyle>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Функция потерь: взвешенная бинарная кросс-энтропия по допустимым категориям + 2 регуляризатора разнообразия</a:t>
            </a:r>
          </a:p>
        </p:txBody>
      </p:sp>
      <p:sp>
        <p:nvSpPr>
          <p:cNvPr id="68" name="">
            <a:extLst xmlns:a="http://schemas.openxmlformats.org/drawingml/2006/main">
              <a:ext uri="{FF2B5EF4-FFF2-40B4-BE49-F238E27FC236}">
                <a16:creationId xmlns:a16="http://schemas.microsoft.com/office/drawing/2014/main" id="{EDACCB17-0303-462D-87F4-FB0298DA3DD5}"/>
              </a:ext>
            </a:extLst>
          </p:cNvPr>
          <p:cNvSpPr>
            <a:spLocks xmlns:a="http://schemas.openxmlformats.org/drawingml/2006/main" noGrp="1"/>
          </p:cNvSpPr>
          <p:nvPr/>
        </p:nvSpPr>
        <p:spPr>
          <a:xfrm xmlns:a="http://schemas.openxmlformats.org/drawingml/2006/main">
            <a:off x="274320" y="2943225"/>
            <a:ext cx="2034540" cy="1066800"/>
          </a:xfrm>
          <a:prstGeom xmlns:a="http://schemas.openxmlformats.org/drawingml/2006/main" prst="roundRect">
            <a:avLst>
              <a:gd name="adj" fmla="val 7143"/>
            </a:avLst>
          </a:prstGeom>
          <a:solidFill xmlns:a="http://schemas.openxmlformats.org/drawingml/2006/main">
            <a:srgbClr val="E8EEF8"/>
          </a:solidFill>
          <a:ln xmlns:a="http://schemas.openxmlformats.org/drawingml/2006/main" w="0">
            <a:noFill/>
          </a:ln>
        </p:spPr>
      </p:sp>
      <p:sp>
        <p:nvSpPr>
          <p:cNvPr id="69" name="">
            <a:extLst xmlns:a="http://schemas.openxmlformats.org/drawingml/2006/main">
              <a:ext uri="{FF2B5EF4-FFF2-40B4-BE49-F238E27FC236}">
                <a16:creationId xmlns:a16="http://schemas.microsoft.com/office/drawing/2014/main" id="{9276B956-0B90-4A98-B6A5-FC85273601E1}"/>
              </a:ext>
            </a:extLst>
          </p:cNvPr>
          <p:cNvSpPr>
            <a:spLocks xmlns:a="http://schemas.openxmlformats.org/drawingml/2006/main" noGrp="1"/>
          </p:cNvSpPr>
          <p:nvPr/>
        </p:nvSpPr>
        <p:spPr>
          <a:xfrm xmlns:a="http://schemas.openxmlformats.org/drawingml/2006/main">
            <a:off x="274320" y="2943225"/>
            <a:ext cx="203454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33350" tIns="95250" rIns="133350" bIns="95250" anchor="ctr">
            <a:normAutofit fontScale="100000"/>
          </a:bodyPr>
          <a:lstStyle xmlns:a="http://schemas.openxmlformats.org/drawingml/2006/main">
            <a:defPPr algn="ctr">
              <a:defRPr sz="1050" b="0">
                <a:solidFill>
                  <a:srgbClr val="173773"/>
                </a:solidFill>
                <a:latin typeface="Arial"/>
                <a:ea typeface="Arial"/>
                <a:cs typeface="Arial"/>
              </a:defRPr>
            </a:defPPr>
          </a:lstStyle>
          <a:p xmlns:a="http://schemas.openxmlformats.org/drawingml/2006/main">
            <a:pPr algn="ctr">
              <a:defRPr sz="1050" b="0">
                <a:solidFill>
                  <a:srgbClr val="173773"/>
                </a:solidFill>
                <a:latin typeface="Arial"/>
                <a:ea typeface="Arial"/>
                <a:cs typeface="Arial"/>
              </a:defRPr>
            </a:pPr>
            <a:r>
              <a:rPr sz="1050" b="0">
                <a:solidFill>
                  <a:srgbClr val="173773"/>
                </a:solidFill>
                <a:latin typeface="Arial"/>
                <a:ea typeface="Arial"/>
                <a:cs typeface="Arial"/>
              </a:rPr>
              <a:t>Почему BCE</a:t>
            </a:r>
          </a:p>
          <a:p xmlns:a="http://schemas.openxmlformats.org/drawingml/2006/main">
            <a:pPr algn="ctr">
              <a:defRPr sz="1050" b="0">
                <a:solidFill>
                  <a:srgbClr val="173773"/>
                </a:solidFill>
                <a:latin typeface="Arial"/>
                <a:ea typeface="Arial"/>
                <a:cs typeface="Arial"/>
              </a:defRPr>
            </a:pPr>
            <a:r>
              <a:rPr sz="1050" b="0">
                <a:solidFill>
                  <a:srgbClr val="173773"/>
                </a:solidFill>
                <a:latin typeface="Arial"/>
                <a:ea typeface="Arial"/>
                <a:cs typeface="Arial"/>
              </a:rPr>
              <a:t>У одного пользователя может быть несколько правильных категорий</a:t>
            </a:r>
          </a:p>
        </p:txBody>
      </p:sp>
      <p:sp>
        <p:nvSpPr>
          <p:cNvPr id="70" name="">
            <a:extLst xmlns:a="http://schemas.openxmlformats.org/drawingml/2006/main">
              <a:ext uri="{FF2B5EF4-FFF2-40B4-BE49-F238E27FC236}">
                <a16:creationId xmlns:a16="http://schemas.microsoft.com/office/drawing/2014/main" id="{BE51EA54-B996-48A7-ACF5-F5AFA361FF98}"/>
              </a:ext>
            </a:extLst>
          </p:cNvPr>
          <p:cNvSpPr>
            <a:spLocks xmlns:a="http://schemas.openxmlformats.org/drawingml/2006/main" noGrp="1"/>
          </p:cNvSpPr>
          <p:nvPr/>
        </p:nvSpPr>
        <p:spPr>
          <a:xfrm xmlns:a="http://schemas.openxmlformats.org/drawingml/2006/main">
            <a:off x="2461260" y="2943225"/>
            <a:ext cx="2034540" cy="1066800"/>
          </a:xfrm>
          <a:prstGeom xmlns:a="http://schemas.openxmlformats.org/drawingml/2006/main" prst="roundRect">
            <a:avLst>
              <a:gd name="adj" fmla="val 7143"/>
            </a:avLst>
          </a:prstGeom>
          <a:solidFill xmlns:a="http://schemas.openxmlformats.org/drawingml/2006/main">
            <a:srgbClr val="E8EEF8"/>
          </a:solidFill>
          <a:ln xmlns:a="http://schemas.openxmlformats.org/drawingml/2006/main" w="0">
            <a:noFill/>
          </a:ln>
        </p:spPr>
      </p:sp>
      <p:sp>
        <p:nvSpPr>
          <p:cNvPr id="71" name="">
            <a:extLst xmlns:a="http://schemas.openxmlformats.org/drawingml/2006/main">
              <a:ext uri="{FF2B5EF4-FFF2-40B4-BE49-F238E27FC236}">
                <a16:creationId xmlns:a16="http://schemas.microsoft.com/office/drawing/2014/main" id="{499C9015-4D5B-4207-A2A8-F68B008FB4B9}"/>
              </a:ext>
            </a:extLst>
          </p:cNvPr>
          <p:cNvSpPr>
            <a:spLocks xmlns:a="http://schemas.openxmlformats.org/drawingml/2006/main" noGrp="1"/>
          </p:cNvSpPr>
          <p:nvPr/>
        </p:nvSpPr>
        <p:spPr>
          <a:xfrm xmlns:a="http://schemas.openxmlformats.org/drawingml/2006/main">
            <a:off x="2461260" y="2943225"/>
            <a:ext cx="203454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33350" tIns="95250" rIns="133350" bIns="95250" anchor="ctr">
            <a:normAutofit fontScale="100000"/>
          </a:bodyPr>
          <a:lstStyle xmlns:a="http://schemas.openxmlformats.org/drawingml/2006/main">
            <a:defPPr algn="ctr">
              <a:defRPr sz="1050" b="0">
                <a:solidFill>
                  <a:srgbClr val="173773"/>
                </a:solidFill>
                <a:latin typeface="Arial"/>
                <a:ea typeface="Arial"/>
                <a:cs typeface="Arial"/>
              </a:defRPr>
            </a:defPPr>
          </a:lstStyle>
          <a:p xmlns:a="http://schemas.openxmlformats.org/drawingml/2006/main">
            <a:pPr algn="ctr">
              <a:defRPr sz="1050" b="0">
                <a:solidFill>
                  <a:srgbClr val="173773"/>
                </a:solidFill>
                <a:latin typeface="Arial"/>
                <a:ea typeface="Arial"/>
                <a:cs typeface="Arial"/>
              </a:defRPr>
            </a:pPr>
            <a:r>
              <a:rPr sz="1050" b="0">
                <a:solidFill>
                  <a:srgbClr val="173773"/>
                </a:solidFill>
                <a:latin typeface="Arial"/>
                <a:ea typeface="Arial"/>
                <a:cs typeface="Arial"/>
              </a:rPr>
              <a:t>Дисбаланс</a:t>
            </a:r>
          </a:p>
          <a:p xmlns:a="http://schemas.openxmlformats.org/drawingml/2006/main">
            <a:pPr algn="ctr">
              <a:defRPr sz="1050" b="0">
                <a:solidFill>
                  <a:srgbClr val="173773"/>
                </a:solidFill>
                <a:latin typeface="Arial"/>
                <a:ea typeface="Arial"/>
                <a:cs typeface="Arial"/>
              </a:defRPr>
            </a:pPr>
            <a:r>
              <a:rPr sz="1050" b="0">
                <a:solidFill>
                  <a:srgbClr val="173773"/>
                </a:solidFill>
                <a:latin typeface="Arial"/>
                <a:ea typeface="Arial"/>
                <a:cs typeface="Arial"/>
              </a:rPr>
              <a:t>Положительный класс получает вес 50</a:t>
            </a:r>
          </a:p>
        </p:txBody>
      </p:sp>
      <p:sp>
        <p:nvSpPr>
          <p:cNvPr id="72" name="">
            <a:extLst xmlns:a="http://schemas.openxmlformats.org/drawingml/2006/main">
              <a:ext uri="{FF2B5EF4-FFF2-40B4-BE49-F238E27FC236}">
                <a16:creationId xmlns:a16="http://schemas.microsoft.com/office/drawing/2014/main" id="{852BBC7A-DA72-4584-9140-5D38EDE2450C}"/>
              </a:ext>
            </a:extLst>
          </p:cNvPr>
          <p:cNvSpPr>
            <a:spLocks xmlns:a="http://schemas.openxmlformats.org/drawingml/2006/main" noGrp="1"/>
          </p:cNvSpPr>
          <p:nvPr/>
        </p:nvSpPr>
        <p:spPr>
          <a:xfrm xmlns:a="http://schemas.openxmlformats.org/drawingml/2006/main">
            <a:off x="4648200" y="2943225"/>
            <a:ext cx="2034540" cy="1066800"/>
          </a:xfrm>
          <a:prstGeom xmlns:a="http://schemas.openxmlformats.org/drawingml/2006/main" prst="roundRect">
            <a:avLst>
              <a:gd name="adj" fmla="val 7143"/>
            </a:avLst>
          </a:prstGeom>
          <a:solidFill xmlns:a="http://schemas.openxmlformats.org/drawingml/2006/main">
            <a:srgbClr val="E8EEF8"/>
          </a:solidFill>
          <a:ln xmlns:a="http://schemas.openxmlformats.org/drawingml/2006/main" w="0">
            <a:noFill/>
          </a:ln>
        </p:spPr>
      </p:sp>
      <p:sp>
        <p:nvSpPr>
          <p:cNvPr id="73" name="">
            <a:extLst xmlns:a="http://schemas.openxmlformats.org/drawingml/2006/main">
              <a:ext uri="{FF2B5EF4-FFF2-40B4-BE49-F238E27FC236}">
                <a16:creationId xmlns:a16="http://schemas.microsoft.com/office/drawing/2014/main" id="{700E6BC7-FE72-4F9F-AD52-E5A18C2ED0BA}"/>
              </a:ext>
            </a:extLst>
          </p:cNvPr>
          <p:cNvSpPr>
            <a:spLocks xmlns:a="http://schemas.openxmlformats.org/drawingml/2006/main" noGrp="1"/>
          </p:cNvSpPr>
          <p:nvPr/>
        </p:nvSpPr>
        <p:spPr>
          <a:xfrm xmlns:a="http://schemas.openxmlformats.org/drawingml/2006/main">
            <a:off x="4648200" y="2943225"/>
            <a:ext cx="203454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33350" tIns="95250" rIns="133350" bIns="95250" anchor="ctr">
            <a:normAutofit fontScale="100000"/>
          </a:bodyPr>
          <a:lstStyle xmlns:a="http://schemas.openxmlformats.org/drawingml/2006/main">
            <a:defPPr algn="ctr">
              <a:defRPr sz="1050" b="0">
                <a:solidFill>
                  <a:srgbClr val="173773"/>
                </a:solidFill>
                <a:latin typeface="Arial"/>
                <a:ea typeface="Arial"/>
                <a:cs typeface="Arial"/>
              </a:defRPr>
            </a:defPPr>
          </a:lstStyle>
          <a:p xmlns:a="http://schemas.openxmlformats.org/drawingml/2006/main">
            <a:pPr algn="ctr">
              <a:defRPr sz="1050" b="0">
                <a:solidFill>
                  <a:srgbClr val="173773"/>
                </a:solidFill>
                <a:latin typeface="Arial"/>
                <a:ea typeface="Arial"/>
                <a:cs typeface="Arial"/>
              </a:defRPr>
            </a:pPr>
            <a:r>
              <a:rPr sz="1050" b="0">
                <a:solidFill>
                  <a:srgbClr val="173773"/>
                </a:solidFill>
                <a:latin typeface="Arial"/>
                <a:ea typeface="Arial"/>
                <a:cs typeface="Arial"/>
              </a:rPr>
              <a:t>Оптимизация</a:t>
            </a:r>
          </a:p>
          <a:p xmlns:a="http://schemas.openxmlformats.org/drawingml/2006/main">
            <a:pPr algn="ctr">
              <a:defRPr sz="1050" b="0">
                <a:solidFill>
                  <a:srgbClr val="173773"/>
                </a:solidFill>
                <a:latin typeface="Arial"/>
                <a:ea typeface="Arial"/>
                <a:cs typeface="Arial"/>
              </a:defRPr>
            </a:pPr>
            <a:r>
              <a:rPr sz="1050" b="0">
                <a:solidFill>
                  <a:srgbClr val="173773"/>
                </a:solidFill>
                <a:latin typeface="Arial"/>
                <a:ea typeface="Arial"/>
                <a:cs typeface="Arial"/>
              </a:rPr>
              <a:t>AdamW · clip нормы градиента 5,0</a:t>
            </a:r>
          </a:p>
        </p:txBody>
      </p:sp>
      <p:sp>
        <p:nvSpPr>
          <p:cNvPr id="74" name="">
            <a:extLst xmlns:a="http://schemas.openxmlformats.org/drawingml/2006/main">
              <a:ext uri="{FF2B5EF4-FFF2-40B4-BE49-F238E27FC236}">
                <a16:creationId xmlns:a16="http://schemas.microsoft.com/office/drawing/2014/main" id="{4FDDCA18-9646-4B48-8760-5790FFAA7584}"/>
              </a:ext>
            </a:extLst>
          </p:cNvPr>
          <p:cNvSpPr>
            <a:spLocks xmlns:a="http://schemas.openxmlformats.org/drawingml/2006/main" noGrp="1"/>
          </p:cNvSpPr>
          <p:nvPr/>
        </p:nvSpPr>
        <p:spPr>
          <a:xfrm xmlns:a="http://schemas.openxmlformats.org/drawingml/2006/main">
            <a:off x="6835140" y="2943225"/>
            <a:ext cx="2034540" cy="1066800"/>
          </a:xfrm>
          <a:prstGeom xmlns:a="http://schemas.openxmlformats.org/drawingml/2006/main" prst="roundRect">
            <a:avLst>
              <a:gd name="adj" fmla="val 7143"/>
            </a:avLst>
          </a:prstGeom>
          <a:solidFill xmlns:a="http://schemas.openxmlformats.org/drawingml/2006/main">
            <a:srgbClr val="E8EEF8"/>
          </a:solidFill>
          <a:ln xmlns:a="http://schemas.openxmlformats.org/drawingml/2006/main" w="0">
            <a:noFill/>
          </a:ln>
        </p:spPr>
      </p:sp>
      <p:sp>
        <p:nvSpPr>
          <p:cNvPr id="75" name="">
            <a:extLst xmlns:a="http://schemas.openxmlformats.org/drawingml/2006/main">
              <a:ext uri="{FF2B5EF4-FFF2-40B4-BE49-F238E27FC236}">
                <a16:creationId xmlns:a16="http://schemas.microsoft.com/office/drawing/2014/main" id="{75041C32-7AB0-4D31-95B6-4A6A8B2C0316}"/>
              </a:ext>
            </a:extLst>
          </p:cNvPr>
          <p:cNvSpPr>
            <a:spLocks xmlns:a="http://schemas.openxmlformats.org/drawingml/2006/main" noGrp="1"/>
          </p:cNvSpPr>
          <p:nvPr/>
        </p:nvSpPr>
        <p:spPr>
          <a:xfrm xmlns:a="http://schemas.openxmlformats.org/drawingml/2006/main">
            <a:off x="6835140" y="2943225"/>
            <a:ext cx="203454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33350" tIns="95250" rIns="133350" bIns="95250" anchor="ctr">
            <a:normAutofit fontScale="100000"/>
          </a:bodyPr>
          <a:lstStyle xmlns:a="http://schemas.openxmlformats.org/drawingml/2006/main">
            <a:defPPr algn="ctr">
              <a:defRPr sz="1050" b="0">
                <a:solidFill>
                  <a:srgbClr val="173773"/>
                </a:solidFill>
                <a:latin typeface="Arial"/>
                <a:ea typeface="Arial"/>
                <a:cs typeface="Arial"/>
              </a:defRPr>
            </a:defPPr>
          </a:lstStyle>
          <a:p xmlns:a="http://schemas.openxmlformats.org/drawingml/2006/main">
            <a:pPr algn="ctr">
              <a:defRPr sz="1050" b="0">
                <a:solidFill>
                  <a:srgbClr val="173773"/>
                </a:solidFill>
                <a:latin typeface="Arial"/>
                <a:ea typeface="Arial"/>
                <a:cs typeface="Arial"/>
              </a:defRPr>
            </a:pPr>
            <a:r>
              <a:rPr sz="1050" b="0">
                <a:solidFill>
                  <a:srgbClr val="173773"/>
                </a:solidFill>
                <a:latin typeface="Arial"/>
                <a:ea typeface="Arial"/>
                <a:cs typeface="Arial"/>
              </a:rPr>
              <a:t>Выбор состояния</a:t>
            </a:r>
          </a:p>
          <a:p xmlns:a="http://schemas.openxmlformats.org/drawingml/2006/main">
            <a:pPr algn="ctr">
              <a:defRPr sz="1050" b="0">
                <a:solidFill>
                  <a:srgbClr val="173773"/>
                </a:solidFill>
                <a:latin typeface="Arial"/>
                <a:ea typeface="Arial"/>
                <a:cs typeface="Arial"/>
              </a:defRPr>
            </a:pPr>
            <a:r>
              <a:rPr sz="1050" b="0">
                <a:solidFill>
                  <a:srgbClr val="173773"/>
                </a:solidFill>
                <a:latin typeface="Arial"/>
                <a:ea typeface="Arial"/>
                <a:cs typeface="Arial"/>
              </a:rPr>
              <a:t>Лучший Recall@5 на следующем периоде</a:t>
            </a:r>
          </a:p>
        </p:txBody>
      </p:sp>
      <p:sp>
        <p:nvSpPr>
          <p:cNvPr id="76" name="">
            <a:extLst xmlns:a="http://schemas.openxmlformats.org/drawingml/2006/main">
              <a:ext uri="{FF2B5EF4-FFF2-40B4-BE49-F238E27FC236}">
                <a16:creationId xmlns:a16="http://schemas.microsoft.com/office/drawing/2014/main" id="{D529839F-4CF0-43D7-B4E7-E96395766A69}"/>
              </a:ext>
            </a:extLst>
          </p:cNvPr>
          <p:cNvSpPr>
            <a:spLocks xmlns:a="http://schemas.openxmlformats.org/drawingml/2006/main" noGrp="1"/>
          </p:cNvSpPr>
          <p:nvPr/>
        </p:nvSpPr>
        <p:spPr>
          <a:xfrm xmlns:a="http://schemas.openxmlformats.org/drawingml/2006/main">
            <a:off x="274320" y="4181475"/>
            <a:ext cx="4206240" cy="685800"/>
          </a:xfrm>
          <a:prstGeom xmlns:a="http://schemas.openxmlformats.org/drawingml/2006/main" prst="roundRect">
            <a:avLst>
              <a:gd name="adj" fmla="val 11111"/>
            </a:avLst>
          </a:prstGeom>
          <a:solidFill xmlns:a="http://schemas.openxmlformats.org/drawingml/2006/main">
            <a:srgbClr val="FDE8D7"/>
          </a:solidFill>
          <a:ln xmlns:a="http://schemas.openxmlformats.org/drawingml/2006/main" w="0">
            <a:noFill/>
          </a:ln>
        </p:spPr>
      </p:sp>
      <p:sp>
        <p:nvSpPr>
          <p:cNvPr id="77" name="">
            <a:extLst xmlns:a="http://schemas.openxmlformats.org/drawingml/2006/main">
              <a:ext uri="{FF2B5EF4-FFF2-40B4-BE49-F238E27FC236}">
                <a16:creationId xmlns:a16="http://schemas.microsoft.com/office/drawing/2014/main" id="{3479FF1A-5E56-45C2-8E5B-D182AA17BA7F}"/>
              </a:ext>
            </a:extLst>
          </p:cNvPr>
          <p:cNvSpPr>
            <a:spLocks xmlns:a="http://schemas.openxmlformats.org/drawingml/2006/main" noGrp="1"/>
          </p:cNvSpPr>
          <p:nvPr/>
        </p:nvSpPr>
        <p:spPr>
          <a:xfrm xmlns:a="http://schemas.openxmlformats.org/drawingml/2006/main">
            <a:off x="274320" y="4181475"/>
            <a:ext cx="420624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33350" tIns="95250" rIns="133350" bIns="95250" anchor="ctr">
            <a:normAutofit fontScale="100000"/>
          </a:bodyPr>
          <a:lstStyle xmlns:a="http://schemas.openxmlformats.org/drawingml/2006/main">
            <a:defPPr algn="ctr">
              <a:defRPr sz="1200" b="1">
                <a:solidFill>
                  <a:srgbClr val="173773"/>
                </a:solidFill>
                <a:latin typeface="Arial"/>
                <a:ea typeface="Arial"/>
                <a:cs typeface="Arial"/>
              </a:defRPr>
            </a:defPPr>
          </a:lstStyle>
          <a:p xmlns:a="http://schemas.openxmlformats.org/drawingml/2006/main">
            <a:pPr algn="ctr">
              <a:defRPr sz="1200" b="1">
                <a:solidFill>
                  <a:srgbClr val="173773"/>
                </a:solidFill>
                <a:latin typeface="Arial"/>
                <a:ea typeface="Arial"/>
                <a:cs typeface="Arial"/>
              </a:defRPr>
            </a:pPr>
            <a:r>
              <a:rPr sz="1200" b="1">
                <a:solidFill>
                  <a:srgbClr val="173773"/>
                </a:solidFill>
                <a:latin typeface="Arial"/>
                <a:ea typeface="Arial"/>
                <a:cs typeface="Arial"/>
              </a:rPr>
              <a:t>Полный запуск: 12 эпох · выбрана 12-я</a:t>
            </a:r>
          </a:p>
          <a:p xmlns:a="http://schemas.openxmlformats.org/drawingml/2006/main">
            <a:pPr algn="ctr">
              <a:defRPr sz="1200" b="1">
                <a:solidFill>
                  <a:srgbClr val="173773"/>
                </a:solidFill>
                <a:latin typeface="Arial"/>
                <a:ea typeface="Arial"/>
                <a:cs typeface="Arial"/>
              </a:defRPr>
            </a:pPr>
            <a:r>
              <a:rPr sz="1200" b="1">
                <a:solidFill>
                  <a:srgbClr val="173773"/>
                </a:solidFill>
                <a:latin typeface="Arial"/>
                <a:ea typeface="Arial"/>
                <a:cs typeface="Arial"/>
              </a:rPr>
              <a:t>ранняя остановка не сработала</a:t>
            </a:r>
          </a:p>
        </p:txBody>
      </p:sp>
      <p:sp>
        <p:nvSpPr>
          <p:cNvPr id="78" name="">
            <a:extLst xmlns:a="http://schemas.openxmlformats.org/drawingml/2006/main">
              <a:ext uri="{FF2B5EF4-FFF2-40B4-BE49-F238E27FC236}">
                <a16:creationId xmlns:a16="http://schemas.microsoft.com/office/drawing/2014/main" id="{2A4FF11B-2F68-4777-8492-896CD3EE65F0}"/>
              </a:ext>
            </a:extLst>
          </p:cNvPr>
          <p:cNvSpPr>
            <a:spLocks xmlns:a="http://schemas.openxmlformats.org/drawingml/2006/main" noGrp="1"/>
          </p:cNvSpPr>
          <p:nvPr/>
        </p:nvSpPr>
        <p:spPr>
          <a:xfrm xmlns:a="http://schemas.openxmlformats.org/drawingml/2006/main">
            <a:off x="4663440" y="4181475"/>
            <a:ext cx="4206240" cy="685800"/>
          </a:xfrm>
          <a:prstGeom xmlns:a="http://schemas.openxmlformats.org/drawingml/2006/main" prst="roundRect">
            <a:avLst>
              <a:gd name="adj" fmla="val 11111"/>
            </a:avLst>
          </a:prstGeom>
          <a:solidFill xmlns:a="http://schemas.openxmlformats.org/drawingml/2006/main">
            <a:srgbClr val="E8EEF8"/>
          </a:solidFill>
          <a:ln xmlns:a="http://schemas.openxmlformats.org/drawingml/2006/main" w="0">
            <a:noFill/>
          </a:ln>
        </p:spPr>
      </p:sp>
      <p:sp>
        <p:nvSpPr>
          <p:cNvPr id="79" name="">
            <a:extLst xmlns:a="http://schemas.openxmlformats.org/drawingml/2006/main">
              <a:ext uri="{FF2B5EF4-FFF2-40B4-BE49-F238E27FC236}">
                <a16:creationId xmlns:a16="http://schemas.microsoft.com/office/drawing/2014/main" id="{294E2846-2550-40D6-A759-3B634483E783}"/>
              </a:ext>
            </a:extLst>
          </p:cNvPr>
          <p:cNvSpPr>
            <a:spLocks xmlns:a="http://schemas.openxmlformats.org/drawingml/2006/main" noGrp="1"/>
          </p:cNvSpPr>
          <p:nvPr/>
        </p:nvSpPr>
        <p:spPr>
          <a:xfrm xmlns:a="http://schemas.openxmlformats.org/drawingml/2006/main">
            <a:off x="4663440" y="4181475"/>
            <a:ext cx="420624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33350" tIns="95250" rIns="133350" bIns="95250" anchor="ctr">
            <a:normAutofit fontScale="98234"/>
          </a:bodyPr>
          <a:lstStyle xmlns:a="http://schemas.openxmlformats.org/drawingml/2006/main">
            <a:defPPr algn="ctr">
              <a:defRPr sz="1200" b="1">
                <a:solidFill>
                  <a:srgbClr val="173773"/>
                </a:solidFill>
                <a:latin typeface="Arial"/>
                <a:ea typeface="Arial"/>
                <a:cs typeface="Arial"/>
              </a:defRPr>
            </a:defPPr>
          </a:lstStyle>
          <a:p xmlns:a="http://schemas.openxmlformats.org/drawingml/2006/main">
            <a:pPr algn="ctr">
              <a:defRPr sz="1200" b="1">
                <a:solidFill>
                  <a:srgbClr val="173773"/>
                </a:solidFill>
                <a:latin typeface="Arial"/>
                <a:ea typeface="Arial"/>
                <a:cs typeface="Arial"/>
              </a:defRPr>
            </a:pPr>
            <a:r>
              <a:rPr sz="1200" b="1">
                <a:solidFill>
                  <a:srgbClr val="173773"/>
                </a:solidFill>
                <a:latin typeface="Arial"/>
                <a:ea typeface="Arial"/>
                <a:cs typeface="Arial"/>
              </a:rPr>
              <a:t>Основной запуск: seed 42</a:t>
            </a:r>
          </a:p>
          <a:p xmlns:a="http://schemas.openxmlformats.org/drawingml/2006/main">
            <a:pPr algn="ctr">
              <a:defRPr sz="1200" b="1">
                <a:solidFill>
                  <a:srgbClr val="173773"/>
                </a:solidFill>
                <a:latin typeface="Arial"/>
                <a:ea typeface="Arial"/>
                <a:cs typeface="Arial"/>
              </a:defRPr>
            </a:pPr>
            <a:r>
              <a:rPr sz="1200" b="1">
                <a:solidFill>
                  <a:srgbClr val="173773"/>
                </a:solidFill>
                <a:latin typeface="Arial"/>
                <a:ea typeface="Arial"/>
                <a:cs typeface="Arial"/>
              </a:rPr>
              <a:t>усреднение по 3 seed — только в эксперименте d=64</a:t>
            </a:r>
          </a:p>
        </p:txBody>
      </p:sp>
    </p:spTree>
    <p:extLst>
      <p:ext uri="{BB962C8B-B14F-4D97-AF65-F5344CB8AC3E}">
        <p14:creationId xmlns:p14="http://schemas.microsoft.com/office/powerpoint/2010/main" val="75217283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E364087D-2B13-4F6D-B3DA-964A815CCC19}"/>
              </a:ext>
            </a:extLst>
          </p:cNvPr>
          <p:cNvPicPr>
            <a:picLocks xmlns:a="http://schemas.openxmlformats.org/drawingml/2006/main" noChangeAspect="1"/>
          </p:cNvPicPr>
          <p:nvPr/>
        </p:nvPicPr>
        <p:blipFill>
          <a:blip xmlns:r="http://schemas.openxmlformats.org/officeDocument/2006/relationships" xmlns:a="http://schemas.openxmlformats.org/drawingml/2006/main" r:embed="R95758bf4c9ee4276"/>
          <a:stretch xmlns:a="http://schemas.openxmlformats.org/drawingml/2006/main">
            <a:fillRect l="0" t="0" r="0" b="0"/>
          </a:stretch>
        </p:blipFill>
        <p:spPr>
          <a:xfrm xmlns:a="http://schemas.openxmlformats.org/drawingml/2006/main">
            <a:off x="274320" y="137160"/>
            <a:ext cx="502920" cy="50292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416CBBAB-3800-4CF7-9ADD-6DCE5B96C0E5}"/>
              </a:ext>
            </a:extLst>
          </p:cNvPr>
          <p:cNvSpPr>
            <a:spLocks xmlns:a="http://schemas.openxmlformats.org/drawingml/2006/main" noGrp="1"/>
          </p:cNvSpPr>
          <p:nvPr/>
        </p:nvSpPr>
        <p:spPr>
          <a:xfrm xmlns:a="http://schemas.openxmlformats.org/drawingml/2006/main">
            <a:off x="868680" y="201168"/>
            <a:ext cx="173736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0E2D69"/>
                </a:solidFill>
                <a:latin typeface="Arial"/>
                <a:ea typeface="Arial"/>
                <a:cs typeface="Arial"/>
              </a:rPr>
              <a:t>Школа информатики, физики и технологий</a:t>
            </a:r>
            <a:endParaRPr sz="800"/>
          </a:p>
        </p:txBody>
      </p:sp>
      <p:sp>
        <p:nvSpPr>
          <p:cNvPr id="4" name="Text 1">
            <a:extLst xmlns:a="http://schemas.openxmlformats.org/drawingml/2006/main">
              <a:ext uri="{FF2B5EF4-FFF2-40B4-BE49-F238E27FC236}">
                <a16:creationId xmlns:a16="http://schemas.microsoft.com/office/drawing/2014/main" id="{62FBF695-00DB-4027-895D-B52F15FDD283}"/>
              </a:ext>
            </a:extLst>
          </p:cNvPr>
          <p:cNvSpPr>
            <a:spLocks xmlns:a="http://schemas.openxmlformats.org/drawingml/2006/main" noGrp="1"/>
          </p:cNvSpPr>
          <p:nvPr/>
        </p:nvSpPr>
        <p:spPr>
          <a:xfrm xmlns:a="http://schemas.openxmlformats.org/drawingml/2006/main">
            <a:off x="2834640" y="201168"/>
            <a:ext cx="29260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0E2D69"/>
                </a:solidFill>
                <a:latin typeface="Arial"/>
                <a:ea typeface="Arial"/>
                <a:cs typeface="Arial"/>
              </a:rPr>
              <a:t>Рекомендательная система на основе поведенческих эмбеддингов</a:t>
            </a:r>
            <a:endParaRPr sz="800"/>
          </a:p>
        </p:txBody>
      </p:sp>
      <p:sp>
        <p:nvSpPr>
          <p:cNvPr id="5" name="Text 2">
            <a:extLst xmlns:a="http://schemas.openxmlformats.org/drawingml/2006/main">
              <a:ext uri="{FF2B5EF4-FFF2-40B4-BE49-F238E27FC236}">
                <a16:creationId xmlns:a16="http://schemas.microsoft.com/office/drawing/2014/main" id="{959DC592-E3A2-4AC5-9BED-BCCC69604B3E}"/>
              </a:ext>
            </a:extLst>
          </p:cNvPr>
          <p:cNvSpPr>
            <a:spLocks xmlns:a="http://schemas.openxmlformats.org/drawingml/2006/main" noGrp="1"/>
          </p:cNvSpPr>
          <p:nvPr/>
        </p:nvSpPr>
        <p:spPr>
          <a:xfrm xmlns:a="http://schemas.openxmlformats.org/drawingml/2006/main">
            <a:off x="5989320" y="201168"/>
            <a:ext cx="18288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defPPr algn="l">
              <a:defRPr sz="900">
                <a:solidFill>
                  <a:srgbClr val="173773"/>
                </a:solidFill>
                <a:latin typeface="Arial"/>
                <a:ea typeface="Arial"/>
                <a:cs typeface="Arial"/>
              </a:defRPr>
            </a:defPPr>
          </a:lstStyle>
          <a:p xmlns:a="http://schemas.openxmlformats.org/drawingml/2006/main">
            <a:pPr marL="0" indent="0" algn="l">
              <a:buNone/>
            </a:pPr>
            <a:r>
              <a:rPr sz="900">
                <a:solidFill>
                  <a:srgbClr val="173773"/>
                </a:solidFill>
                <a:latin typeface="Arial"/>
                <a:ea typeface="Arial"/>
                <a:cs typeface="Arial"/>
              </a:rPr>
              <a:t>Сравнение</a:t>
            </a:r>
            <a:endParaRPr sz="800"/>
          </a:p>
        </p:txBody>
      </p:sp>
      <p:sp>
        <p:nvSpPr>
          <p:cNvPr id="6" name="Shape 3">
            <a:extLst xmlns:a="http://schemas.openxmlformats.org/drawingml/2006/main">
              <a:ext uri="{FF2B5EF4-FFF2-40B4-BE49-F238E27FC236}">
                <a16:creationId xmlns:a16="http://schemas.microsoft.com/office/drawing/2014/main" id="{1A7C9157-9309-45E5-9AD4-0FE164173E64}"/>
              </a:ext>
            </a:extLst>
          </p:cNvPr>
          <p:cNvSpPr>
            <a:spLocks xmlns:a="http://schemas.openxmlformats.org/drawingml/2006/main" noGrp="1"/>
          </p:cNvSpPr>
          <p:nvPr/>
        </p:nvSpPr>
        <p:spPr>
          <a:xfrm xmlns:a="http://schemas.openxmlformats.org/drawingml/2006/main">
            <a:off x="2697480" y="182880"/>
            <a:ext cx="0" cy="457200"/>
          </a:xfrm>
          <a:prstGeom xmlns:a="http://schemas.openxmlformats.org/drawingml/2006/main" prst="line">
            <a:avLst/>
          </a:prstGeom>
          <a:noFill xmlns:a="http://schemas.openxmlformats.org/drawingml/2006/main"/>
          <a:ln xmlns:a="http://schemas.openxmlformats.org/drawingml/2006/main" w="19050">
            <a:solidFill>
              <a:srgbClr val="0E2D69"/>
            </a:solidFill>
            <a:prstDash val="solid"/>
          </a:ln>
        </p:spPr>
      </p:sp>
      <p:sp>
        <p:nvSpPr>
          <p:cNvPr id="7" name="Shape 4">
            <a:extLst xmlns:a="http://schemas.openxmlformats.org/drawingml/2006/main">
              <a:ext uri="{FF2B5EF4-FFF2-40B4-BE49-F238E27FC236}">
                <a16:creationId xmlns:a16="http://schemas.microsoft.com/office/drawing/2014/main" id="{3D59B077-43F2-4C1D-A910-D63514C35684}"/>
              </a:ext>
            </a:extLst>
          </p:cNvPr>
          <p:cNvSpPr>
            <a:spLocks xmlns:a="http://schemas.openxmlformats.org/drawingml/2006/main" noGrp="1"/>
          </p:cNvSpPr>
          <p:nvPr/>
        </p:nvSpPr>
        <p:spPr>
          <a:xfrm xmlns:a="http://schemas.openxmlformats.org/drawingml/2006/main">
            <a:off x="5852160" y="182880"/>
            <a:ext cx="0" cy="457200"/>
          </a:xfrm>
          <a:prstGeom xmlns:a="http://schemas.openxmlformats.org/drawingml/2006/main" prst="line">
            <a:avLst/>
          </a:prstGeom>
          <a:noFill xmlns:a="http://schemas.openxmlformats.org/drawingml/2006/main"/>
          <a:ln xmlns:a="http://schemas.openxmlformats.org/drawingml/2006/main" w="19050">
            <a:solidFill>
              <a:srgbClr val="0E2D69"/>
            </a:solidFill>
            <a:prstDash val="solid"/>
          </a:ln>
        </p:spPr>
      </p:sp>
      <p:sp>
        <p:nvSpPr>
          <p:cNvPr id="8" name="Shape 5">
            <a:extLst xmlns:a="http://schemas.openxmlformats.org/drawingml/2006/main">
              <a:ext uri="{FF2B5EF4-FFF2-40B4-BE49-F238E27FC236}">
                <a16:creationId xmlns:a16="http://schemas.microsoft.com/office/drawing/2014/main" id="{724EC8CC-FC50-446F-9FDB-0472950B80AC}"/>
              </a:ext>
            </a:extLst>
          </p:cNvPr>
          <p:cNvSpPr>
            <a:spLocks xmlns:a="http://schemas.openxmlformats.org/drawingml/2006/main" noGrp="1"/>
          </p:cNvSpPr>
          <p:nvPr/>
        </p:nvSpPr>
        <p:spPr>
          <a:xfrm xmlns:a="http://schemas.openxmlformats.org/drawingml/2006/main">
            <a:off x="7909560" y="182880"/>
            <a:ext cx="0" cy="457200"/>
          </a:xfrm>
          <a:prstGeom xmlns:a="http://schemas.openxmlformats.org/drawingml/2006/main" prst="line">
            <a:avLst/>
          </a:prstGeom>
          <a:noFill xmlns:a="http://schemas.openxmlformats.org/drawingml/2006/main"/>
          <a:ln xmlns:a="http://schemas.openxmlformats.org/drawingml/2006/main" w="19050">
            <a:solidFill>
              <a:srgbClr val="0E2D69"/>
            </a:solidFill>
            <a:prstDash val="solid"/>
          </a:ln>
        </p:spPr>
      </p:sp>
      <p:sp>
        <p:nvSpPr>
          <p:cNvPr id="9" name="Text 6">
            <a:extLst xmlns:a="http://schemas.openxmlformats.org/drawingml/2006/main">
              <a:ext uri="{FF2B5EF4-FFF2-40B4-BE49-F238E27FC236}">
                <a16:creationId xmlns:a16="http://schemas.microsoft.com/office/drawing/2014/main" id="{E7D3266A-90B7-46AB-87FB-F4144B0BA5F2}"/>
              </a:ext>
            </a:extLst>
          </p:cNvPr>
          <p:cNvSpPr>
            <a:spLocks xmlns:a="http://schemas.openxmlformats.org/drawingml/2006/main" noGrp="1"/>
          </p:cNvSpPr>
          <p:nvPr/>
        </p:nvSpPr>
        <p:spPr>
          <a:xfrm xmlns:a="http://schemas.openxmlformats.org/drawingml/2006/main">
            <a:off x="365760" y="777240"/>
            <a:ext cx="84124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defPPr algn="l">
              <a:defRPr sz="2400" b="1">
                <a:solidFill>
                  <a:srgbClr val="173773"/>
                </a:solidFill>
                <a:latin typeface="Arial"/>
                <a:ea typeface="Arial"/>
                <a:cs typeface="Arial"/>
              </a:defRPr>
            </a:defPPr>
          </a:lstStyle>
          <a:p xmlns:a="http://schemas.openxmlformats.org/drawingml/2006/main">
            <a:pPr marL="0" indent="0" algn="l">
              <a:buNone/>
            </a:pPr>
            <a:r>
              <a:rPr sz="2400" b="1">
                <a:solidFill>
                  <a:srgbClr val="173773"/>
                </a:solidFill>
                <a:latin typeface="Arial"/>
                <a:ea typeface="Arial"/>
                <a:cs typeface="Arial"/>
              </a:rPr>
              <a:t>Методы сравнения и метрики</a:t>
            </a:r>
            <a:endParaRPr sz="2400"/>
          </a:p>
        </p:txBody>
      </p:sp>
      <p:sp>
        <p:nvSpPr>
          <p:cNvPr id="40" name="Text 36">
            <a:extLst xmlns:a="http://schemas.openxmlformats.org/drawingml/2006/main">
              <a:ext uri="{FF2B5EF4-FFF2-40B4-BE49-F238E27FC236}">
                <a16:creationId xmlns:a16="http://schemas.microsoft.com/office/drawing/2014/main" id="{8476C34D-B6C5-428C-A1B4-56801CA50FFE}"/>
              </a:ext>
            </a:extLst>
          </p:cNvPr>
          <p:cNvSpPr>
            <a:spLocks xmlns:a="http://schemas.openxmlformats.org/drawingml/2006/main" noGrp="1"/>
          </p:cNvSpPr>
          <p:nvPr/>
        </p:nvSpPr>
        <p:spPr>
          <a:xfrm xmlns:a="http://schemas.openxmlformats.org/drawingml/2006/main">
            <a:off x="8001000" y="201168"/>
            <a:ext cx="8686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defPPr algn="ctr">
              <a:defRPr sz="1200">
                <a:solidFill>
                  <a:srgbClr val="173773"/>
                </a:solidFill>
                <a:latin typeface="Arial"/>
                <a:ea typeface="Arial"/>
                <a:cs typeface="Arial"/>
              </a:defRPr>
            </a:defPPr>
          </a:lstStyle>
          <a:p xmlns:a="http://schemas.openxmlformats.org/drawingml/2006/main">
            <a:pPr marL="0" indent="0" algn="ctr">
              <a:buNone/>
            </a:pPr>
            <a:r>
              <a:rPr sz="1200">
                <a:solidFill>
                  <a:srgbClr val="173773"/>
                </a:solidFill>
                <a:latin typeface="Arial"/>
                <a:ea typeface="Arial"/>
                <a:cs typeface="Arial"/>
              </a:rPr>
              <a:t>14/20</a:t>
            </a:r>
            <a:endParaRPr sz="1200"/>
          </a:p>
        </p:txBody>
      </p:sp>
      <p:sp>
        <p:nvSpPr>
          <p:cNvPr id="41" name="">
            <a:extLst xmlns:a="http://schemas.openxmlformats.org/drawingml/2006/main">
              <a:ext uri="{FF2B5EF4-FFF2-40B4-BE49-F238E27FC236}">
                <a16:creationId xmlns:a16="http://schemas.microsoft.com/office/drawing/2014/main" id="{937FA7B7-3BBA-4B4F-B610-5266A6866D28}"/>
              </a:ext>
            </a:extLst>
          </p:cNvPr>
          <p:cNvSpPr>
            <a:spLocks xmlns:a="http://schemas.openxmlformats.org/drawingml/2006/main" noGrp="1"/>
          </p:cNvSpPr>
          <p:nvPr/>
        </p:nvSpPr>
        <p:spPr>
          <a:xfrm xmlns:a="http://schemas.openxmlformats.org/drawingml/2006/main">
            <a:off x="274320" y="1409700"/>
            <a:ext cx="2781300" cy="685800"/>
          </a:xfrm>
          <a:prstGeom xmlns:a="http://schemas.openxmlformats.org/drawingml/2006/main" prst="roundRect">
            <a:avLst>
              <a:gd name="adj" fmla="val 11111"/>
            </a:avLst>
          </a:prstGeom>
          <a:solidFill xmlns:a="http://schemas.openxmlformats.org/drawingml/2006/main">
            <a:srgbClr val="E8EEF8"/>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F8A5B65B-3579-4085-98BB-600D2FB4034D}"/>
              </a:ext>
            </a:extLst>
          </p:cNvPr>
          <p:cNvSpPr>
            <a:spLocks xmlns:a="http://schemas.openxmlformats.org/drawingml/2006/main" noGrp="1"/>
          </p:cNvSpPr>
          <p:nvPr/>
        </p:nvSpPr>
        <p:spPr>
          <a:xfrm xmlns:a="http://schemas.openxmlformats.org/drawingml/2006/main">
            <a:off x="274320" y="1409700"/>
            <a:ext cx="2781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33350" tIns="95250" rIns="133350" bIns="95250" anchor="ctr">
            <a:normAutofit fontScale="100000"/>
          </a:bodyPr>
          <a:lstStyle xmlns:a="http://schemas.openxmlformats.org/drawingml/2006/main">
            <a:defPPr algn="ctr">
              <a:defRPr sz="1050" b="0">
                <a:solidFill>
                  <a:srgbClr val="173773"/>
                </a:solidFill>
                <a:latin typeface="Arial"/>
                <a:ea typeface="Arial"/>
                <a:cs typeface="Arial"/>
              </a:defRPr>
            </a:defPPr>
          </a:lstStyle>
          <a:p xmlns:a="http://schemas.openxmlformats.org/drawingml/2006/main">
            <a:pPr algn="ctr">
              <a:defRPr sz="1050" b="0">
                <a:solidFill>
                  <a:srgbClr val="173773"/>
                </a:solidFill>
                <a:latin typeface="Arial"/>
                <a:ea typeface="Arial"/>
                <a:cs typeface="Arial"/>
              </a:defRPr>
            </a:pPr>
            <a:r>
              <a:rPr sz="1050" b="0">
                <a:solidFill>
                  <a:srgbClr val="173773"/>
                </a:solidFill>
                <a:latin typeface="Arial"/>
                <a:ea typeface="Arial"/>
                <a:cs typeface="Arial"/>
              </a:rPr>
              <a:t>Случайное</a:t>
            </a:r>
          </a:p>
          <a:p xmlns:a="http://schemas.openxmlformats.org/drawingml/2006/main">
            <a:pPr algn="ctr">
              <a:defRPr sz="1050" b="0">
                <a:solidFill>
                  <a:srgbClr val="173773"/>
                </a:solidFill>
                <a:latin typeface="Arial"/>
                <a:ea typeface="Arial"/>
                <a:cs typeface="Arial"/>
              </a:defRPr>
            </a:pPr>
            <a:r>
              <a:rPr sz="1050" b="0">
                <a:solidFill>
                  <a:srgbClr val="173773"/>
                </a:solidFill>
                <a:latin typeface="Arial"/>
                <a:ea typeface="Arial"/>
                <a:cs typeface="Arial"/>
              </a:rPr>
              <a:t>контроль здравого смысла</a:t>
            </a:r>
          </a:p>
        </p:txBody>
      </p:sp>
      <p:sp>
        <p:nvSpPr>
          <p:cNvPr id="43" name="">
            <a:extLst xmlns:a="http://schemas.openxmlformats.org/drawingml/2006/main">
              <a:ext uri="{FF2B5EF4-FFF2-40B4-BE49-F238E27FC236}">
                <a16:creationId xmlns:a16="http://schemas.microsoft.com/office/drawing/2014/main" id="{47589CF0-0F1C-4BAE-B8C2-E06D1E522283}"/>
              </a:ext>
            </a:extLst>
          </p:cNvPr>
          <p:cNvSpPr>
            <a:spLocks xmlns:a="http://schemas.openxmlformats.org/drawingml/2006/main" noGrp="1"/>
          </p:cNvSpPr>
          <p:nvPr/>
        </p:nvSpPr>
        <p:spPr>
          <a:xfrm xmlns:a="http://schemas.openxmlformats.org/drawingml/2006/main">
            <a:off x="3255645" y="1409700"/>
            <a:ext cx="2781300" cy="685800"/>
          </a:xfrm>
          <a:prstGeom xmlns:a="http://schemas.openxmlformats.org/drawingml/2006/main" prst="roundRect">
            <a:avLst>
              <a:gd name="adj" fmla="val 11111"/>
            </a:avLst>
          </a:prstGeom>
          <a:solidFill xmlns:a="http://schemas.openxmlformats.org/drawingml/2006/main">
            <a:srgbClr val="E8EEF8"/>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2DC6114E-E3A2-4EDB-BA6A-82D8BB18F4A0}"/>
              </a:ext>
            </a:extLst>
          </p:cNvPr>
          <p:cNvSpPr>
            <a:spLocks xmlns:a="http://schemas.openxmlformats.org/drawingml/2006/main" noGrp="1"/>
          </p:cNvSpPr>
          <p:nvPr/>
        </p:nvSpPr>
        <p:spPr>
          <a:xfrm xmlns:a="http://schemas.openxmlformats.org/drawingml/2006/main">
            <a:off x="3255645" y="1409700"/>
            <a:ext cx="2781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33350" tIns="95250" rIns="133350" bIns="95250" anchor="ctr">
            <a:normAutofit fontScale="100000"/>
          </a:bodyPr>
          <a:lstStyle xmlns:a="http://schemas.openxmlformats.org/drawingml/2006/main">
            <a:defPPr algn="ctr">
              <a:defRPr sz="1050" b="0">
                <a:solidFill>
                  <a:srgbClr val="173773"/>
                </a:solidFill>
                <a:latin typeface="Arial"/>
                <a:ea typeface="Arial"/>
                <a:cs typeface="Arial"/>
              </a:defRPr>
            </a:defPPr>
          </a:lstStyle>
          <a:p xmlns:a="http://schemas.openxmlformats.org/drawingml/2006/main">
            <a:pPr algn="ctr">
              <a:defRPr sz="1050" b="0">
                <a:solidFill>
                  <a:srgbClr val="173773"/>
                </a:solidFill>
                <a:latin typeface="Arial"/>
                <a:ea typeface="Arial"/>
                <a:cs typeface="Arial"/>
              </a:defRPr>
            </a:pPr>
            <a:r>
              <a:rPr sz="1050" b="0">
                <a:solidFill>
                  <a:srgbClr val="173773"/>
                </a:solidFill>
                <a:latin typeface="Arial"/>
                <a:ea typeface="Arial"/>
                <a:cs typeface="Arial"/>
              </a:rPr>
              <a:t>Популярность</a:t>
            </a:r>
          </a:p>
          <a:p xmlns:a="http://schemas.openxmlformats.org/drawingml/2006/main">
            <a:pPr algn="ctr">
              <a:defRPr sz="1050" b="0">
                <a:solidFill>
                  <a:srgbClr val="173773"/>
                </a:solidFill>
                <a:latin typeface="Arial"/>
                <a:ea typeface="Arial"/>
                <a:cs typeface="Arial"/>
              </a:defRPr>
            </a:pPr>
            <a:r>
              <a:rPr sz="1050" b="0">
                <a:solidFill>
                  <a:srgbClr val="173773"/>
                </a:solidFill>
                <a:latin typeface="Arial"/>
                <a:ea typeface="Arial"/>
                <a:cs typeface="Arial"/>
              </a:rPr>
              <a:t>общая частота категорий</a:t>
            </a:r>
          </a:p>
        </p:txBody>
      </p:sp>
      <p:sp>
        <p:nvSpPr>
          <p:cNvPr id="45" name="">
            <a:extLst xmlns:a="http://schemas.openxmlformats.org/drawingml/2006/main">
              <a:ext uri="{FF2B5EF4-FFF2-40B4-BE49-F238E27FC236}">
                <a16:creationId xmlns:a16="http://schemas.microsoft.com/office/drawing/2014/main" id="{43F2BAAC-9E3F-436B-98B6-07DBFB19943E}"/>
              </a:ext>
            </a:extLst>
          </p:cNvPr>
          <p:cNvSpPr>
            <a:spLocks xmlns:a="http://schemas.openxmlformats.org/drawingml/2006/main" noGrp="1"/>
          </p:cNvSpPr>
          <p:nvPr/>
        </p:nvSpPr>
        <p:spPr>
          <a:xfrm xmlns:a="http://schemas.openxmlformats.org/drawingml/2006/main">
            <a:off x="274320" y="2238375"/>
            <a:ext cx="2781300" cy="685800"/>
          </a:xfrm>
          <a:prstGeom xmlns:a="http://schemas.openxmlformats.org/drawingml/2006/main" prst="roundRect">
            <a:avLst>
              <a:gd name="adj" fmla="val 11111"/>
            </a:avLst>
          </a:prstGeom>
          <a:solidFill xmlns:a="http://schemas.openxmlformats.org/drawingml/2006/main">
            <a:srgbClr val="E8EEF8"/>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CB98A5CA-78BC-4273-B07A-F863C1594254}"/>
              </a:ext>
            </a:extLst>
          </p:cNvPr>
          <p:cNvSpPr>
            <a:spLocks xmlns:a="http://schemas.openxmlformats.org/drawingml/2006/main" noGrp="1"/>
          </p:cNvSpPr>
          <p:nvPr/>
        </p:nvSpPr>
        <p:spPr>
          <a:xfrm xmlns:a="http://schemas.openxmlformats.org/drawingml/2006/main">
            <a:off x="274320" y="2238375"/>
            <a:ext cx="2781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33350" tIns="95250" rIns="133350" bIns="95250" anchor="ctr">
            <a:normAutofit fontScale="100000"/>
          </a:bodyPr>
          <a:lstStyle xmlns:a="http://schemas.openxmlformats.org/drawingml/2006/main">
            <a:defPPr algn="ctr">
              <a:defRPr sz="1050" b="0">
                <a:solidFill>
                  <a:srgbClr val="173773"/>
                </a:solidFill>
                <a:latin typeface="Arial"/>
                <a:ea typeface="Arial"/>
                <a:cs typeface="Arial"/>
              </a:defRPr>
            </a:defPPr>
          </a:lstStyle>
          <a:p xmlns:a="http://schemas.openxmlformats.org/drawingml/2006/main">
            <a:pPr algn="ctr">
              <a:defRPr sz="1050" b="0">
                <a:solidFill>
                  <a:srgbClr val="173773"/>
                </a:solidFill>
                <a:latin typeface="Arial"/>
                <a:ea typeface="Arial"/>
                <a:cs typeface="Arial"/>
              </a:defRPr>
            </a:pPr>
            <a:r>
              <a:rPr sz="1050" b="0">
                <a:solidFill>
                  <a:srgbClr val="173773"/>
                </a:solidFill>
                <a:latin typeface="Arial"/>
                <a:ea typeface="Arial"/>
                <a:cs typeface="Arial"/>
              </a:rPr>
              <a:t>Переходы, 30 дней</a:t>
            </a:r>
          </a:p>
          <a:p xmlns:a="http://schemas.openxmlformats.org/drawingml/2006/main">
            <a:pPr algn="ctr">
              <a:defRPr sz="1050" b="0">
                <a:solidFill>
                  <a:srgbClr val="173773"/>
                </a:solidFill>
                <a:latin typeface="Arial"/>
                <a:ea typeface="Arial"/>
                <a:cs typeface="Arial"/>
              </a:defRPr>
            </a:pPr>
            <a:r>
              <a:rPr sz="1050" b="0">
                <a:solidFill>
                  <a:srgbClr val="173773"/>
                </a:solidFill>
                <a:latin typeface="Arial"/>
                <a:ea typeface="Arial"/>
                <a:cs typeface="Arial"/>
              </a:rPr>
              <a:t>адаптация старой идеи</a:t>
            </a:r>
          </a:p>
        </p:txBody>
      </p:sp>
      <p:sp>
        <p:nvSpPr>
          <p:cNvPr id="47" name="">
            <a:extLst xmlns:a="http://schemas.openxmlformats.org/drawingml/2006/main">
              <a:ext uri="{FF2B5EF4-FFF2-40B4-BE49-F238E27FC236}">
                <a16:creationId xmlns:a16="http://schemas.microsoft.com/office/drawing/2014/main" id="{8ADC95B4-3577-4D48-956E-84B9BEC255DD}"/>
              </a:ext>
            </a:extLst>
          </p:cNvPr>
          <p:cNvSpPr>
            <a:spLocks xmlns:a="http://schemas.openxmlformats.org/drawingml/2006/main" noGrp="1"/>
          </p:cNvSpPr>
          <p:nvPr/>
        </p:nvSpPr>
        <p:spPr>
          <a:xfrm xmlns:a="http://schemas.openxmlformats.org/drawingml/2006/main">
            <a:off x="3255645" y="2238375"/>
            <a:ext cx="2781300" cy="685800"/>
          </a:xfrm>
          <a:prstGeom xmlns:a="http://schemas.openxmlformats.org/drawingml/2006/main" prst="roundRect">
            <a:avLst>
              <a:gd name="adj" fmla="val 11111"/>
            </a:avLst>
          </a:prstGeom>
          <a:solidFill xmlns:a="http://schemas.openxmlformats.org/drawingml/2006/main">
            <a:srgbClr val="E8EEF8"/>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46C94E9B-78BB-4D18-90F5-5EF3B5D8A1C3}"/>
              </a:ext>
            </a:extLst>
          </p:cNvPr>
          <p:cNvSpPr>
            <a:spLocks xmlns:a="http://schemas.openxmlformats.org/drawingml/2006/main" noGrp="1"/>
          </p:cNvSpPr>
          <p:nvPr/>
        </p:nvSpPr>
        <p:spPr>
          <a:xfrm xmlns:a="http://schemas.openxmlformats.org/drawingml/2006/main">
            <a:off x="3255645" y="2238375"/>
            <a:ext cx="2781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33350" tIns="95250" rIns="133350" bIns="95250" anchor="ctr">
            <a:normAutofit fontScale="100000"/>
          </a:bodyPr>
          <a:lstStyle xmlns:a="http://schemas.openxmlformats.org/drawingml/2006/main">
            <a:defPPr algn="ctr">
              <a:defRPr sz="1050" b="0">
                <a:solidFill>
                  <a:srgbClr val="173773"/>
                </a:solidFill>
                <a:latin typeface="Arial"/>
                <a:ea typeface="Arial"/>
                <a:cs typeface="Arial"/>
              </a:defRPr>
            </a:defPPr>
          </a:lstStyle>
          <a:p xmlns:a="http://schemas.openxmlformats.org/drawingml/2006/main">
            <a:pPr algn="ctr">
              <a:defRPr sz="1050" b="0">
                <a:solidFill>
                  <a:srgbClr val="173773"/>
                </a:solidFill>
                <a:latin typeface="Arial"/>
                <a:ea typeface="Arial"/>
                <a:cs typeface="Arial"/>
              </a:defRPr>
            </a:pPr>
            <a:r>
              <a:rPr sz="1050" b="0">
                <a:solidFill>
                  <a:srgbClr val="173773"/>
                </a:solidFill>
                <a:latin typeface="Arial"/>
                <a:ea typeface="Arial"/>
                <a:cs typeface="Arial"/>
              </a:rPr>
              <a:t>Совместная встречаемость</a:t>
            </a:r>
          </a:p>
          <a:p xmlns:a="http://schemas.openxmlformats.org/drawingml/2006/main">
            <a:pPr algn="ctr">
              <a:defRPr sz="1050" b="0">
                <a:solidFill>
                  <a:srgbClr val="173773"/>
                </a:solidFill>
                <a:latin typeface="Arial"/>
                <a:ea typeface="Arial"/>
                <a:cs typeface="Arial"/>
              </a:defRPr>
            </a:pPr>
            <a:r>
              <a:rPr sz="1050" b="0">
                <a:solidFill>
                  <a:srgbClr val="173773"/>
                </a:solidFill>
                <a:latin typeface="Arial"/>
                <a:ea typeface="Arial"/>
                <a:cs typeface="Arial"/>
              </a:rPr>
              <a:t>связи категорий с историей</a:t>
            </a:r>
          </a:p>
        </p:txBody>
      </p:sp>
      <p:sp>
        <p:nvSpPr>
          <p:cNvPr id="49" name="">
            <a:extLst xmlns:a="http://schemas.openxmlformats.org/drawingml/2006/main">
              <a:ext uri="{FF2B5EF4-FFF2-40B4-BE49-F238E27FC236}">
                <a16:creationId xmlns:a16="http://schemas.microsoft.com/office/drawing/2014/main" id="{1F4ACCD6-117C-4364-93ED-CCBBE920DA98}"/>
              </a:ext>
            </a:extLst>
          </p:cNvPr>
          <p:cNvSpPr>
            <a:spLocks xmlns:a="http://schemas.openxmlformats.org/drawingml/2006/main" noGrp="1"/>
          </p:cNvSpPr>
          <p:nvPr/>
        </p:nvSpPr>
        <p:spPr>
          <a:xfrm xmlns:a="http://schemas.openxmlformats.org/drawingml/2006/main">
            <a:off x="274320" y="3067050"/>
            <a:ext cx="2781300" cy="685800"/>
          </a:xfrm>
          <a:prstGeom xmlns:a="http://schemas.openxmlformats.org/drawingml/2006/main" prst="roundRect">
            <a:avLst>
              <a:gd name="adj" fmla="val 11111"/>
            </a:avLst>
          </a:prstGeom>
          <a:solidFill xmlns:a="http://schemas.openxmlformats.org/drawingml/2006/main">
            <a:srgbClr val="E8EEF8"/>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74C1A310-2D46-4067-A421-1BDCE549E7A5}"/>
              </a:ext>
            </a:extLst>
          </p:cNvPr>
          <p:cNvSpPr>
            <a:spLocks xmlns:a="http://schemas.openxmlformats.org/drawingml/2006/main" noGrp="1"/>
          </p:cNvSpPr>
          <p:nvPr/>
        </p:nvSpPr>
        <p:spPr>
          <a:xfrm xmlns:a="http://schemas.openxmlformats.org/drawingml/2006/main">
            <a:off x="274320" y="3067050"/>
            <a:ext cx="2781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33350" tIns="95250" rIns="133350" bIns="95250" anchor="ctr">
            <a:normAutofit fontScale="100000"/>
          </a:bodyPr>
          <a:lstStyle xmlns:a="http://schemas.openxmlformats.org/drawingml/2006/main">
            <a:defPPr algn="ctr">
              <a:defRPr sz="1050" b="0">
                <a:solidFill>
                  <a:srgbClr val="173773"/>
                </a:solidFill>
                <a:latin typeface="Arial"/>
                <a:ea typeface="Arial"/>
                <a:cs typeface="Arial"/>
              </a:defRPr>
            </a:defPPr>
          </a:lstStyle>
          <a:p xmlns:a="http://schemas.openxmlformats.org/drawingml/2006/main">
            <a:pPr algn="ctr">
              <a:defRPr sz="1050" b="0">
                <a:solidFill>
                  <a:srgbClr val="173773"/>
                </a:solidFill>
                <a:latin typeface="Arial"/>
                <a:ea typeface="Arial"/>
                <a:cs typeface="Arial"/>
              </a:defRPr>
            </a:pPr>
            <a:r>
              <a:rPr sz="1050" b="0">
                <a:solidFill>
                  <a:srgbClr val="173773"/>
                </a:solidFill>
                <a:latin typeface="Arial"/>
                <a:ea typeface="Arial"/>
                <a:cs typeface="Arial"/>
              </a:rPr>
              <a:t>PureSVD</a:t>
            </a:r>
          </a:p>
          <a:p xmlns:a="http://schemas.openxmlformats.org/drawingml/2006/main">
            <a:pPr algn="ctr">
              <a:defRPr sz="1050" b="0">
                <a:solidFill>
                  <a:srgbClr val="173773"/>
                </a:solidFill>
                <a:latin typeface="Arial"/>
                <a:ea typeface="Arial"/>
                <a:cs typeface="Arial"/>
              </a:defRPr>
            </a:pPr>
            <a:r>
              <a:rPr sz="1050" b="0">
                <a:solidFill>
                  <a:srgbClr val="173773"/>
                </a:solidFill>
                <a:latin typeface="Arial"/>
                <a:ea typeface="Arial"/>
                <a:cs typeface="Arial"/>
              </a:rPr>
              <a:t>персонализация без порядка и времени</a:t>
            </a:r>
          </a:p>
        </p:txBody>
      </p:sp>
      <p:sp>
        <p:nvSpPr>
          <p:cNvPr id="51" name="">
            <a:extLst xmlns:a="http://schemas.openxmlformats.org/drawingml/2006/main">
              <a:ext uri="{FF2B5EF4-FFF2-40B4-BE49-F238E27FC236}">
                <a16:creationId xmlns:a16="http://schemas.microsoft.com/office/drawing/2014/main" id="{4F6A3407-17AB-4865-B9E6-9F682A670F32}"/>
              </a:ext>
            </a:extLst>
          </p:cNvPr>
          <p:cNvSpPr>
            <a:spLocks xmlns:a="http://schemas.openxmlformats.org/drawingml/2006/main" noGrp="1"/>
          </p:cNvSpPr>
          <p:nvPr/>
        </p:nvSpPr>
        <p:spPr>
          <a:xfrm xmlns:a="http://schemas.openxmlformats.org/drawingml/2006/main">
            <a:off x="3255645" y="3067050"/>
            <a:ext cx="2781300" cy="685800"/>
          </a:xfrm>
          <a:prstGeom xmlns:a="http://schemas.openxmlformats.org/drawingml/2006/main" prst="roundRect">
            <a:avLst>
              <a:gd name="adj" fmla="val 11111"/>
            </a:avLst>
          </a:prstGeom>
          <a:solidFill xmlns:a="http://schemas.openxmlformats.org/drawingml/2006/main">
            <a:srgbClr val="173773"/>
          </a:solidFill>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F0852E20-1C32-4B73-B4B5-0837FBA06F2C}"/>
              </a:ext>
            </a:extLst>
          </p:cNvPr>
          <p:cNvSpPr>
            <a:spLocks xmlns:a="http://schemas.openxmlformats.org/drawingml/2006/main" noGrp="1"/>
          </p:cNvSpPr>
          <p:nvPr/>
        </p:nvSpPr>
        <p:spPr>
          <a:xfrm xmlns:a="http://schemas.openxmlformats.org/drawingml/2006/main">
            <a:off x="3255645" y="3067050"/>
            <a:ext cx="27813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33350" tIns="95250" rIns="133350" bIns="95250" anchor="ctr">
            <a:normAutofit fontScale="100000"/>
          </a:bodyPr>
          <a:lstStyle xmlns:a="http://schemas.openxmlformats.org/drawingml/2006/main">
            <a:defPPr algn="ctr">
              <a:defRPr sz="1050" b="1">
                <a:solidFill>
                  <a:srgbClr val="FFFFFF"/>
                </a:solidFill>
                <a:latin typeface="Arial"/>
                <a:ea typeface="Arial"/>
                <a:cs typeface="Arial"/>
              </a:defRPr>
            </a:defPPr>
          </a:lstStyle>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Transformer d=128</a:t>
            </a:r>
          </a:p>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полная последовательная модель</a:t>
            </a:r>
          </a:p>
        </p:txBody>
      </p:sp>
      <p:sp>
        <p:nvSpPr>
          <p:cNvPr id="53" name="">
            <a:extLst xmlns:a="http://schemas.openxmlformats.org/drawingml/2006/main">
              <a:ext uri="{FF2B5EF4-FFF2-40B4-BE49-F238E27FC236}">
                <a16:creationId xmlns:a16="http://schemas.microsoft.com/office/drawing/2014/main" id="{378CCC48-B45C-4DE5-97E4-690BD4126F14}"/>
              </a:ext>
            </a:extLst>
          </p:cNvPr>
          <p:cNvSpPr>
            <a:spLocks xmlns:a="http://schemas.openxmlformats.org/drawingml/2006/main" noGrp="1"/>
          </p:cNvSpPr>
          <p:nvPr/>
        </p:nvSpPr>
        <p:spPr>
          <a:xfrm xmlns:a="http://schemas.openxmlformats.org/drawingml/2006/main">
            <a:off x="6400800" y="1409700"/>
            <a:ext cx="2468880" cy="1066800"/>
          </a:xfrm>
          <a:prstGeom xmlns:a="http://schemas.openxmlformats.org/drawingml/2006/main" prst="roundRect">
            <a:avLst>
              <a:gd name="adj" fmla="val 7143"/>
            </a:avLst>
          </a:prstGeom>
          <a:solidFill xmlns:a="http://schemas.openxmlformats.org/drawingml/2006/main">
            <a:srgbClr val="173773"/>
          </a:solidFill>
          <a:ln xmlns:a="http://schemas.openxmlformats.org/drawingml/2006/main" w="0">
            <a:noFill/>
          </a:ln>
        </p:spPr>
      </p:sp>
      <p:sp>
        <p:nvSpPr>
          <p:cNvPr id="54" name="">
            <a:extLst xmlns:a="http://schemas.openxmlformats.org/drawingml/2006/main">
              <a:ext uri="{FF2B5EF4-FFF2-40B4-BE49-F238E27FC236}">
                <a16:creationId xmlns:a16="http://schemas.microsoft.com/office/drawing/2014/main" id="{531D4E8E-8171-409F-8B97-8EFF5DB1FB1D}"/>
              </a:ext>
            </a:extLst>
          </p:cNvPr>
          <p:cNvSpPr>
            <a:spLocks xmlns:a="http://schemas.openxmlformats.org/drawingml/2006/main" noGrp="1"/>
          </p:cNvSpPr>
          <p:nvPr/>
        </p:nvSpPr>
        <p:spPr>
          <a:xfrm xmlns:a="http://schemas.openxmlformats.org/drawingml/2006/main">
            <a:off x="6400800" y="1409700"/>
            <a:ext cx="246888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33350" tIns="95250" rIns="133350" bIns="95250" anchor="ctr">
            <a:normAutofit fontScale="100000"/>
          </a:bodyPr>
          <a:lstStyle xmlns:a="http://schemas.openxmlformats.org/drawingml/2006/main">
            <a:defPPr algn="ctr">
              <a:defRPr sz="1275" b="1">
                <a:solidFill>
                  <a:srgbClr val="FFFFFF"/>
                </a:solidFill>
                <a:latin typeface="Arial"/>
                <a:ea typeface="Arial"/>
                <a:cs typeface="Arial"/>
              </a:defRPr>
            </a:defPPr>
          </a:lstStyle>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Recall@5</a:t>
            </a:r>
          </a:p>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доля правильных категорий в первой пятёрке</a:t>
            </a:r>
          </a:p>
        </p:txBody>
      </p:sp>
      <p:sp>
        <p:nvSpPr>
          <p:cNvPr id="55" name="">
            <a:extLst xmlns:a="http://schemas.openxmlformats.org/drawingml/2006/main">
              <a:ext uri="{FF2B5EF4-FFF2-40B4-BE49-F238E27FC236}">
                <a16:creationId xmlns:a16="http://schemas.microsoft.com/office/drawing/2014/main" id="{AAF5CF4B-2FE4-47A0-ACA5-5B3BBDA4BB4D}"/>
              </a:ext>
            </a:extLst>
          </p:cNvPr>
          <p:cNvSpPr>
            <a:spLocks xmlns:a="http://schemas.openxmlformats.org/drawingml/2006/main" noGrp="1"/>
          </p:cNvSpPr>
          <p:nvPr/>
        </p:nvSpPr>
        <p:spPr>
          <a:xfrm xmlns:a="http://schemas.openxmlformats.org/drawingml/2006/main">
            <a:off x="6400800" y="2628900"/>
            <a:ext cx="2468880" cy="1066800"/>
          </a:xfrm>
          <a:prstGeom xmlns:a="http://schemas.openxmlformats.org/drawingml/2006/main" prst="roundRect">
            <a:avLst>
              <a:gd name="adj" fmla="val 7143"/>
            </a:avLst>
          </a:prstGeom>
          <a:solidFill xmlns:a="http://schemas.openxmlformats.org/drawingml/2006/main">
            <a:srgbClr val="2F55A4"/>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598C48B1-5FD5-4074-BF87-1FA95D15AB42}"/>
              </a:ext>
            </a:extLst>
          </p:cNvPr>
          <p:cNvSpPr>
            <a:spLocks xmlns:a="http://schemas.openxmlformats.org/drawingml/2006/main" noGrp="1"/>
          </p:cNvSpPr>
          <p:nvPr/>
        </p:nvSpPr>
        <p:spPr>
          <a:xfrm xmlns:a="http://schemas.openxmlformats.org/drawingml/2006/main">
            <a:off x="6400800" y="2628900"/>
            <a:ext cx="246888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33350" tIns="95250" rIns="133350" bIns="95250" anchor="ctr">
            <a:normAutofit fontScale="100000"/>
          </a:bodyPr>
          <a:lstStyle xmlns:a="http://schemas.openxmlformats.org/drawingml/2006/main">
            <a:defPPr algn="ctr">
              <a:defRPr sz="1275" b="1">
                <a:solidFill>
                  <a:srgbClr val="FFFFFF"/>
                </a:solidFill>
                <a:latin typeface="Arial"/>
                <a:ea typeface="Arial"/>
                <a:cs typeface="Arial"/>
              </a:defRPr>
            </a:defPPr>
          </a:lstStyle>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NDCG@5</a:t>
            </a:r>
          </a:p>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учитывает место правильной категории</a:t>
            </a:r>
          </a:p>
        </p:txBody>
      </p:sp>
      <p:sp>
        <p:nvSpPr>
          <p:cNvPr id="57" name="">
            <a:extLst xmlns:a="http://schemas.openxmlformats.org/drawingml/2006/main">
              <a:ext uri="{FF2B5EF4-FFF2-40B4-BE49-F238E27FC236}">
                <a16:creationId xmlns:a16="http://schemas.microsoft.com/office/drawing/2014/main" id="{243B4198-3B18-4039-A963-51E33AF2495C}"/>
              </a:ext>
            </a:extLst>
          </p:cNvPr>
          <p:cNvSpPr>
            <a:spLocks xmlns:a="http://schemas.openxmlformats.org/drawingml/2006/main" noGrp="1"/>
          </p:cNvSpPr>
          <p:nvPr/>
        </p:nvSpPr>
        <p:spPr>
          <a:xfrm xmlns:a="http://schemas.openxmlformats.org/drawingml/2006/main">
            <a:off x="274320" y="4048125"/>
            <a:ext cx="8595360" cy="819150"/>
          </a:xfrm>
          <a:prstGeom xmlns:a="http://schemas.openxmlformats.org/drawingml/2006/main" prst="roundRect">
            <a:avLst>
              <a:gd name="adj" fmla="val 9302"/>
            </a:avLst>
          </a:prstGeom>
          <a:solidFill xmlns:a="http://schemas.openxmlformats.org/drawingml/2006/main">
            <a:srgbClr val="FDE8D7"/>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62594A8D-D6AC-4580-BF0B-E3AC36EA2E85}"/>
              </a:ext>
            </a:extLst>
          </p:cNvPr>
          <p:cNvSpPr>
            <a:spLocks xmlns:a="http://schemas.openxmlformats.org/drawingml/2006/main" noGrp="1"/>
          </p:cNvSpPr>
          <p:nvPr/>
        </p:nvSpPr>
        <p:spPr>
          <a:xfrm xmlns:a="http://schemas.openxmlformats.org/drawingml/2006/main">
            <a:off x="274320" y="4048125"/>
            <a:ext cx="859536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33350" tIns="95250" rIns="133350" bIns="95250" anchor="ctr">
            <a:normAutofit fontScale="100000"/>
          </a:bodyPr>
          <a:lstStyle xmlns:a="http://schemas.openxmlformats.org/drawingml/2006/main">
            <a:defPPr algn="l">
              <a:defRPr sz="1050" b="0">
                <a:solidFill>
                  <a:srgbClr val="173773"/>
                </a:solidFill>
                <a:latin typeface="Arial"/>
                <a:ea typeface="Arial"/>
                <a:cs typeface="Arial"/>
              </a:defRPr>
            </a:defPPr>
          </a:lstStyle>
          <a:p xmlns:a="http://schemas.openxmlformats.org/drawingml/2006/main">
            <a:pPr algn="l">
              <a:defRPr sz="1050" b="0">
                <a:solidFill>
                  <a:srgbClr val="173773"/>
                </a:solidFill>
                <a:latin typeface="Arial"/>
                <a:ea typeface="Arial"/>
                <a:cs typeface="Arial"/>
              </a:defRPr>
            </a:pPr>
            <a:r>
              <a:rPr sz="1050" b="0">
                <a:solidFill>
                  <a:srgbClr val="173773"/>
                </a:solidFill>
                <a:latin typeface="Arial"/>
                <a:ea typeface="Arial"/>
                <a:cs typeface="Arial"/>
              </a:rPr>
              <a:t>Оценка: одни 100 тыс. пользователей, одинаковые цели и маски кандидатов. Метрики условны по наличию будущего нового контакта. Объёмы обучения методов различаются: это сравнение готовых методов, а не чистая абляция архитектуры.</a:t>
            </a:r>
          </a:p>
        </p:txBody>
      </p:sp>
    </p:spTree>
    <p:extLst>
      <p:ext uri="{BB962C8B-B14F-4D97-AF65-F5344CB8AC3E}">
        <p14:creationId xmlns:p14="http://schemas.microsoft.com/office/powerpoint/2010/main" val="168505680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346CCBB8-95D2-4AB3-A899-B1962D34B2CE}"/>
              </a:ext>
            </a:extLst>
          </p:cNvPr>
          <p:cNvPicPr>
            <a:picLocks xmlns:a="http://schemas.openxmlformats.org/drawingml/2006/main" noChangeAspect="1"/>
          </p:cNvPicPr>
          <p:nvPr/>
        </p:nvPicPr>
        <p:blipFill>
          <a:blip xmlns:r="http://schemas.openxmlformats.org/officeDocument/2006/relationships" xmlns:a="http://schemas.openxmlformats.org/drawingml/2006/main" r:embed="Rab72791d05f24f31"/>
          <a:stretch xmlns:a="http://schemas.openxmlformats.org/drawingml/2006/main">
            <a:fillRect l="0" t="0" r="0" b="0"/>
          </a:stretch>
        </p:blipFill>
        <p:spPr>
          <a:xfrm xmlns:a="http://schemas.openxmlformats.org/drawingml/2006/main">
            <a:off x="274320" y="137160"/>
            <a:ext cx="502920" cy="50292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90EB05CA-5951-4932-8D06-4BCCF4238727}"/>
              </a:ext>
            </a:extLst>
          </p:cNvPr>
          <p:cNvSpPr>
            <a:spLocks xmlns:a="http://schemas.openxmlformats.org/drawingml/2006/main" noGrp="1"/>
          </p:cNvSpPr>
          <p:nvPr/>
        </p:nvSpPr>
        <p:spPr>
          <a:xfrm xmlns:a="http://schemas.openxmlformats.org/drawingml/2006/main">
            <a:off x="868680" y="201168"/>
            <a:ext cx="173736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0E2D69"/>
                </a:solidFill>
                <a:latin typeface="Arial"/>
                <a:ea typeface="Arial"/>
                <a:cs typeface="Arial"/>
              </a:rPr>
              <a:t>Школа информатики, физики и технологий</a:t>
            </a:r>
            <a:endParaRPr sz="800"/>
          </a:p>
        </p:txBody>
      </p:sp>
      <p:sp>
        <p:nvSpPr>
          <p:cNvPr id="4" name="Text 1">
            <a:extLst xmlns:a="http://schemas.openxmlformats.org/drawingml/2006/main">
              <a:ext uri="{FF2B5EF4-FFF2-40B4-BE49-F238E27FC236}">
                <a16:creationId xmlns:a16="http://schemas.microsoft.com/office/drawing/2014/main" id="{938A71AB-AEC0-4AB6-B080-4D8D768FE574}"/>
              </a:ext>
            </a:extLst>
          </p:cNvPr>
          <p:cNvSpPr>
            <a:spLocks xmlns:a="http://schemas.openxmlformats.org/drawingml/2006/main" noGrp="1"/>
          </p:cNvSpPr>
          <p:nvPr/>
        </p:nvSpPr>
        <p:spPr>
          <a:xfrm xmlns:a="http://schemas.openxmlformats.org/drawingml/2006/main">
            <a:off x="2834640" y="201168"/>
            <a:ext cx="29260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0E2D69"/>
                </a:solidFill>
                <a:latin typeface="Arial"/>
                <a:ea typeface="Arial"/>
                <a:cs typeface="Arial"/>
              </a:rPr>
              <a:t>Рекомендательная система на основе поведенческих эмбеддингов</a:t>
            </a:r>
            <a:endParaRPr sz="800"/>
          </a:p>
        </p:txBody>
      </p:sp>
      <p:sp>
        <p:nvSpPr>
          <p:cNvPr id="5" name="Text 2">
            <a:extLst xmlns:a="http://schemas.openxmlformats.org/drawingml/2006/main">
              <a:ext uri="{FF2B5EF4-FFF2-40B4-BE49-F238E27FC236}">
                <a16:creationId xmlns:a16="http://schemas.microsoft.com/office/drawing/2014/main" id="{D2BF2358-83F2-4918-B22E-883E449DDD44}"/>
              </a:ext>
            </a:extLst>
          </p:cNvPr>
          <p:cNvSpPr>
            <a:spLocks xmlns:a="http://schemas.openxmlformats.org/drawingml/2006/main" noGrp="1"/>
          </p:cNvSpPr>
          <p:nvPr/>
        </p:nvSpPr>
        <p:spPr>
          <a:xfrm xmlns:a="http://schemas.openxmlformats.org/drawingml/2006/main">
            <a:off x="5989320" y="201168"/>
            <a:ext cx="18288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defPPr algn="l">
              <a:defRPr sz="900">
                <a:solidFill>
                  <a:srgbClr val="173773"/>
                </a:solidFill>
                <a:latin typeface="Arial"/>
                <a:ea typeface="Arial"/>
                <a:cs typeface="Arial"/>
              </a:defRPr>
            </a:defPPr>
          </a:lstStyle>
          <a:p xmlns:a="http://schemas.openxmlformats.org/drawingml/2006/main">
            <a:pPr marL="0" indent="0" algn="l">
              <a:buNone/>
            </a:pPr>
            <a:r>
              <a:rPr sz="900">
                <a:solidFill>
                  <a:srgbClr val="173773"/>
                </a:solidFill>
                <a:latin typeface="Arial"/>
                <a:ea typeface="Arial"/>
                <a:cs typeface="Arial"/>
              </a:rPr>
              <a:t>Результаты</a:t>
            </a:r>
            <a:endParaRPr sz="800"/>
          </a:p>
        </p:txBody>
      </p:sp>
      <p:sp>
        <p:nvSpPr>
          <p:cNvPr id="6" name="Shape 3">
            <a:extLst xmlns:a="http://schemas.openxmlformats.org/drawingml/2006/main">
              <a:ext uri="{FF2B5EF4-FFF2-40B4-BE49-F238E27FC236}">
                <a16:creationId xmlns:a16="http://schemas.microsoft.com/office/drawing/2014/main" id="{ECBFCF50-8DB5-4446-8B29-4496A67BC906}"/>
              </a:ext>
            </a:extLst>
          </p:cNvPr>
          <p:cNvSpPr>
            <a:spLocks xmlns:a="http://schemas.openxmlformats.org/drawingml/2006/main" noGrp="1"/>
          </p:cNvSpPr>
          <p:nvPr/>
        </p:nvSpPr>
        <p:spPr>
          <a:xfrm xmlns:a="http://schemas.openxmlformats.org/drawingml/2006/main">
            <a:off x="2697480" y="182880"/>
            <a:ext cx="0" cy="457200"/>
          </a:xfrm>
          <a:prstGeom xmlns:a="http://schemas.openxmlformats.org/drawingml/2006/main" prst="line">
            <a:avLst/>
          </a:prstGeom>
          <a:noFill xmlns:a="http://schemas.openxmlformats.org/drawingml/2006/main"/>
          <a:ln xmlns:a="http://schemas.openxmlformats.org/drawingml/2006/main" w="19050">
            <a:solidFill>
              <a:srgbClr val="0E2D69"/>
            </a:solidFill>
            <a:prstDash val="solid"/>
          </a:ln>
        </p:spPr>
      </p:sp>
      <p:sp>
        <p:nvSpPr>
          <p:cNvPr id="7" name="Shape 4">
            <a:extLst xmlns:a="http://schemas.openxmlformats.org/drawingml/2006/main">
              <a:ext uri="{FF2B5EF4-FFF2-40B4-BE49-F238E27FC236}">
                <a16:creationId xmlns:a16="http://schemas.microsoft.com/office/drawing/2014/main" id="{BDBDE082-ABDF-45E8-B66A-14BD246EBF55}"/>
              </a:ext>
            </a:extLst>
          </p:cNvPr>
          <p:cNvSpPr>
            <a:spLocks xmlns:a="http://schemas.openxmlformats.org/drawingml/2006/main" noGrp="1"/>
          </p:cNvSpPr>
          <p:nvPr/>
        </p:nvSpPr>
        <p:spPr>
          <a:xfrm xmlns:a="http://schemas.openxmlformats.org/drawingml/2006/main">
            <a:off x="5852160" y="182880"/>
            <a:ext cx="0" cy="457200"/>
          </a:xfrm>
          <a:prstGeom xmlns:a="http://schemas.openxmlformats.org/drawingml/2006/main" prst="line">
            <a:avLst/>
          </a:prstGeom>
          <a:noFill xmlns:a="http://schemas.openxmlformats.org/drawingml/2006/main"/>
          <a:ln xmlns:a="http://schemas.openxmlformats.org/drawingml/2006/main" w="19050">
            <a:solidFill>
              <a:srgbClr val="0E2D69"/>
            </a:solidFill>
            <a:prstDash val="solid"/>
          </a:ln>
        </p:spPr>
      </p:sp>
      <p:sp>
        <p:nvSpPr>
          <p:cNvPr id="8" name="Shape 5">
            <a:extLst xmlns:a="http://schemas.openxmlformats.org/drawingml/2006/main">
              <a:ext uri="{FF2B5EF4-FFF2-40B4-BE49-F238E27FC236}">
                <a16:creationId xmlns:a16="http://schemas.microsoft.com/office/drawing/2014/main" id="{763CE8AE-9530-4B46-880E-0C0F1D755C34}"/>
              </a:ext>
            </a:extLst>
          </p:cNvPr>
          <p:cNvSpPr>
            <a:spLocks xmlns:a="http://schemas.openxmlformats.org/drawingml/2006/main" noGrp="1"/>
          </p:cNvSpPr>
          <p:nvPr/>
        </p:nvSpPr>
        <p:spPr>
          <a:xfrm xmlns:a="http://schemas.openxmlformats.org/drawingml/2006/main">
            <a:off x="7909560" y="182880"/>
            <a:ext cx="0" cy="457200"/>
          </a:xfrm>
          <a:prstGeom xmlns:a="http://schemas.openxmlformats.org/drawingml/2006/main" prst="line">
            <a:avLst/>
          </a:prstGeom>
          <a:noFill xmlns:a="http://schemas.openxmlformats.org/drawingml/2006/main"/>
          <a:ln xmlns:a="http://schemas.openxmlformats.org/drawingml/2006/main" w="19050">
            <a:solidFill>
              <a:srgbClr val="0E2D69"/>
            </a:solidFill>
            <a:prstDash val="solid"/>
          </a:ln>
        </p:spPr>
      </p:sp>
      <p:sp>
        <p:nvSpPr>
          <p:cNvPr id="9" name="Text 6">
            <a:extLst xmlns:a="http://schemas.openxmlformats.org/drawingml/2006/main">
              <a:ext uri="{FF2B5EF4-FFF2-40B4-BE49-F238E27FC236}">
                <a16:creationId xmlns:a16="http://schemas.microsoft.com/office/drawing/2014/main" id="{3E040149-4552-41C8-B05E-D094FF1C2D40}"/>
              </a:ext>
            </a:extLst>
          </p:cNvPr>
          <p:cNvSpPr>
            <a:spLocks xmlns:a="http://schemas.openxmlformats.org/drawingml/2006/main" noGrp="1"/>
          </p:cNvSpPr>
          <p:nvPr/>
        </p:nvSpPr>
        <p:spPr>
          <a:xfrm xmlns:a="http://schemas.openxmlformats.org/drawingml/2006/main">
            <a:off x="365760" y="777240"/>
            <a:ext cx="84124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defPPr algn="l">
              <a:defRPr sz="2400" b="1">
                <a:solidFill>
                  <a:srgbClr val="173773"/>
                </a:solidFill>
                <a:latin typeface="Arial"/>
                <a:ea typeface="Arial"/>
                <a:cs typeface="Arial"/>
              </a:defRPr>
            </a:defPPr>
          </a:lstStyle>
          <a:p xmlns:a="http://schemas.openxmlformats.org/drawingml/2006/main">
            <a:pPr marL="0" indent="0" algn="l">
              <a:buNone/>
            </a:pPr>
            <a:r>
              <a:rPr sz="2400" b="1">
                <a:solidFill>
                  <a:srgbClr val="173773"/>
                </a:solidFill>
                <a:latin typeface="Arial"/>
                <a:ea typeface="Arial"/>
                <a:cs typeface="Arial"/>
              </a:rPr>
              <a:t>Основное сравнение моделей</a:t>
            </a:r>
            <a:endParaRPr sz="2400"/>
          </a:p>
        </p:txBody>
      </p:sp>
      <p:sp>
        <p:nvSpPr>
          <p:cNvPr id="40" name="Text 36">
            <a:extLst xmlns:a="http://schemas.openxmlformats.org/drawingml/2006/main">
              <a:ext uri="{FF2B5EF4-FFF2-40B4-BE49-F238E27FC236}">
                <a16:creationId xmlns:a16="http://schemas.microsoft.com/office/drawing/2014/main" id="{34F29D1D-A63F-40CF-A34A-8DE37CBFA83C}"/>
              </a:ext>
            </a:extLst>
          </p:cNvPr>
          <p:cNvSpPr>
            <a:spLocks xmlns:a="http://schemas.openxmlformats.org/drawingml/2006/main" noGrp="1"/>
          </p:cNvSpPr>
          <p:nvPr/>
        </p:nvSpPr>
        <p:spPr>
          <a:xfrm xmlns:a="http://schemas.openxmlformats.org/drawingml/2006/main">
            <a:off x="8001000" y="201168"/>
            <a:ext cx="8686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defPPr algn="ctr">
              <a:defRPr sz="1200">
                <a:solidFill>
                  <a:srgbClr val="173773"/>
                </a:solidFill>
                <a:latin typeface="Arial"/>
                <a:ea typeface="Arial"/>
                <a:cs typeface="Arial"/>
              </a:defRPr>
            </a:defPPr>
          </a:lstStyle>
          <a:p xmlns:a="http://schemas.openxmlformats.org/drawingml/2006/main">
            <a:pPr marL="0" indent="0" algn="ctr">
              <a:buNone/>
            </a:pPr>
            <a:r>
              <a:rPr sz="1200">
                <a:solidFill>
                  <a:srgbClr val="173773"/>
                </a:solidFill>
                <a:latin typeface="Arial"/>
                <a:ea typeface="Arial"/>
                <a:cs typeface="Arial"/>
              </a:rPr>
              <a:t>15/20</a:t>
            </a:r>
            <a:endParaRPr sz="1200"/>
          </a:p>
        </p:txBody>
      </p:sp>
      <p:sp>
        <p:nvSpPr>
          <p:cNvPr id="41" name="">
            <a:extLst xmlns:a="http://schemas.openxmlformats.org/drawingml/2006/main">
              <a:ext uri="{FF2B5EF4-FFF2-40B4-BE49-F238E27FC236}">
                <a16:creationId xmlns:a16="http://schemas.microsoft.com/office/drawing/2014/main" id="{836A7C17-9D7C-4083-A881-07BD31C645E8}"/>
              </a:ext>
            </a:extLst>
          </p:cNvPr>
          <p:cNvSpPr>
            <a:spLocks xmlns:a="http://schemas.openxmlformats.org/drawingml/2006/main" noGrp="1"/>
          </p:cNvSpPr>
          <p:nvPr/>
        </p:nvSpPr>
        <p:spPr>
          <a:xfrm xmlns:a="http://schemas.openxmlformats.org/drawingml/2006/main">
            <a:off x="365760" y="1257300"/>
            <a:ext cx="841248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defPPr algn="ctr">
              <a:defRPr sz="1125" b="0">
                <a:solidFill>
                  <a:srgbClr val="5B6F97"/>
                </a:solidFill>
                <a:latin typeface="Arial"/>
                <a:ea typeface="Arial"/>
                <a:cs typeface="Arial"/>
              </a:defRPr>
            </a:defPPr>
          </a:lstStyle>
          <a:p xmlns:a="http://schemas.openxmlformats.org/drawingml/2006/main">
            <a:pPr algn="ctr">
              <a:defRPr sz="1125" b="0">
                <a:solidFill>
                  <a:srgbClr val="5B6F97"/>
                </a:solidFill>
                <a:latin typeface="Arial"/>
                <a:ea typeface="Arial"/>
                <a:cs typeface="Arial"/>
              </a:defRPr>
            </a:pPr>
            <a:r>
              <a:rPr sz="1125" b="0">
                <a:solidFill>
                  <a:srgbClr val="5B6F97"/>
                </a:solidFill>
                <a:latin typeface="Arial"/>
                <a:ea typeface="Arial"/>
                <a:cs typeface="Arial"/>
              </a:rPr>
              <a:t>Одна аудитория: 100 тыс. пользователей · одинаковые цели и допустимые категории</a:t>
            </a:r>
          </a:p>
        </p:txBody>
      </p:sp>
      <p:graphicFrame>
        <p:nvGraphicFramePr>
          <p:cNvPr id="42" name="Chart">
            <a:extLst xmlns:a="http://schemas.openxmlformats.org/drawingml/2006/main">
              <a:ext uri="{FF2B5EF4-FFF2-40B4-BE49-F238E27FC236}">
                <a16:creationId xmlns:a16="http://schemas.microsoft.com/office/drawing/2014/main" id="{B8B18F1E-2DA1-4A09-9DFC-BB9FFB355D97}"/>
              </a:ext>
            </a:extLst>
          </p:cNvPr>
          <p:cNvGraphicFramePr/>
          <p:nvPr/>
        </p:nvGraphicFramePr>
        <p:xfrm>
          <a:off xmlns:a="http://schemas.openxmlformats.org/drawingml/2006/main" x="274320" y="1562100"/>
          <a:ext xmlns:a="http://schemas.openxmlformats.org/drawingml/2006/main" cx="5394960" cy="2876550"/>
        </p:xfrm>
        <a:graphic xmlns:a="http://schemas.openxmlformats.org/drawingml/2006/main">
          <a:graphicData uri="http://schemas.openxmlformats.org/drawingml/2006/chart">
            <c:chart xmlns:r="http://schemas.openxmlformats.org/officeDocument/2006/relationships" xmlns:c="http://schemas.openxmlformats.org/drawingml/2006/chart" r:id="Rea8a3e073a5647a8"/>
          </a:graphicData>
        </a:graphic>
      </p:graphicFrame>
      <p:sp>
        <p:nvSpPr>
          <p:cNvPr id="43" name="">
            <a:extLst xmlns:a="http://schemas.openxmlformats.org/drawingml/2006/main">
              <a:ext uri="{FF2B5EF4-FFF2-40B4-BE49-F238E27FC236}">
                <a16:creationId xmlns:a16="http://schemas.microsoft.com/office/drawing/2014/main" id="{B4584435-1E44-4A1E-BEF8-2DE1F41CABF1}"/>
              </a:ext>
            </a:extLst>
          </p:cNvPr>
          <p:cNvSpPr>
            <a:spLocks xmlns:a="http://schemas.openxmlformats.org/drawingml/2006/main" noGrp="1"/>
          </p:cNvSpPr>
          <p:nvPr/>
        </p:nvSpPr>
        <p:spPr>
          <a:xfrm xmlns:a="http://schemas.openxmlformats.org/drawingml/2006/main">
            <a:off x="590550" y="3792669"/>
            <a:ext cx="571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defPPr algn="ctr">
              <a:defRPr sz="675" b="1">
                <a:solidFill>
                  <a:srgbClr val="173773"/>
                </a:solidFill>
                <a:latin typeface="Arial"/>
                <a:ea typeface="Arial"/>
                <a:cs typeface="Arial"/>
              </a:defRPr>
            </a:defPPr>
          </a:lstStyle>
          <a:p xmlns:a="http://schemas.openxmlformats.org/drawingml/2006/main">
            <a:pPr algn="ctr">
              <a:defRPr sz="675" b="1">
                <a:solidFill>
                  <a:srgbClr val="173773"/>
                </a:solidFill>
                <a:latin typeface="Arial"/>
                <a:ea typeface="Arial"/>
                <a:cs typeface="Arial"/>
              </a:defRPr>
            </a:pPr>
            <a:r>
              <a:rPr sz="675" b="1">
                <a:solidFill>
                  <a:srgbClr val="173773"/>
                </a:solidFill>
                <a:latin typeface="Arial"/>
                <a:ea typeface="Arial"/>
                <a:cs typeface="Arial"/>
              </a:rPr>
              <a:t>0,0150</a:t>
            </a:r>
          </a:p>
        </p:txBody>
      </p:sp>
      <p:sp>
        <p:nvSpPr>
          <p:cNvPr id="44" name="">
            <a:extLst xmlns:a="http://schemas.openxmlformats.org/drawingml/2006/main">
              <a:ext uri="{FF2B5EF4-FFF2-40B4-BE49-F238E27FC236}">
                <a16:creationId xmlns:a16="http://schemas.microsoft.com/office/drawing/2014/main" id="{1879E733-3E8B-4E47-AB8C-C750C6C19957}"/>
              </a:ext>
            </a:extLst>
          </p:cNvPr>
          <p:cNvSpPr>
            <a:spLocks xmlns:a="http://schemas.openxmlformats.org/drawingml/2006/main" noGrp="1"/>
          </p:cNvSpPr>
          <p:nvPr/>
        </p:nvSpPr>
        <p:spPr>
          <a:xfrm xmlns:a="http://schemas.openxmlformats.org/drawingml/2006/main">
            <a:off x="1428750" y="3216936"/>
            <a:ext cx="571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defPPr algn="ctr">
              <a:defRPr sz="675" b="1">
                <a:solidFill>
                  <a:srgbClr val="173773"/>
                </a:solidFill>
                <a:latin typeface="Arial"/>
                <a:ea typeface="Arial"/>
                <a:cs typeface="Arial"/>
              </a:defRPr>
            </a:defPPr>
          </a:lstStyle>
          <a:p xmlns:a="http://schemas.openxmlformats.org/drawingml/2006/main">
            <a:pPr algn="ctr">
              <a:defRPr sz="675" b="1">
                <a:solidFill>
                  <a:srgbClr val="173773"/>
                </a:solidFill>
                <a:latin typeface="Arial"/>
                <a:ea typeface="Arial"/>
                <a:cs typeface="Arial"/>
              </a:defRPr>
            </a:pPr>
            <a:r>
              <a:rPr sz="675" b="1">
                <a:solidFill>
                  <a:srgbClr val="173773"/>
                </a:solidFill>
                <a:latin typeface="Arial"/>
                <a:ea typeface="Arial"/>
                <a:cs typeface="Arial"/>
              </a:rPr>
              <a:t>0,1477</a:t>
            </a:r>
          </a:p>
        </p:txBody>
      </p:sp>
      <p:sp>
        <p:nvSpPr>
          <p:cNvPr id="45" name="">
            <a:extLst xmlns:a="http://schemas.openxmlformats.org/drawingml/2006/main">
              <a:ext uri="{FF2B5EF4-FFF2-40B4-BE49-F238E27FC236}">
                <a16:creationId xmlns:a16="http://schemas.microsoft.com/office/drawing/2014/main" id="{786AA0B3-6DF0-4AC0-848C-D71156520378}"/>
              </a:ext>
            </a:extLst>
          </p:cNvPr>
          <p:cNvSpPr>
            <a:spLocks xmlns:a="http://schemas.openxmlformats.org/drawingml/2006/main" noGrp="1"/>
          </p:cNvSpPr>
          <p:nvPr/>
        </p:nvSpPr>
        <p:spPr>
          <a:xfrm xmlns:a="http://schemas.openxmlformats.org/drawingml/2006/main">
            <a:off x="2266950" y="3126423"/>
            <a:ext cx="571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defPPr algn="ctr">
              <a:defRPr sz="675" b="1">
                <a:solidFill>
                  <a:srgbClr val="173773"/>
                </a:solidFill>
                <a:latin typeface="Arial"/>
                <a:ea typeface="Arial"/>
                <a:cs typeface="Arial"/>
              </a:defRPr>
            </a:defPPr>
          </a:lstStyle>
          <a:p xmlns:a="http://schemas.openxmlformats.org/drawingml/2006/main">
            <a:pPr algn="ctr">
              <a:defRPr sz="675" b="1">
                <a:solidFill>
                  <a:srgbClr val="173773"/>
                </a:solidFill>
                <a:latin typeface="Arial"/>
                <a:ea typeface="Arial"/>
                <a:cs typeface="Arial"/>
              </a:defRPr>
            </a:pPr>
            <a:r>
              <a:rPr sz="675" b="1">
                <a:solidFill>
                  <a:srgbClr val="173773"/>
                </a:solidFill>
                <a:latin typeface="Arial"/>
                <a:ea typeface="Arial"/>
                <a:cs typeface="Arial"/>
              </a:rPr>
              <a:t>0,1685</a:t>
            </a:r>
          </a:p>
        </p:txBody>
      </p:sp>
      <p:sp>
        <p:nvSpPr>
          <p:cNvPr id="46" name="">
            <a:extLst xmlns:a="http://schemas.openxmlformats.org/drawingml/2006/main">
              <a:ext uri="{FF2B5EF4-FFF2-40B4-BE49-F238E27FC236}">
                <a16:creationId xmlns:a16="http://schemas.microsoft.com/office/drawing/2014/main" id="{34EBE81F-8493-42C4-9E02-FDF432896F20}"/>
              </a:ext>
            </a:extLst>
          </p:cNvPr>
          <p:cNvSpPr>
            <a:spLocks xmlns:a="http://schemas.openxmlformats.org/drawingml/2006/main" noGrp="1"/>
          </p:cNvSpPr>
          <p:nvPr/>
        </p:nvSpPr>
        <p:spPr>
          <a:xfrm xmlns:a="http://schemas.openxmlformats.org/drawingml/2006/main">
            <a:off x="3105150" y="2773994"/>
            <a:ext cx="571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defPPr algn="ctr">
              <a:defRPr sz="675" b="1">
                <a:solidFill>
                  <a:srgbClr val="173773"/>
                </a:solidFill>
                <a:latin typeface="Arial"/>
                <a:ea typeface="Arial"/>
                <a:cs typeface="Arial"/>
              </a:defRPr>
            </a:defPPr>
          </a:lstStyle>
          <a:p xmlns:a="http://schemas.openxmlformats.org/drawingml/2006/main">
            <a:pPr algn="ctr">
              <a:defRPr sz="675" b="1">
                <a:solidFill>
                  <a:srgbClr val="173773"/>
                </a:solidFill>
                <a:latin typeface="Arial"/>
                <a:ea typeface="Arial"/>
                <a:cs typeface="Arial"/>
              </a:defRPr>
            </a:pPr>
            <a:r>
              <a:rPr sz="675" b="1">
                <a:solidFill>
                  <a:srgbClr val="173773"/>
                </a:solidFill>
                <a:latin typeface="Arial"/>
                <a:ea typeface="Arial"/>
                <a:cs typeface="Arial"/>
              </a:rPr>
              <a:t>0,2497</a:t>
            </a:r>
          </a:p>
        </p:txBody>
      </p:sp>
      <p:sp>
        <p:nvSpPr>
          <p:cNvPr id="47" name="">
            <a:extLst xmlns:a="http://schemas.openxmlformats.org/drawingml/2006/main">
              <a:ext uri="{FF2B5EF4-FFF2-40B4-BE49-F238E27FC236}">
                <a16:creationId xmlns:a16="http://schemas.microsoft.com/office/drawing/2014/main" id="{B44AB5D6-C0D7-4A1E-88A7-4A118F9120EC}"/>
              </a:ext>
            </a:extLst>
          </p:cNvPr>
          <p:cNvSpPr>
            <a:spLocks xmlns:a="http://schemas.openxmlformats.org/drawingml/2006/main" noGrp="1"/>
          </p:cNvSpPr>
          <p:nvPr/>
        </p:nvSpPr>
        <p:spPr>
          <a:xfrm xmlns:a="http://schemas.openxmlformats.org/drawingml/2006/main">
            <a:off x="3943350" y="2523838"/>
            <a:ext cx="571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defPPr algn="ctr">
              <a:defRPr sz="675" b="1">
                <a:solidFill>
                  <a:srgbClr val="173773"/>
                </a:solidFill>
                <a:latin typeface="Arial"/>
                <a:ea typeface="Arial"/>
                <a:cs typeface="Arial"/>
              </a:defRPr>
            </a:defPPr>
          </a:lstStyle>
          <a:p xmlns:a="http://schemas.openxmlformats.org/drawingml/2006/main">
            <a:pPr algn="ctr">
              <a:defRPr sz="675" b="1">
                <a:solidFill>
                  <a:srgbClr val="173773"/>
                </a:solidFill>
                <a:latin typeface="Arial"/>
                <a:ea typeface="Arial"/>
                <a:cs typeface="Arial"/>
              </a:defRPr>
            </a:pPr>
            <a:r>
              <a:rPr sz="675" b="1">
                <a:solidFill>
                  <a:srgbClr val="173773"/>
                </a:solidFill>
                <a:latin typeface="Arial"/>
                <a:ea typeface="Arial"/>
                <a:cs typeface="Arial"/>
              </a:rPr>
              <a:t>0,3074</a:t>
            </a:r>
          </a:p>
        </p:txBody>
      </p:sp>
      <p:sp>
        <p:nvSpPr>
          <p:cNvPr id="48" name="">
            <a:extLst xmlns:a="http://schemas.openxmlformats.org/drawingml/2006/main">
              <a:ext uri="{FF2B5EF4-FFF2-40B4-BE49-F238E27FC236}">
                <a16:creationId xmlns:a16="http://schemas.microsoft.com/office/drawing/2014/main" id="{1641786D-E273-422D-B374-B6673A7D69DA}"/>
              </a:ext>
            </a:extLst>
          </p:cNvPr>
          <p:cNvSpPr>
            <a:spLocks xmlns:a="http://schemas.openxmlformats.org/drawingml/2006/main" noGrp="1"/>
          </p:cNvSpPr>
          <p:nvPr/>
        </p:nvSpPr>
        <p:spPr>
          <a:xfrm xmlns:a="http://schemas.openxmlformats.org/drawingml/2006/main">
            <a:off x="4781550" y="2101851"/>
            <a:ext cx="5715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defPPr algn="ctr">
              <a:defRPr sz="675" b="1">
                <a:solidFill>
                  <a:srgbClr val="173773"/>
                </a:solidFill>
                <a:latin typeface="Arial"/>
                <a:ea typeface="Arial"/>
                <a:cs typeface="Arial"/>
              </a:defRPr>
            </a:defPPr>
          </a:lstStyle>
          <a:p xmlns:a="http://schemas.openxmlformats.org/drawingml/2006/main">
            <a:pPr algn="ctr">
              <a:defRPr sz="675" b="1">
                <a:solidFill>
                  <a:srgbClr val="173773"/>
                </a:solidFill>
                <a:latin typeface="Arial"/>
                <a:ea typeface="Arial"/>
                <a:cs typeface="Arial"/>
              </a:defRPr>
            </a:pPr>
            <a:r>
              <a:rPr sz="675" b="1">
                <a:solidFill>
                  <a:srgbClr val="173773"/>
                </a:solidFill>
                <a:latin typeface="Arial"/>
                <a:ea typeface="Arial"/>
                <a:cs typeface="Arial"/>
              </a:rPr>
              <a:t>0,4046</a:t>
            </a:r>
          </a:p>
        </p:txBody>
      </p:sp>
      <p:sp>
        <p:nvSpPr>
          <p:cNvPr id="49" name="">
            <a:extLst xmlns:a="http://schemas.openxmlformats.org/drawingml/2006/main">
              <a:ext uri="{FF2B5EF4-FFF2-40B4-BE49-F238E27FC236}">
                <a16:creationId xmlns:a16="http://schemas.microsoft.com/office/drawing/2014/main" id="{65C84C59-F64E-4141-923E-1A717A1C4523}"/>
              </a:ext>
            </a:extLst>
          </p:cNvPr>
          <p:cNvSpPr>
            <a:spLocks xmlns:a="http://schemas.openxmlformats.org/drawingml/2006/main" noGrp="1"/>
          </p:cNvSpPr>
          <p:nvPr/>
        </p:nvSpPr>
        <p:spPr>
          <a:xfrm xmlns:a="http://schemas.openxmlformats.org/drawingml/2006/main">
            <a:off x="5852160" y="1562100"/>
            <a:ext cx="3017520" cy="1038225"/>
          </a:xfrm>
          <a:prstGeom xmlns:a="http://schemas.openxmlformats.org/drawingml/2006/main" prst="roundRect">
            <a:avLst>
              <a:gd name="adj" fmla="val 7339"/>
            </a:avLst>
          </a:prstGeom>
          <a:solidFill xmlns:a="http://schemas.openxmlformats.org/drawingml/2006/main">
            <a:srgbClr val="173773"/>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8DA80A8D-2225-42C1-ADE1-8668505195E9}"/>
              </a:ext>
            </a:extLst>
          </p:cNvPr>
          <p:cNvSpPr>
            <a:spLocks xmlns:a="http://schemas.openxmlformats.org/drawingml/2006/main" noGrp="1"/>
          </p:cNvSpPr>
          <p:nvPr/>
        </p:nvSpPr>
        <p:spPr>
          <a:xfrm xmlns:a="http://schemas.openxmlformats.org/drawingml/2006/main">
            <a:off x="5852160" y="1562100"/>
            <a:ext cx="301752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33350" tIns="95250" rIns="133350" bIns="95250" anchor="ctr">
            <a:normAutofit fontScale="100000"/>
          </a:bodyPr>
          <a:lstStyle xmlns:a="http://schemas.openxmlformats.org/drawingml/2006/main">
            <a:defPPr algn="ctr">
              <a:defRPr sz="1650" b="1">
                <a:solidFill>
                  <a:srgbClr val="FFFFFF"/>
                </a:solidFill>
                <a:latin typeface="Arial"/>
                <a:ea typeface="Arial"/>
                <a:cs typeface="Arial"/>
              </a:defRPr>
            </a:defPPr>
          </a:lstStyle>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Recall@5</a:t>
            </a:r>
          </a:p>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0,4046 против 0,3074</a:t>
            </a:r>
          </a:p>
        </p:txBody>
      </p:sp>
      <p:sp>
        <p:nvSpPr>
          <p:cNvPr id="51" name="">
            <a:extLst xmlns:a="http://schemas.openxmlformats.org/drawingml/2006/main">
              <a:ext uri="{FF2B5EF4-FFF2-40B4-BE49-F238E27FC236}">
                <a16:creationId xmlns:a16="http://schemas.microsoft.com/office/drawing/2014/main" id="{E85318E4-0502-450D-BB87-9AA247A21245}"/>
              </a:ext>
            </a:extLst>
          </p:cNvPr>
          <p:cNvSpPr>
            <a:spLocks xmlns:a="http://schemas.openxmlformats.org/drawingml/2006/main" noGrp="1"/>
          </p:cNvSpPr>
          <p:nvPr/>
        </p:nvSpPr>
        <p:spPr>
          <a:xfrm xmlns:a="http://schemas.openxmlformats.org/drawingml/2006/main">
            <a:off x="5852160" y="2724150"/>
            <a:ext cx="3017520" cy="1038225"/>
          </a:xfrm>
          <a:prstGeom xmlns:a="http://schemas.openxmlformats.org/drawingml/2006/main" prst="roundRect">
            <a:avLst>
              <a:gd name="adj" fmla="val 7339"/>
            </a:avLst>
          </a:prstGeom>
          <a:solidFill xmlns:a="http://schemas.openxmlformats.org/drawingml/2006/main">
            <a:srgbClr val="2F55A4"/>
          </a:solidFill>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15652482-14E0-41BF-A7B7-D511F6FB83CA}"/>
              </a:ext>
            </a:extLst>
          </p:cNvPr>
          <p:cNvSpPr>
            <a:spLocks xmlns:a="http://schemas.openxmlformats.org/drawingml/2006/main" noGrp="1"/>
          </p:cNvSpPr>
          <p:nvPr/>
        </p:nvSpPr>
        <p:spPr>
          <a:xfrm xmlns:a="http://schemas.openxmlformats.org/drawingml/2006/main">
            <a:off x="5852160" y="2724150"/>
            <a:ext cx="301752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33350" tIns="95250" rIns="133350" bIns="95250" anchor="ctr">
            <a:normAutofit fontScale="100000"/>
          </a:bodyPr>
          <a:lstStyle xmlns:a="http://schemas.openxmlformats.org/drawingml/2006/main">
            <a:defPPr algn="ctr">
              <a:defRPr sz="1650" b="1">
                <a:solidFill>
                  <a:srgbClr val="FFFFFF"/>
                </a:solidFill>
                <a:latin typeface="Arial"/>
                <a:ea typeface="Arial"/>
                <a:cs typeface="Arial"/>
              </a:defRPr>
            </a:defPPr>
          </a:lstStyle>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NDCG@5</a:t>
            </a:r>
          </a:p>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0,3130 против 0,2332</a:t>
            </a:r>
          </a:p>
        </p:txBody>
      </p:sp>
      <p:sp>
        <p:nvSpPr>
          <p:cNvPr id="53" name="">
            <a:extLst xmlns:a="http://schemas.openxmlformats.org/drawingml/2006/main">
              <a:ext uri="{FF2B5EF4-FFF2-40B4-BE49-F238E27FC236}">
                <a16:creationId xmlns:a16="http://schemas.microsoft.com/office/drawing/2014/main" id="{DAE4A684-0B57-4E47-B1F9-C41DA5EADE29}"/>
              </a:ext>
            </a:extLst>
          </p:cNvPr>
          <p:cNvSpPr>
            <a:spLocks xmlns:a="http://schemas.openxmlformats.org/drawingml/2006/main" noGrp="1"/>
          </p:cNvSpPr>
          <p:nvPr/>
        </p:nvSpPr>
        <p:spPr>
          <a:xfrm xmlns:a="http://schemas.openxmlformats.org/drawingml/2006/main">
            <a:off x="5852160" y="3886200"/>
            <a:ext cx="3017520" cy="981075"/>
          </a:xfrm>
          <a:prstGeom xmlns:a="http://schemas.openxmlformats.org/drawingml/2006/main" prst="roundRect">
            <a:avLst>
              <a:gd name="adj" fmla="val 7767"/>
            </a:avLst>
          </a:prstGeom>
          <a:solidFill xmlns:a="http://schemas.openxmlformats.org/drawingml/2006/main">
            <a:srgbClr val="FDE8D7"/>
          </a:solidFill>
          <a:ln xmlns:a="http://schemas.openxmlformats.org/drawingml/2006/main" w="0">
            <a:noFill/>
          </a:ln>
        </p:spPr>
      </p:sp>
      <p:sp>
        <p:nvSpPr>
          <p:cNvPr id="54" name="">
            <a:extLst xmlns:a="http://schemas.openxmlformats.org/drawingml/2006/main">
              <a:ext uri="{FF2B5EF4-FFF2-40B4-BE49-F238E27FC236}">
                <a16:creationId xmlns:a16="http://schemas.microsoft.com/office/drawing/2014/main" id="{2C1AF6FA-21F9-456F-BF3B-84888979D2B6}"/>
              </a:ext>
            </a:extLst>
          </p:cNvPr>
          <p:cNvSpPr>
            <a:spLocks xmlns:a="http://schemas.openxmlformats.org/drawingml/2006/main" noGrp="1"/>
          </p:cNvSpPr>
          <p:nvPr/>
        </p:nvSpPr>
        <p:spPr>
          <a:xfrm xmlns:a="http://schemas.openxmlformats.org/drawingml/2006/main">
            <a:off x="5852160" y="3886200"/>
            <a:ext cx="301752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33350" tIns="95250" rIns="133350" bIns="95250" anchor="ctr">
            <a:normAutofit fontScale="100000"/>
          </a:bodyPr>
          <a:lstStyle xmlns:a="http://schemas.openxmlformats.org/drawingml/2006/main">
            <a:defPPr algn="ctr">
              <a:defRPr sz="1125" b="1">
                <a:solidFill>
                  <a:srgbClr val="173773"/>
                </a:solidFill>
                <a:latin typeface="Arial"/>
                <a:ea typeface="Arial"/>
                <a:cs typeface="Arial"/>
              </a:defRPr>
            </a:defPPr>
          </a:lstStyle>
          <a:p xmlns:a="http://schemas.openxmlformats.org/drawingml/2006/main">
            <a:pPr algn="ctr">
              <a:defRPr sz="1125" b="1">
                <a:solidFill>
                  <a:srgbClr val="173773"/>
                </a:solidFill>
                <a:latin typeface="Arial"/>
                <a:ea typeface="Arial"/>
                <a:cs typeface="Arial"/>
              </a:defRPr>
            </a:pPr>
            <a:r>
              <a:rPr sz="1125" b="1">
                <a:solidFill>
                  <a:srgbClr val="173773"/>
                </a:solidFill>
                <a:latin typeface="Arial"/>
                <a:ea typeface="Arial"/>
                <a:cs typeface="Arial"/>
              </a:rPr>
              <a:t>Δ Recall@5 = +0,0973</a:t>
            </a:r>
          </a:p>
          <a:p xmlns:a="http://schemas.openxmlformats.org/drawingml/2006/main">
            <a:pPr algn="ctr">
              <a:defRPr sz="1125" b="1">
                <a:solidFill>
                  <a:srgbClr val="173773"/>
                </a:solidFill>
                <a:latin typeface="Arial"/>
                <a:ea typeface="Arial"/>
                <a:cs typeface="Arial"/>
              </a:defRPr>
            </a:pPr>
            <a:r>
              <a:rPr sz="1125" b="1">
                <a:solidFill>
                  <a:srgbClr val="173773"/>
                </a:solidFill>
                <a:latin typeface="Arial"/>
                <a:ea typeface="Arial"/>
                <a:cs typeface="Arial"/>
              </a:rPr>
              <a:t>95% ДИ [0,0948; 0,0996]</a:t>
            </a:r>
          </a:p>
          <a:p xmlns:a="http://schemas.openxmlformats.org/drawingml/2006/main">
            <a:pPr algn="ctr">
              <a:defRPr sz="1125" b="1">
                <a:solidFill>
                  <a:srgbClr val="173773"/>
                </a:solidFill>
                <a:latin typeface="Arial"/>
                <a:ea typeface="Arial"/>
                <a:cs typeface="Arial"/>
              </a:defRPr>
            </a:pPr>
            <a:r>
              <a:rPr sz="1125" b="1">
                <a:solidFill>
                  <a:srgbClr val="173773"/>
                </a:solidFill>
                <a:latin typeface="Arial"/>
                <a:ea typeface="Arial"/>
                <a:cs typeface="Arial"/>
              </a:rPr>
              <a:t>значимо при α = 0,05</a:t>
            </a:r>
          </a:p>
        </p:txBody>
      </p:sp>
    </p:spTree>
    <p:extLst>
      <p:ext uri="{BB962C8B-B14F-4D97-AF65-F5344CB8AC3E}">
        <p14:creationId xmlns:p14="http://schemas.microsoft.com/office/powerpoint/2010/main" val="8587817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B814C18B-2F30-43AD-9EEC-0CD5C9E8E9EE}"/>
              </a:ext>
            </a:extLst>
          </p:cNvPr>
          <p:cNvPicPr>
            <a:picLocks xmlns:a="http://schemas.openxmlformats.org/drawingml/2006/main" noChangeAspect="1"/>
          </p:cNvPicPr>
          <p:nvPr/>
        </p:nvPicPr>
        <p:blipFill>
          <a:blip xmlns:r="http://schemas.openxmlformats.org/officeDocument/2006/relationships" xmlns:a="http://schemas.openxmlformats.org/drawingml/2006/main" r:embed="Rbc8c84176a294f3c"/>
          <a:stretch xmlns:a="http://schemas.openxmlformats.org/drawingml/2006/main">
            <a:fillRect l="0" t="0" r="0" b="0"/>
          </a:stretch>
        </p:blipFill>
        <p:spPr>
          <a:xfrm xmlns:a="http://schemas.openxmlformats.org/drawingml/2006/main">
            <a:off x="274320" y="137160"/>
            <a:ext cx="502920" cy="50292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8601059F-9E46-424C-A307-8B01B62C23F1}"/>
              </a:ext>
            </a:extLst>
          </p:cNvPr>
          <p:cNvSpPr>
            <a:spLocks xmlns:a="http://schemas.openxmlformats.org/drawingml/2006/main" noGrp="1"/>
          </p:cNvSpPr>
          <p:nvPr/>
        </p:nvSpPr>
        <p:spPr>
          <a:xfrm xmlns:a="http://schemas.openxmlformats.org/drawingml/2006/main">
            <a:off x="868680" y="201168"/>
            <a:ext cx="173736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0E2D69"/>
                </a:solidFill>
                <a:latin typeface="Arial"/>
                <a:ea typeface="Arial"/>
                <a:cs typeface="Arial"/>
              </a:rPr>
              <a:t>Школа информатики, физики и технологий</a:t>
            </a:r>
            <a:endParaRPr sz="800"/>
          </a:p>
        </p:txBody>
      </p:sp>
      <p:sp>
        <p:nvSpPr>
          <p:cNvPr id="4" name="Text 1">
            <a:extLst xmlns:a="http://schemas.openxmlformats.org/drawingml/2006/main">
              <a:ext uri="{FF2B5EF4-FFF2-40B4-BE49-F238E27FC236}">
                <a16:creationId xmlns:a16="http://schemas.microsoft.com/office/drawing/2014/main" id="{BBCE2D1B-DB75-4E97-B86B-392E3F1FA4BE}"/>
              </a:ext>
            </a:extLst>
          </p:cNvPr>
          <p:cNvSpPr>
            <a:spLocks xmlns:a="http://schemas.openxmlformats.org/drawingml/2006/main" noGrp="1"/>
          </p:cNvSpPr>
          <p:nvPr/>
        </p:nvSpPr>
        <p:spPr>
          <a:xfrm xmlns:a="http://schemas.openxmlformats.org/drawingml/2006/main">
            <a:off x="2834640" y="201168"/>
            <a:ext cx="29260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0E2D69"/>
                </a:solidFill>
                <a:latin typeface="Arial"/>
                <a:ea typeface="Arial"/>
                <a:cs typeface="Arial"/>
              </a:rPr>
              <a:t>Рекомендательная система на основе поведенческих эмбеддингов</a:t>
            </a:r>
            <a:endParaRPr sz="800"/>
          </a:p>
        </p:txBody>
      </p:sp>
      <p:sp>
        <p:nvSpPr>
          <p:cNvPr id="5" name="Text 2">
            <a:extLst xmlns:a="http://schemas.openxmlformats.org/drawingml/2006/main">
              <a:ext uri="{FF2B5EF4-FFF2-40B4-BE49-F238E27FC236}">
                <a16:creationId xmlns:a16="http://schemas.microsoft.com/office/drawing/2014/main" id="{A38626EC-E4ED-40CF-8B76-E61CF8D9BA34}"/>
              </a:ext>
            </a:extLst>
          </p:cNvPr>
          <p:cNvSpPr>
            <a:spLocks xmlns:a="http://schemas.openxmlformats.org/drawingml/2006/main" noGrp="1"/>
          </p:cNvSpPr>
          <p:nvPr/>
        </p:nvSpPr>
        <p:spPr>
          <a:xfrm xmlns:a="http://schemas.openxmlformats.org/drawingml/2006/main">
            <a:off x="5989320" y="201168"/>
            <a:ext cx="18288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defPPr algn="l">
              <a:defRPr sz="900">
                <a:solidFill>
                  <a:srgbClr val="173773"/>
                </a:solidFill>
                <a:latin typeface="Arial"/>
                <a:ea typeface="Arial"/>
                <a:cs typeface="Arial"/>
              </a:defRPr>
            </a:defPPr>
          </a:lstStyle>
          <a:p xmlns:a="http://schemas.openxmlformats.org/drawingml/2006/main">
            <a:pPr marL="0" indent="0" algn="l">
              <a:buNone/>
            </a:pPr>
            <a:r>
              <a:rPr sz="900">
                <a:solidFill>
                  <a:srgbClr val="173773"/>
                </a:solidFill>
                <a:latin typeface="Arial"/>
                <a:ea typeface="Arial"/>
                <a:cs typeface="Arial"/>
              </a:rPr>
              <a:t>Результаты</a:t>
            </a:r>
            <a:endParaRPr sz="800"/>
          </a:p>
        </p:txBody>
      </p:sp>
      <p:sp>
        <p:nvSpPr>
          <p:cNvPr id="6" name="Shape 3">
            <a:extLst xmlns:a="http://schemas.openxmlformats.org/drawingml/2006/main">
              <a:ext uri="{FF2B5EF4-FFF2-40B4-BE49-F238E27FC236}">
                <a16:creationId xmlns:a16="http://schemas.microsoft.com/office/drawing/2014/main" id="{F5FA099E-E985-4BC7-8FB2-2163E0E783E7}"/>
              </a:ext>
            </a:extLst>
          </p:cNvPr>
          <p:cNvSpPr>
            <a:spLocks xmlns:a="http://schemas.openxmlformats.org/drawingml/2006/main" noGrp="1"/>
          </p:cNvSpPr>
          <p:nvPr/>
        </p:nvSpPr>
        <p:spPr>
          <a:xfrm xmlns:a="http://schemas.openxmlformats.org/drawingml/2006/main">
            <a:off x="2697480" y="182880"/>
            <a:ext cx="0" cy="457200"/>
          </a:xfrm>
          <a:prstGeom xmlns:a="http://schemas.openxmlformats.org/drawingml/2006/main" prst="line">
            <a:avLst/>
          </a:prstGeom>
          <a:noFill xmlns:a="http://schemas.openxmlformats.org/drawingml/2006/main"/>
          <a:ln xmlns:a="http://schemas.openxmlformats.org/drawingml/2006/main" w="19050">
            <a:solidFill>
              <a:srgbClr val="0E2D69"/>
            </a:solidFill>
            <a:prstDash val="solid"/>
          </a:ln>
        </p:spPr>
      </p:sp>
      <p:sp>
        <p:nvSpPr>
          <p:cNvPr id="7" name="Shape 4">
            <a:extLst xmlns:a="http://schemas.openxmlformats.org/drawingml/2006/main">
              <a:ext uri="{FF2B5EF4-FFF2-40B4-BE49-F238E27FC236}">
                <a16:creationId xmlns:a16="http://schemas.microsoft.com/office/drawing/2014/main" id="{7E03BAAB-2CF5-426D-8E6C-ECAA621BD7FC}"/>
              </a:ext>
            </a:extLst>
          </p:cNvPr>
          <p:cNvSpPr>
            <a:spLocks xmlns:a="http://schemas.openxmlformats.org/drawingml/2006/main" noGrp="1"/>
          </p:cNvSpPr>
          <p:nvPr/>
        </p:nvSpPr>
        <p:spPr>
          <a:xfrm xmlns:a="http://schemas.openxmlformats.org/drawingml/2006/main">
            <a:off x="5852160" y="182880"/>
            <a:ext cx="0" cy="457200"/>
          </a:xfrm>
          <a:prstGeom xmlns:a="http://schemas.openxmlformats.org/drawingml/2006/main" prst="line">
            <a:avLst/>
          </a:prstGeom>
          <a:noFill xmlns:a="http://schemas.openxmlformats.org/drawingml/2006/main"/>
          <a:ln xmlns:a="http://schemas.openxmlformats.org/drawingml/2006/main" w="19050">
            <a:solidFill>
              <a:srgbClr val="0E2D69"/>
            </a:solidFill>
            <a:prstDash val="solid"/>
          </a:ln>
        </p:spPr>
      </p:sp>
      <p:sp>
        <p:nvSpPr>
          <p:cNvPr id="8" name="Shape 5">
            <a:extLst xmlns:a="http://schemas.openxmlformats.org/drawingml/2006/main">
              <a:ext uri="{FF2B5EF4-FFF2-40B4-BE49-F238E27FC236}">
                <a16:creationId xmlns:a16="http://schemas.microsoft.com/office/drawing/2014/main" id="{FDAB5912-7BAC-4551-B12D-0394B0DCD337}"/>
              </a:ext>
            </a:extLst>
          </p:cNvPr>
          <p:cNvSpPr>
            <a:spLocks xmlns:a="http://schemas.openxmlformats.org/drawingml/2006/main" noGrp="1"/>
          </p:cNvSpPr>
          <p:nvPr/>
        </p:nvSpPr>
        <p:spPr>
          <a:xfrm xmlns:a="http://schemas.openxmlformats.org/drawingml/2006/main">
            <a:off x="7909560" y="182880"/>
            <a:ext cx="0" cy="457200"/>
          </a:xfrm>
          <a:prstGeom xmlns:a="http://schemas.openxmlformats.org/drawingml/2006/main" prst="line">
            <a:avLst/>
          </a:prstGeom>
          <a:noFill xmlns:a="http://schemas.openxmlformats.org/drawingml/2006/main"/>
          <a:ln xmlns:a="http://schemas.openxmlformats.org/drawingml/2006/main" w="19050">
            <a:solidFill>
              <a:srgbClr val="0E2D69"/>
            </a:solidFill>
            <a:prstDash val="solid"/>
          </a:ln>
        </p:spPr>
      </p:sp>
      <p:sp>
        <p:nvSpPr>
          <p:cNvPr id="9" name="Text 6">
            <a:extLst xmlns:a="http://schemas.openxmlformats.org/drawingml/2006/main">
              <a:ext uri="{FF2B5EF4-FFF2-40B4-BE49-F238E27FC236}">
                <a16:creationId xmlns:a16="http://schemas.microsoft.com/office/drawing/2014/main" id="{BACB7506-C406-40A1-AF68-3E79EC738B9C}"/>
              </a:ext>
            </a:extLst>
          </p:cNvPr>
          <p:cNvSpPr>
            <a:spLocks xmlns:a="http://schemas.openxmlformats.org/drawingml/2006/main" noGrp="1"/>
          </p:cNvSpPr>
          <p:nvPr/>
        </p:nvSpPr>
        <p:spPr>
          <a:xfrm xmlns:a="http://schemas.openxmlformats.org/drawingml/2006/main">
            <a:off x="365760" y="777240"/>
            <a:ext cx="84124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defPPr algn="l">
              <a:defRPr sz="2400" b="1">
                <a:solidFill>
                  <a:srgbClr val="173773"/>
                </a:solidFill>
                <a:latin typeface="Arial"/>
                <a:ea typeface="Arial"/>
                <a:cs typeface="Arial"/>
              </a:defRPr>
            </a:defPPr>
          </a:lstStyle>
          <a:p xmlns:a="http://schemas.openxmlformats.org/drawingml/2006/main">
            <a:pPr marL="0" indent="0" algn="l">
              <a:buNone/>
            </a:pPr>
            <a:r>
              <a:rPr sz="2400" b="1">
                <a:solidFill>
                  <a:srgbClr val="173773"/>
                </a:solidFill>
                <a:latin typeface="Arial"/>
                <a:ea typeface="Arial"/>
                <a:cs typeface="Arial"/>
              </a:rPr>
              <a:t>Качество и стоимость обучения</a:t>
            </a:r>
            <a:endParaRPr sz="2400"/>
          </a:p>
        </p:txBody>
      </p:sp>
      <p:sp>
        <p:nvSpPr>
          <p:cNvPr id="64" name="Text 59">
            <a:extLst xmlns:a="http://schemas.openxmlformats.org/drawingml/2006/main">
              <a:ext uri="{FF2B5EF4-FFF2-40B4-BE49-F238E27FC236}">
                <a16:creationId xmlns:a16="http://schemas.microsoft.com/office/drawing/2014/main" id="{1059495A-3D5E-46EA-92C1-5D3BFB552749}"/>
              </a:ext>
            </a:extLst>
          </p:cNvPr>
          <p:cNvSpPr>
            <a:spLocks xmlns:a="http://schemas.openxmlformats.org/drawingml/2006/main" noGrp="1"/>
          </p:cNvSpPr>
          <p:nvPr/>
        </p:nvSpPr>
        <p:spPr>
          <a:xfrm xmlns:a="http://schemas.openxmlformats.org/drawingml/2006/main">
            <a:off x="8001000" y="201168"/>
            <a:ext cx="8686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defPPr algn="ctr">
              <a:defRPr sz="1200">
                <a:solidFill>
                  <a:srgbClr val="173773"/>
                </a:solidFill>
                <a:latin typeface="Arial"/>
                <a:ea typeface="Arial"/>
                <a:cs typeface="Arial"/>
              </a:defRPr>
            </a:defPPr>
          </a:lstStyle>
          <a:p xmlns:a="http://schemas.openxmlformats.org/drawingml/2006/main">
            <a:pPr marL="0" indent="0" algn="ctr">
              <a:buNone/>
            </a:pPr>
            <a:r>
              <a:rPr sz="1200">
                <a:solidFill>
                  <a:srgbClr val="173773"/>
                </a:solidFill>
                <a:latin typeface="Arial"/>
                <a:ea typeface="Arial"/>
                <a:cs typeface="Arial"/>
              </a:rPr>
              <a:t>16/20</a:t>
            </a:r>
            <a:endParaRPr sz="1200"/>
          </a:p>
        </p:txBody>
      </p:sp>
      <p:graphicFrame>
        <p:nvGraphicFramePr>
          <p:cNvPr id="65" name="Chart">
            <a:extLst xmlns:a="http://schemas.openxmlformats.org/drawingml/2006/main">
              <a:ext uri="{FF2B5EF4-FFF2-40B4-BE49-F238E27FC236}">
                <a16:creationId xmlns:a16="http://schemas.microsoft.com/office/drawing/2014/main" id="{8621B838-8B0D-425F-9248-DC8C501BE1E4}"/>
              </a:ext>
            </a:extLst>
          </p:cNvPr>
          <p:cNvGraphicFramePr/>
          <p:nvPr/>
        </p:nvGraphicFramePr>
        <p:xfrm>
          <a:off xmlns:a="http://schemas.openxmlformats.org/drawingml/2006/main" x="274320" y="1466850"/>
          <a:ext xmlns:a="http://schemas.openxmlformats.org/drawingml/2006/main" cx="5212080" cy="2543175"/>
        </p:xfrm>
        <a:graphic xmlns:a="http://schemas.openxmlformats.org/drawingml/2006/main">
          <a:graphicData uri="http://schemas.openxmlformats.org/drawingml/2006/chart">
            <c:chart xmlns:r="http://schemas.openxmlformats.org/officeDocument/2006/relationships" xmlns:c="http://schemas.openxmlformats.org/drawingml/2006/chart" r:id="R52cf73a3d61c4870"/>
          </a:graphicData>
        </a:graphic>
      </p:graphicFrame>
      <p:sp>
        <p:nvSpPr>
          <p:cNvPr id="66" name="">
            <a:extLst xmlns:a="http://schemas.openxmlformats.org/drawingml/2006/main">
              <a:ext uri="{FF2B5EF4-FFF2-40B4-BE49-F238E27FC236}">
                <a16:creationId xmlns:a16="http://schemas.microsoft.com/office/drawing/2014/main" id="{42C5592B-8A90-494A-9A50-371EB0D62CA6}"/>
              </a:ext>
            </a:extLst>
          </p:cNvPr>
          <p:cNvSpPr>
            <a:spLocks xmlns:a="http://schemas.openxmlformats.org/drawingml/2006/main" noGrp="1"/>
          </p:cNvSpPr>
          <p:nvPr/>
        </p:nvSpPr>
        <p:spPr>
          <a:xfrm xmlns:a="http://schemas.openxmlformats.org/drawingml/2006/main">
            <a:off x="905340" y="3819525"/>
            <a:ext cx="3429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defPPr algn="ctr">
              <a:defRPr sz="600" b="0">
                <a:solidFill>
                  <a:srgbClr val="173773"/>
                </a:solidFill>
                <a:latin typeface="Arial"/>
                <a:ea typeface="Arial"/>
                <a:cs typeface="Arial"/>
              </a:defRPr>
            </a:defPPr>
          </a:lstStyle>
          <a:p xmlns:a="http://schemas.openxmlformats.org/drawingml/2006/main">
            <a:pPr algn="ctr">
              <a:defRPr sz="600" b="0">
                <a:solidFill>
                  <a:srgbClr val="173773"/>
                </a:solidFill>
                <a:latin typeface="Arial"/>
                <a:ea typeface="Arial"/>
                <a:cs typeface="Arial"/>
              </a:defRPr>
            </a:pPr>
            <a:r>
              <a:rPr sz="600" b="0">
                <a:solidFill>
                  <a:srgbClr val="173773"/>
                </a:solidFill>
                <a:latin typeface="Arial"/>
                <a:ea typeface="Arial"/>
                <a:cs typeface="Arial"/>
              </a:rPr>
              <a:t>0,2</a:t>
            </a:r>
          </a:p>
        </p:txBody>
      </p:sp>
      <p:sp>
        <p:nvSpPr>
          <p:cNvPr id="67" name="">
            <a:extLst xmlns:a="http://schemas.openxmlformats.org/drawingml/2006/main">
              <a:ext uri="{FF2B5EF4-FFF2-40B4-BE49-F238E27FC236}">
                <a16:creationId xmlns:a16="http://schemas.microsoft.com/office/drawing/2014/main" id="{F976650B-36E5-42C6-B1B3-7879D391B345}"/>
              </a:ext>
            </a:extLst>
          </p:cNvPr>
          <p:cNvSpPr>
            <a:spLocks xmlns:a="http://schemas.openxmlformats.org/drawingml/2006/main" noGrp="1"/>
          </p:cNvSpPr>
          <p:nvPr/>
        </p:nvSpPr>
        <p:spPr>
          <a:xfrm xmlns:a="http://schemas.openxmlformats.org/drawingml/2006/main">
            <a:off x="1782569" y="3819525"/>
            <a:ext cx="3429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defPPr algn="ctr">
              <a:defRPr sz="600" b="0">
                <a:solidFill>
                  <a:srgbClr val="173773"/>
                </a:solidFill>
                <a:latin typeface="Arial"/>
                <a:ea typeface="Arial"/>
                <a:cs typeface="Arial"/>
              </a:defRPr>
            </a:defPPr>
          </a:lstStyle>
          <a:p xmlns:a="http://schemas.openxmlformats.org/drawingml/2006/main">
            <a:pPr algn="ctr">
              <a:defRPr sz="600" b="0">
                <a:solidFill>
                  <a:srgbClr val="173773"/>
                </a:solidFill>
                <a:latin typeface="Arial"/>
                <a:ea typeface="Arial"/>
                <a:cs typeface="Arial"/>
              </a:defRPr>
            </a:pPr>
            <a:r>
              <a:rPr sz="600" b="0">
                <a:solidFill>
                  <a:srgbClr val="173773"/>
                </a:solidFill>
                <a:latin typeface="Arial"/>
                <a:ea typeface="Arial"/>
                <a:cs typeface="Arial"/>
              </a:rPr>
              <a:t>0,6</a:t>
            </a:r>
          </a:p>
        </p:txBody>
      </p:sp>
      <p:sp>
        <p:nvSpPr>
          <p:cNvPr id="68" name="">
            <a:extLst xmlns:a="http://schemas.openxmlformats.org/drawingml/2006/main">
              <a:ext uri="{FF2B5EF4-FFF2-40B4-BE49-F238E27FC236}">
                <a16:creationId xmlns:a16="http://schemas.microsoft.com/office/drawing/2014/main" id="{9F69147E-90DF-48C2-B389-50C52A858E08}"/>
              </a:ext>
            </a:extLst>
          </p:cNvPr>
          <p:cNvSpPr>
            <a:spLocks xmlns:a="http://schemas.openxmlformats.org/drawingml/2006/main" noGrp="1"/>
          </p:cNvSpPr>
          <p:nvPr/>
        </p:nvSpPr>
        <p:spPr>
          <a:xfrm xmlns:a="http://schemas.openxmlformats.org/drawingml/2006/main">
            <a:off x="3098413" y="3819525"/>
            <a:ext cx="3429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defPPr algn="ctr">
              <a:defRPr sz="600" b="0">
                <a:solidFill>
                  <a:srgbClr val="173773"/>
                </a:solidFill>
                <a:latin typeface="Arial"/>
                <a:ea typeface="Arial"/>
                <a:cs typeface="Arial"/>
              </a:defRPr>
            </a:defPPr>
          </a:lstStyle>
          <a:p xmlns:a="http://schemas.openxmlformats.org/drawingml/2006/main">
            <a:pPr algn="ctr">
              <a:defRPr sz="600" b="0">
                <a:solidFill>
                  <a:srgbClr val="173773"/>
                </a:solidFill>
                <a:latin typeface="Arial"/>
                <a:ea typeface="Arial"/>
                <a:cs typeface="Arial"/>
              </a:defRPr>
            </a:pPr>
            <a:r>
              <a:rPr sz="600" b="0">
                <a:solidFill>
                  <a:srgbClr val="173773"/>
                </a:solidFill>
                <a:latin typeface="Arial"/>
                <a:ea typeface="Arial"/>
                <a:cs typeface="Arial"/>
              </a:rPr>
              <a:t>1,2</a:t>
            </a:r>
          </a:p>
        </p:txBody>
      </p:sp>
      <p:sp>
        <p:nvSpPr>
          <p:cNvPr id="69" name="">
            <a:extLst xmlns:a="http://schemas.openxmlformats.org/drawingml/2006/main">
              <a:ext uri="{FF2B5EF4-FFF2-40B4-BE49-F238E27FC236}">
                <a16:creationId xmlns:a16="http://schemas.microsoft.com/office/drawing/2014/main" id="{1090DD5D-0CDF-454D-91DB-0D46B2E69742}"/>
              </a:ext>
            </a:extLst>
          </p:cNvPr>
          <p:cNvSpPr>
            <a:spLocks xmlns:a="http://schemas.openxmlformats.org/drawingml/2006/main" noGrp="1"/>
          </p:cNvSpPr>
          <p:nvPr/>
        </p:nvSpPr>
        <p:spPr>
          <a:xfrm xmlns:a="http://schemas.openxmlformats.org/drawingml/2006/main">
            <a:off x="3975642" y="3819525"/>
            <a:ext cx="3429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defPPr algn="ctr">
              <a:defRPr sz="600" b="0">
                <a:solidFill>
                  <a:srgbClr val="173773"/>
                </a:solidFill>
                <a:latin typeface="Arial"/>
                <a:ea typeface="Arial"/>
                <a:cs typeface="Arial"/>
              </a:defRPr>
            </a:defPPr>
          </a:lstStyle>
          <a:p xmlns:a="http://schemas.openxmlformats.org/drawingml/2006/main">
            <a:pPr algn="ctr">
              <a:defRPr sz="600" b="0">
                <a:solidFill>
                  <a:srgbClr val="173773"/>
                </a:solidFill>
                <a:latin typeface="Arial"/>
                <a:ea typeface="Arial"/>
                <a:cs typeface="Arial"/>
              </a:defRPr>
            </a:pPr>
            <a:r>
              <a:rPr sz="600" b="0">
                <a:solidFill>
                  <a:srgbClr val="173773"/>
                </a:solidFill>
                <a:latin typeface="Arial"/>
                <a:ea typeface="Arial"/>
                <a:cs typeface="Arial"/>
              </a:rPr>
              <a:t>1,6</a:t>
            </a:r>
          </a:p>
        </p:txBody>
      </p:sp>
      <p:sp>
        <p:nvSpPr>
          <p:cNvPr id="70" name="">
            <a:extLst xmlns:a="http://schemas.openxmlformats.org/drawingml/2006/main">
              <a:ext uri="{FF2B5EF4-FFF2-40B4-BE49-F238E27FC236}">
                <a16:creationId xmlns:a16="http://schemas.microsoft.com/office/drawing/2014/main" id="{91E7D005-C0FC-4C17-8A50-E1E593D78264}"/>
              </a:ext>
            </a:extLst>
          </p:cNvPr>
          <p:cNvSpPr>
            <a:spLocks xmlns:a="http://schemas.openxmlformats.org/drawingml/2006/main" noGrp="1"/>
          </p:cNvSpPr>
          <p:nvPr/>
        </p:nvSpPr>
        <p:spPr>
          <a:xfrm xmlns:a="http://schemas.openxmlformats.org/drawingml/2006/main">
            <a:off x="4822168" y="3819525"/>
            <a:ext cx="3429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defPPr algn="ctr">
              <a:defRPr sz="600" b="0">
                <a:solidFill>
                  <a:srgbClr val="173773"/>
                </a:solidFill>
                <a:latin typeface="Arial"/>
                <a:ea typeface="Arial"/>
                <a:cs typeface="Arial"/>
              </a:defRPr>
            </a:defPPr>
          </a:lstStyle>
          <a:p xmlns:a="http://schemas.openxmlformats.org/drawingml/2006/main">
            <a:pPr algn="ctr">
              <a:defRPr sz="600" b="0">
                <a:solidFill>
                  <a:srgbClr val="173773"/>
                </a:solidFill>
                <a:latin typeface="Arial"/>
                <a:ea typeface="Arial"/>
                <a:cs typeface="Arial"/>
              </a:defRPr>
            </a:pPr>
            <a:r>
              <a:rPr sz="600" b="0">
                <a:solidFill>
                  <a:srgbClr val="173773"/>
                </a:solidFill>
                <a:latin typeface="Arial"/>
                <a:ea typeface="Arial"/>
                <a:cs typeface="Arial"/>
              </a:rPr>
              <a:t>2,0</a:t>
            </a:r>
          </a:p>
        </p:txBody>
      </p:sp>
      <p:sp>
        <p:nvSpPr>
          <p:cNvPr id="71" name="">
            <a:extLst xmlns:a="http://schemas.openxmlformats.org/drawingml/2006/main">
              <a:ext uri="{FF2B5EF4-FFF2-40B4-BE49-F238E27FC236}">
                <a16:creationId xmlns:a16="http://schemas.microsoft.com/office/drawing/2014/main" id="{250111A2-B032-4F3E-822C-DE61C6C2E1B2}"/>
              </a:ext>
            </a:extLst>
          </p:cNvPr>
          <p:cNvSpPr>
            <a:spLocks xmlns:a="http://schemas.openxmlformats.org/drawingml/2006/main" noGrp="1"/>
          </p:cNvSpPr>
          <p:nvPr/>
        </p:nvSpPr>
        <p:spPr>
          <a:xfrm xmlns:a="http://schemas.openxmlformats.org/drawingml/2006/main">
            <a:off x="1666875" y="4010025"/>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defPPr algn="ctr">
              <a:defRPr sz="750" b="0">
                <a:solidFill>
                  <a:srgbClr val="5B6F97"/>
                </a:solidFill>
                <a:latin typeface="Arial"/>
                <a:ea typeface="Arial"/>
                <a:cs typeface="Arial"/>
              </a:defRPr>
            </a:defPPr>
          </a:lstStyle>
          <a:p xmlns:a="http://schemas.openxmlformats.org/drawingml/2006/main">
            <a:pPr algn="ctr">
              <a:defRPr sz="750" b="0">
                <a:solidFill>
                  <a:srgbClr val="5B6F97"/>
                </a:solidFill>
                <a:latin typeface="Arial"/>
                <a:ea typeface="Arial"/>
                <a:cs typeface="Arial"/>
              </a:defRPr>
            </a:pPr>
            <a:r>
              <a:rPr sz="750" b="0">
                <a:solidFill>
                  <a:srgbClr val="5B6F97"/>
                </a:solidFill>
                <a:latin typeface="Arial"/>
                <a:ea typeface="Arial"/>
                <a:cs typeface="Arial"/>
              </a:rPr>
              <a:t>Обучающих пользователей, млн</a:t>
            </a:r>
          </a:p>
        </p:txBody>
      </p:sp>
      <p:sp>
        <p:nvSpPr>
          <p:cNvPr id="72" name="">
            <a:extLst xmlns:a="http://schemas.openxmlformats.org/drawingml/2006/main">
              <a:ext uri="{FF2B5EF4-FFF2-40B4-BE49-F238E27FC236}">
                <a16:creationId xmlns:a16="http://schemas.microsoft.com/office/drawing/2014/main" id="{58126A0C-1B61-43AA-A57B-6076C0D5669E}"/>
              </a:ext>
            </a:extLst>
          </p:cNvPr>
          <p:cNvSpPr>
            <a:spLocks xmlns:a="http://schemas.openxmlformats.org/drawingml/2006/main" noGrp="1"/>
          </p:cNvSpPr>
          <p:nvPr/>
        </p:nvSpPr>
        <p:spPr>
          <a:xfrm xmlns:a="http://schemas.openxmlformats.org/drawingml/2006/main">
            <a:off x="581025" y="2133600"/>
            <a:ext cx="4953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defPPr algn="ctr">
              <a:defRPr sz="750" b="1">
                <a:solidFill>
                  <a:srgbClr val="173773"/>
                </a:solidFill>
                <a:latin typeface="Arial"/>
                <a:ea typeface="Arial"/>
                <a:cs typeface="Arial"/>
              </a:defRPr>
            </a:defPPr>
          </a:lstStyle>
          <a:p xmlns:a="http://schemas.openxmlformats.org/drawingml/2006/main">
            <a:pPr algn="ctr">
              <a:defRPr sz="750" b="1">
                <a:solidFill>
                  <a:srgbClr val="173773"/>
                </a:solidFill>
                <a:latin typeface="Arial"/>
                <a:ea typeface="Arial"/>
                <a:cs typeface="Arial"/>
              </a:defRPr>
            </a:pPr>
            <a:r>
              <a:rPr sz="750" b="1">
                <a:solidFill>
                  <a:srgbClr val="173773"/>
                </a:solidFill>
                <a:latin typeface="Arial"/>
                <a:ea typeface="Arial"/>
                <a:cs typeface="Arial"/>
              </a:rPr>
              <a:t>0,384</a:t>
            </a:r>
          </a:p>
        </p:txBody>
      </p:sp>
      <p:sp>
        <p:nvSpPr>
          <p:cNvPr id="73" name="">
            <a:extLst xmlns:a="http://schemas.openxmlformats.org/drawingml/2006/main">
              <a:ext uri="{FF2B5EF4-FFF2-40B4-BE49-F238E27FC236}">
                <a16:creationId xmlns:a16="http://schemas.microsoft.com/office/drawing/2014/main" id="{D01DB740-806A-4E2D-BA26-8E91AABABDB8}"/>
              </a:ext>
            </a:extLst>
          </p:cNvPr>
          <p:cNvSpPr>
            <a:spLocks xmlns:a="http://schemas.openxmlformats.org/drawingml/2006/main" noGrp="1"/>
          </p:cNvSpPr>
          <p:nvPr/>
        </p:nvSpPr>
        <p:spPr>
          <a:xfrm xmlns:a="http://schemas.openxmlformats.org/drawingml/2006/main">
            <a:off x="4838700" y="2057400"/>
            <a:ext cx="4953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defPPr algn="ctr">
              <a:defRPr sz="750" b="1">
                <a:solidFill>
                  <a:srgbClr val="173773"/>
                </a:solidFill>
                <a:latin typeface="Arial"/>
                <a:ea typeface="Arial"/>
                <a:cs typeface="Arial"/>
              </a:defRPr>
            </a:defPPr>
          </a:lstStyle>
          <a:p xmlns:a="http://schemas.openxmlformats.org/drawingml/2006/main">
            <a:pPr algn="ctr">
              <a:defRPr sz="750" b="1">
                <a:solidFill>
                  <a:srgbClr val="173773"/>
                </a:solidFill>
                <a:latin typeface="Arial"/>
                <a:ea typeface="Arial"/>
                <a:cs typeface="Arial"/>
              </a:defRPr>
            </a:pPr>
            <a:r>
              <a:rPr sz="750" b="1">
                <a:solidFill>
                  <a:srgbClr val="173773"/>
                </a:solidFill>
                <a:latin typeface="Arial"/>
                <a:ea typeface="Arial"/>
                <a:cs typeface="Arial"/>
              </a:rPr>
              <a:t>0,399</a:t>
            </a:r>
          </a:p>
        </p:txBody>
      </p:sp>
      <p:graphicFrame>
        <p:nvGraphicFramePr>
          <p:cNvPr id="74" name="">
            <a:extLst xmlns:a="http://schemas.openxmlformats.org/drawingml/2006/main">
              <a:ext uri="{FF2B5EF4-FFF2-40B4-BE49-F238E27FC236}">
                <a16:creationId xmlns:a16="http://schemas.microsoft.com/office/drawing/2014/main" id="{E2CA9EC0-686C-41BF-A990-566583F8603C}"/>
              </a:ext>
            </a:extLst>
          </p:cNvPr>
          <p:cNvGraphicFramePr/>
          <p:nvPr/>
        </p:nvGraphicFramePr>
        <p:xfrm>
          <a:off xmlns:a="http://schemas.openxmlformats.org/drawingml/2006/main" x="5669280" y="1600200"/>
          <a:ext xmlns:a="http://schemas.openxmlformats.org/drawingml/2006/main" cx="3200400" cy="1463040"/>
        </p:xfrm>
        <a:graphic xmlns:a="http://schemas.openxmlformats.org/drawingml/2006/main">
          <a:graphicData uri="http://schemas.openxmlformats.org/drawingml/2006/table">
            <a:tbl>
              <a:tblPr/>
              <a:tblGrid>
                <a:gridCol w="1066800"/>
                <a:gridCol w="685800"/>
                <a:gridCol w="838200"/>
                <a:gridCol w="609600"/>
              </a:tblGrid>
              <a:tr h="487680">
                <a:tc>
                  <a:txBody>
                    <a:bodyPr/>
                    <a:lstStyle/>
                    <a:p>
                      <a:r>
                        <a:rPr sz="825" b="1">
                          <a:solidFill>
                            <a:srgbClr val="FFFFFF"/>
                          </a:solidFill>
                          <a:latin typeface="Arial"/>
                          <a:ea typeface="Arial"/>
                          <a:cs typeface="Arial"/>
                        </a:rPr>
                        <a:t>Конфигурация</a:t>
                      </a:r>
                    </a:p>
                  </a:txBody>
                  <a:tcPr marL="47625" marR="47625" marT="47625" marB="47625" anchor="ctr">
                    <a:solidFill>
                      <a:srgbClr val="173773"/>
                    </a:solidFill>
                  </a:tcPr>
                </a:tc>
                <a:tc>
                  <a:txBody>
                    <a:bodyPr/>
                    <a:lstStyle/>
                    <a:p>
                      <a:r>
                        <a:rPr sz="825" b="1">
                          <a:solidFill>
                            <a:srgbClr val="FFFFFF"/>
                          </a:solidFill>
                          <a:latin typeface="Arial"/>
                          <a:ea typeface="Arial"/>
                          <a:cs typeface="Arial"/>
                        </a:rPr>
                        <a:t>Параметры</a:t>
                      </a:r>
                    </a:p>
                  </a:txBody>
                  <a:tcPr marL="47625" marR="47625" marT="47625" marB="47625" anchor="ctr">
                    <a:solidFill>
                      <a:srgbClr val="173773"/>
                    </a:solidFill>
                  </a:tcPr>
                </a:tc>
                <a:tc>
                  <a:txBody>
                    <a:bodyPr/>
                    <a:lstStyle/>
                    <a:p>
                      <a:r>
                        <a:rPr sz="825" b="1">
                          <a:solidFill>
                            <a:srgbClr val="FFFFFF"/>
                          </a:solidFill>
                          <a:latin typeface="Arial"/>
                          <a:ea typeface="Arial"/>
                          <a:cs typeface="Arial"/>
                        </a:rPr>
                        <a:t>Время</a:t>
                      </a:r>
                    </a:p>
                  </a:txBody>
                  <a:tcPr marL="47625" marR="47625" marT="47625" marB="47625" anchor="ctr">
                    <a:solidFill>
                      <a:srgbClr val="173773"/>
                    </a:solidFill>
                  </a:tcPr>
                </a:tc>
                <a:tc>
                  <a:txBody>
                    <a:bodyPr/>
                    <a:lstStyle/>
                    <a:p>
                      <a:r>
                        <a:rPr sz="825" b="1">
                          <a:solidFill>
                            <a:srgbClr val="FFFFFF"/>
                          </a:solidFill>
                          <a:latin typeface="Arial"/>
                          <a:ea typeface="Arial"/>
                          <a:cs typeface="Arial"/>
                        </a:rPr>
                        <a:t>Recall@5</a:t>
                      </a:r>
                    </a:p>
                  </a:txBody>
                  <a:tcPr marL="47625" marR="47625" marT="47625" marB="47625" anchor="ctr">
                    <a:solidFill>
                      <a:srgbClr val="173773"/>
                    </a:solidFill>
                  </a:tcPr>
                </a:tc>
              </a:tr>
              <a:tr h="487680">
                <a:tc>
                  <a:txBody>
                    <a:bodyPr/>
                    <a:lstStyle/>
                    <a:p>
                      <a:r>
                        <a:rPr sz="825">
                          <a:solidFill>
                            <a:srgbClr val="173773"/>
                          </a:solidFill>
                          <a:latin typeface="Arial"/>
                          <a:ea typeface="Arial"/>
                          <a:cs typeface="Arial"/>
                        </a:rPr>
                        <a:t>d=64 · полный пул</a:t>
                      </a:r>
                    </a:p>
                  </a:txBody>
                  <a:tcPr marL="47625" marR="47625" marT="47625" marB="47625" anchor="ctr">
                    <a:solidFill>
                      <a:srgbClr val="E8EEF8"/>
                    </a:solidFill>
                  </a:tcPr>
                </a:tc>
                <a:tc>
                  <a:txBody>
                    <a:bodyPr/>
                    <a:lstStyle/>
                    <a:p>
                      <a:r>
                        <a:rPr sz="825">
                          <a:solidFill>
                            <a:srgbClr val="173773"/>
                          </a:solidFill>
                          <a:latin typeface="Arial"/>
                          <a:ea typeface="Arial"/>
                          <a:cs typeface="Arial"/>
                        </a:rPr>
                        <a:t>100 тыс.</a:t>
                      </a:r>
                    </a:p>
                  </a:txBody>
                  <a:tcPr marL="47625" marR="47625" marT="47625" marB="47625" anchor="ctr">
                    <a:solidFill>
                      <a:srgbClr val="E8EEF8"/>
                    </a:solidFill>
                  </a:tcPr>
                </a:tc>
                <a:tc>
                  <a:txBody>
                    <a:bodyPr/>
                    <a:lstStyle/>
                    <a:p>
                      <a:r>
                        <a:rPr sz="825">
                          <a:solidFill>
                            <a:srgbClr val="173773"/>
                          </a:solidFill>
                          <a:latin typeface="Arial"/>
                          <a:ea typeface="Arial"/>
                          <a:cs typeface="Arial"/>
                        </a:rPr>
                        <a:t>5 ч 30 мин*</a:t>
                      </a:r>
                    </a:p>
                  </a:txBody>
                  <a:tcPr marL="47625" marR="47625" marT="47625" marB="47625" anchor="ctr">
                    <a:solidFill>
                      <a:srgbClr val="E8EEF8"/>
                    </a:solidFill>
                  </a:tcPr>
                </a:tc>
                <a:tc>
                  <a:txBody>
                    <a:bodyPr/>
                    <a:lstStyle/>
                    <a:p>
                      <a:r>
                        <a:rPr sz="825">
                          <a:solidFill>
                            <a:srgbClr val="173773"/>
                          </a:solidFill>
                          <a:latin typeface="Arial"/>
                          <a:ea typeface="Arial"/>
                          <a:cs typeface="Arial"/>
                        </a:rPr>
                        <a:t>0,3986</a:t>
                      </a:r>
                    </a:p>
                  </a:txBody>
                  <a:tcPr marL="47625" marR="47625" marT="47625" marB="47625" anchor="ctr">
                    <a:solidFill>
                      <a:srgbClr val="E8EEF8"/>
                    </a:solidFill>
                  </a:tcPr>
                </a:tc>
              </a:tr>
              <a:tr h="487680">
                <a:tc>
                  <a:txBody>
                    <a:bodyPr/>
                    <a:lstStyle/>
                    <a:p>
                      <a:r>
                        <a:rPr sz="825">
                          <a:solidFill>
                            <a:srgbClr val="173773"/>
                          </a:solidFill>
                          <a:latin typeface="Arial"/>
                          <a:ea typeface="Arial"/>
                          <a:cs typeface="Arial"/>
                        </a:rPr>
                        <a:t>d=128 · полный пул</a:t>
                      </a:r>
                    </a:p>
                  </a:txBody>
                  <a:tcPr marL="47625" marR="47625" marT="47625" marB="47625" anchor="ctr">
                    <a:solidFill>
                      <a:srgbClr val="FFFFFF"/>
                    </a:solidFill>
                  </a:tcPr>
                </a:tc>
                <a:tc>
                  <a:txBody>
                    <a:bodyPr/>
                    <a:lstStyle/>
                    <a:p>
                      <a:r>
                        <a:rPr sz="825">
                          <a:solidFill>
                            <a:srgbClr val="173773"/>
                          </a:solidFill>
                          <a:latin typeface="Arial"/>
                          <a:ea typeface="Arial"/>
                          <a:cs typeface="Arial"/>
                        </a:rPr>
                        <a:t>332 тыс.</a:t>
                      </a:r>
                    </a:p>
                  </a:txBody>
                  <a:tcPr marL="47625" marR="47625" marT="47625" marB="47625" anchor="ctr">
                    <a:solidFill>
                      <a:srgbClr val="FFFFFF"/>
                    </a:solidFill>
                  </a:tcPr>
                </a:tc>
                <a:tc>
                  <a:txBody>
                    <a:bodyPr/>
                    <a:lstStyle/>
                    <a:p>
                      <a:r>
                        <a:rPr sz="825">
                          <a:solidFill>
                            <a:srgbClr val="173773"/>
                          </a:solidFill>
                          <a:latin typeface="Arial"/>
                          <a:ea typeface="Arial"/>
                          <a:cs typeface="Arial"/>
                        </a:rPr>
                        <a:t>2 ч 09 мин H100</a:t>
                      </a:r>
                    </a:p>
                  </a:txBody>
                  <a:tcPr marL="47625" marR="47625" marT="47625" marB="47625" anchor="ctr">
                    <a:solidFill>
                      <a:srgbClr val="FFFFFF"/>
                    </a:solidFill>
                  </a:tcPr>
                </a:tc>
                <a:tc>
                  <a:txBody>
                    <a:bodyPr/>
                    <a:lstStyle/>
                    <a:p>
                      <a:r>
                        <a:rPr sz="825">
                          <a:solidFill>
                            <a:srgbClr val="173773"/>
                          </a:solidFill>
                          <a:latin typeface="Arial"/>
                          <a:ea typeface="Arial"/>
                          <a:cs typeface="Arial"/>
                        </a:rPr>
                        <a:t>0,4046</a:t>
                      </a:r>
                    </a:p>
                  </a:txBody>
                  <a:tcPr marL="47625" marR="47625" marT="47625" marB="47625" anchor="ctr">
                    <a:solidFill>
                      <a:srgbClr val="FFFFFF"/>
                    </a:solidFill>
                  </a:tcPr>
                </a:tc>
              </a:tr>
            </a:tbl>
          </a:graphicData>
        </a:graphic>
      </p:graphicFrame>
      <p:sp>
        <p:nvSpPr>
          <p:cNvPr id="75" name="">
            <a:extLst xmlns:a="http://schemas.openxmlformats.org/drawingml/2006/main">
              <a:ext uri="{FF2B5EF4-FFF2-40B4-BE49-F238E27FC236}">
                <a16:creationId xmlns:a16="http://schemas.microsoft.com/office/drawing/2014/main" id="{D0AD471A-834C-442B-8659-5A8E746181DB}"/>
              </a:ext>
            </a:extLst>
          </p:cNvPr>
          <p:cNvSpPr>
            <a:spLocks xmlns:a="http://schemas.openxmlformats.org/drawingml/2006/main" noGrp="1"/>
          </p:cNvSpPr>
          <p:nvPr/>
        </p:nvSpPr>
        <p:spPr>
          <a:xfrm xmlns:a="http://schemas.openxmlformats.org/drawingml/2006/main">
            <a:off x="5669280" y="3200400"/>
            <a:ext cx="3200400" cy="781050"/>
          </a:xfrm>
          <a:prstGeom xmlns:a="http://schemas.openxmlformats.org/drawingml/2006/main" prst="roundRect">
            <a:avLst>
              <a:gd name="adj" fmla="val 9756"/>
            </a:avLst>
          </a:prstGeom>
          <a:solidFill xmlns:a="http://schemas.openxmlformats.org/drawingml/2006/main">
            <a:srgbClr val="E8EEF8"/>
          </a:solidFill>
          <a:ln xmlns:a="http://schemas.openxmlformats.org/drawingml/2006/main" w="0">
            <a:noFill/>
          </a:ln>
        </p:spPr>
      </p:sp>
      <p:sp>
        <p:nvSpPr>
          <p:cNvPr id="76" name="">
            <a:extLst xmlns:a="http://schemas.openxmlformats.org/drawingml/2006/main">
              <a:ext uri="{FF2B5EF4-FFF2-40B4-BE49-F238E27FC236}">
                <a16:creationId xmlns:a16="http://schemas.microsoft.com/office/drawing/2014/main" id="{9DF1F56A-1257-4AC6-84AA-F74965B4AFD7}"/>
              </a:ext>
            </a:extLst>
          </p:cNvPr>
          <p:cNvSpPr>
            <a:spLocks xmlns:a="http://schemas.openxmlformats.org/drawingml/2006/main" noGrp="1"/>
          </p:cNvSpPr>
          <p:nvPr/>
        </p:nvSpPr>
        <p:spPr>
          <a:xfrm xmlns:a="http://schemas.openxmlformats.org/drawingml/2006/main">
            <a:off x="5669280" y="3200400"/>
            <a:ext cx="32004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33350" tIns="95250" rIns="133350" bIns="95250" anchor="ctr">
            <a:normAutofit fontScale="100000"/>
          </a:bodyPr>
          <a:lstStyle xmlns:a="http://schemas.openxmlformats.org/drawingml/2006/main">
            <a:defPPr algn="ctr">
              <a:defRPr sz="1275" b="1">
                <a:solidFill>
                  <a:srgbClr val="173773"/>
                </a:solidFill>
                <a:latin typeface="Arial"/>
                <a:ea typeface="Arial"/>
                <a:cs typeface="Arial"/>
              </a:defRPr>
            </a:defPPr>
          </a:lstStyle>
          <a:p xmlns:a="http://schemas.openxmlformats.org/drawingml/2006/main">
            <a:pPr algn="ctr">
              <a:defRPr sz="1275" b="1">
                <a:solidFill>
                  <a:srgbClr val="173773"/>
                </a:solidFill>
                <a:latin typeface="Arial"/>
                <a:ea typeface="Arial"/>
                <a:cs typeface="Arial"/>
              </a:defRPr>
            </a:pPr>
            <a:r>
              <a:rPr sz="1275" b="1">
                <a:solidFill>
                  <a:srgbClr val="173773"/>
                </a:solidFill>
                <a:latin typeface="Arial"/>
                <a:ea typeface="Arial"/>
                <a:cs typeface="Arial"/>
              </a:rPr>
              <a:t>d128 − d64: +0,0060</a:t>
            </a:r>
          </a:p>
          <a:p xmlns:a="http://schemas.openxmlformats.org/drawingml/2006/main">
            <a:pPr algn="ctr">
              <a:defRPr sz="1275" b="1">
                <a:solidFill>
                  <a:srgbClr val="173773"/>
                </a:solidFill>
                <a:latin typeface="Arial"/>
                <a:ea typeface="Arial"/>
                <a:cs typeface="Arial"/>
              </a:defRPr>
            </a:pPr>
            <a:r>
              <a:rPr sz="1275" b="1">
                <a:solidFill>
                  <a:srgbClr val="173773"/>
                </a:solidFill>
                <a:latin typeface="Arial"/>
                <a:ea typeface="Arial"/>
                <a:cs typeface="Arial"/>
              </a:rPr>
              <a:t>95% ДИ [0,0044; 0,0075]</a:t>
            </a:r>
          </a:p>
        </p:txBody>
      </p:sp>
      <p:sp>
        <p:nvSpPr>
          <p:cNvPr id="77" name="">
            <a:extLst xmlns:a="http://schemas.openxmlformats.org/drawingml/2006/main">
              <a:ext uri="{FF2B5EF4-FFF2-40B4-BE49-F238E27FC236}">
                <a16:creationId xmlns:a16="http://schemas.microsoft.com/office/drawing/2014/main" id="{558C659B-F327-472E-BA2E-04012EC012B1}"/>
              </a:ext>
            </a:extLst>
          </p:cNvPr>
          <p:cNvSpPr>
            <a:spLocks xmlns:a="http://schemas.openxmlformats.org/drawingml/2006/main" noGrp="1"/>
          </p:cNvSpPr>
          <p:nvPr/>
        </p:nvSpPr>
        <p:spPr>
          <a:xfrm xmlns:a="http://schemas.openxmlformats.org/drawingml/2006/main">
            <a:off x="5669280" y="4114800"/>
            <a:ext cx="3200400" cy="752475"/>
          </a:xfrm>
          <a:prstGeom xmlns:a="http://schemas.openxmlformats.org/drawingml/2006/main" prst="roundRect">
            <a:avLst>
              <a:gd name="adj" fmla="val 10127"/>
            </a:avLst>
          </a:prstGeom>
          <a:solidFill xmlns:a="http://schemas.openxmlformats.org/drawingml/2006/main">
            <a:srgbClr val="FDE8D7"/>
          </a:solidFill>
          <a:ln xmlns:a="http://schemas.openxmlformats.org/drawingml/2006/main" w="0">
            <a:noFill/>
          </a:ln>
        </p:spPr>
      </p:sp>
      <p:sp>
        <p:nvSpPr>
          <p:cNvPr id="78" name="">
            <a:extLst xmlns:a="http://schemas.openxmlformats.org/drawingml/2006/main">
              <a:ext uri="{FF2B5EF4-FFF2-40B4-BE49-F238E27FC236}">
                <a16:creationId xmlns:a16="http://schemas.microsoft.com/office/drawing/2014/main" id="{AB5F0C8B-E982-47E5-89C5-C363CC7349A5}"/>
              </a:ext>
            </a:extLst>
          </p:cNvPr>
          <p:cNvSpPr>
            <a:spLocks xmlns:a="http://schemas.openxmlformats.org/drawingml/2006/main" noGrp="1"/>
          </p:cNvSpPr>
          <p:nvPr/>
        </p:nvSpPr>
        <p:spPr>
          <a:xfrm xmlns:a="http://schemas.openxmlformats.org/drawingml/2006/main">
            <a:off x="5669280" y="4114800"/>
            <a:ext cx="32004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33350" tIns="95250" rIns="133350" bIns="95250" anchor="ctr">
            <a:normAutofit fontScale="100000"/>
          </a:bodyPr>
          <a:lstStyle xmlns:a="http://schemas.openxmlformats.org/drawingml/2006/main">
            <a:defPPr algn="ctr">
              <a:defRPr sz="900" b="0">
                <a:solidFill>
                  <a:srgbClr val="173773"/>
                </a:solidFill>
                <a:latin typeface="Arial"/>
                <a:ea typeface="Arial"/>
                <a:cs typeface="Arial"/>
              </a:defRPr>
            </a:defPPr>
          </a:lstStyle>
          <a:p xmlns:a="http://schemas.openxmlformats.org/drawingml/2006/main">
            <a:pPr algn="ctr">
              <a:defRPr sz="900" b="0">
                <a:solidFill>
                  <a:srgbClr val="173773"/>
                </a:solidFill>
                <a:latin typeface="Arial"/>
                <a:ea typeface="Arial"/>
                <a:cs typeface="Arial"/>
              </a:defRPr>
            </a:pPr>
            <a:r>
              <a:rPr sz="900" b="0">
                <a:solidFill>
                  <a:srgbClr val="173773"/>
                </a:solidFill>
                <a:latin typeface="Arial"/>
                <a:ea typeface="Arial"/>
                <a:cs typeface="Arial"/>
              </a:rPr>
              <a:t>* Разное оборудование. Для исходного ускорителя d128 ≈ 7,1 ч — расчёт, не измерение</a:t>
            </a:r>
          </a:p>
        </p:txBody>
      </p:sp>
      <p:sp>
        <p:nvSpPr>
          <p:cNvPr id="79" name="">
            <a:extLst xmlns:a="http://schemas.openxmlformats.org/drawingml/2006/main">
              <a:ext uri="{FF2B5EF4-FFF2-40B4-BE49-F238E27FC236}">
                <a16:creationId xmlns:a16="http://schemas.microsoft.com/office/drawing/2014/main" id="{B0CB4714-28A9-4CBB-A860-12CE2D5FA645}"/>
              </a:ext>
            </a:extLst>
          </p:cNvPr>
          <p:cNvSpPr>
            <a:spLocks xmlns:a="http://schemas.openxmlformats.org/drawingml/2006/main" noGrp="1"/>
          </p:cNvSpPr>
          <p:nvPr/>
        </p:nvSpPr>
        <p:spPr>
          <a:xfrm xmlns:a="http://schemas.openxmlformats.org/drawingml/2006/main">
            <a:off x="365760" y="4514850"/>
            <a:ext cx="512064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5250" tIns="66675" rIns="95250" bIns="66675" anchor="ctr">
            <a:normAutofit fontScale="100000"/>
          </a:bodyPr>
          <a:lstStyle xmlns:a="http://schemas.openxmlformats.org/drawingml/2006/main">
            <a:defPPr algn="ctr">
              <a:defRPr sz="900" b="0">
                <a:solidFill>
                  <a:srgbClr val="5B6F97"/>
                </a:solidFill>
                <a:latin typeface="Arial"/>
                <a:ea typeface="Arial"/>
                <a:cs typeface="Arial"/>
              </a:defRPr>
            </a:defPPr>
          </a:lstStyle>
          <a:p xmlns:a="http://schemas.openxmlformats.org/drawingml/2006/main">
            <a:pPr algn="ctr">
              <a:defRPr sz="900" b="0">
                <a:solidFill>
                  <a:srgbClr val="5B6F97"/>
                </a:solidFill>
                <a:latin typeface="Arial"/>
                <a:ea typeface="Arial"/>
                <a:cs typeface="Arial"/>
              </a:defRPr>
            </a:pPr>
            <a:r>
              <a:rPr sz="900" b="0">
                <a:solidFill>
                  <a:srgbClr val="5B6F97"/>
                </a:solidFill>
                <a:latin typeface="Arial"/>
                <a:ea typeface="Arial"/>
                <a:cs typeface="Arial"/>
              </a:rPr>
              <a:t>1,2 → 2 млн в d64: +0,00385 / +0,00294 / +0,00201; среднее +0,00294</a:t>
            </a:r>
          </a:p>
        </p:txBody>
      </p:sp>
    </p:spTree>
    <p:extLst>
      <p:ext uri="{BB962C8B-B14F-4D97-AF65-F5344CB8AC3E}">
        <p14:creationId xmlns:p14="http://schemas.microsoft.com/office/powerpoint/2010/main" val="144870488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098559ED-5F57-434B-B88D-F5A51393FC15}"/>
              </a:ext>
            </a:extLst>
          </p:cNvPr>
          <p:cNvPicPr>
            <a:picLocks xmlns:a="http://schemas.openxmlformats.org/drawingml/2006/main" noChangeAspect="1"/>
          </p:cNvPicPr>
          <p:nvPr/>
        </p:nvPicPr>
        <p:blipFill>
          <a:blip xmlns:r="http://schemas.openxmlformats.org/officeDocument/2006/relationships" xmlns:a="http://schemas.openxmlformats.org/drawingml/2006/main" r:embed="R680f70413b2c4b9a"/>
          <a:stretch xmlns:a="http://schemas.openxmlformats.org/drawingml/2006/main">
            <a:fillRect l="0" t="0" r="0" b="0"/>
          </a:stretch>
        </p:blipFill>
        <p:spPr>
          <a:xfrm xmlns:a="http://schemas.openxmlformats.org/drawingml/2006/main">
            <a:off x="274320" y="137160"/>
            <a:ext cx="502920" cy="50292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5EB4699F-70DF-42DE-B22E-28FDFD605A67}"/>
              </a:ext>
            </a:extLst>
          </p:cNvPr>
          <p:cNvSpPr>
            <a:spLocks xmlns:a="http://schemas.openxmlformats.org/drawingml/2006/main" noGrp="1"/>
          </p:cNvSpPr>
          <p:nvPr/>
        </p:nvSpPr>
        <p:spPr>
          <a:xfrm xmlns:a="http://schemas.openxmlformats.org/drawingml/2006/main">
            <a:off x="868680" y="201168"/>
            <a:ext cx="173736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0E2D69"/>
                </a:solidFill>
                <a:latin typeface="Arial"/>
                <a:ea typeface="Arial"/>
                <a:cs typeface="Arial"/>
              </a:rPr>
              <a:t>Школа информатики, физики и технологий</a:t>
            </a:r>
            <a:endParaRPr sz="800"/>
          </a:p>
        </p:txBody>
      </p:sp>
      <p:sp>
        <p:nvSpPr>
          <p:cNvPr id="4" name="Text 1">
            <a:extLst xmlns:a="http://schemas.openxmlformats.org/drawingml/2006/main">
              <a:ext uri="{FF2B5EF4-FFF2-40B4-BE49-F238E27FC236}">
                <a16:creationId xmlns:a16="http://schemas.microsoft.com/office/drawing/2014/main" id="{3E252021-428A-4974-B1C9-3DD8AC402A88}"/>
              </a:ext>
            </a:extLst>
          </p:cNvPr>
          <p:cNvSpPr>
            <a:spLocks xmlns:a="http://schemas.openxmlformats.org/drawingml/2006/main" noGrp="1"/>
          </p:cNvSpPr>
          <p:nvPr/>
        </p:nvSpPr>
        <p:spPr>
          <a:xfrm xmlns:a="http://schemas.openxmlformats.org/drawingml/2006/main">
            <a:off x="2834640" y="201168"/>
            <a:ext cx="29260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0E2D69"/>
                </a:solidFill>
                <a:latin typeface="Arial"/>
                <a:ea typeface="Arial"/>
                <a:cs typeface="Arial"/>
              </a:rPr>
              <a:t>Рекомендательная система на основе поведенческих эмбеддингов</a:t>
            </a:r>
            <a:endParaRPr sz="800"/>
          </a:p>
        </p:txBody>
      </p:sp>
      <p:sp>
        <p:nvSpPr>
          <p:cNvPr id="5" name="Text 2">
            <a:extLst xmlns:a="http://schemas.openxmlformats.org/drawingml/2006/main">
              <a:ext uri="{FF2B5EF4-FFF2-40B4-BE49-F238E27FC236}">
                <a16:creationId xmlns:a16="http://schemas.microsoft.com/office/drawing/2014/main" id="{DB831FC9-A95C-4319-8730-379E5522A574}"/>
              </a:ext>
            </a:extLst>
          </p:cNvPr>
          <p:cNvSpPr>
            <a:spLocks xmlns:a="http://schemas.openxmlformats.org/drawingml/2006/main" noGrp="1"/>
          </p:cNvSpPr>
          <p:nvPr/>
        </p:nvSpPr>
        <p:spPr>
          <a:xfrm xmlns:a="http://schemas.openxmlformats.org/drawingml/2006/main">
            <a:off x="5989320" y="201168"/>
            <a:ext cx="18288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defPPr algn="l">
              <a:defRPr sz="900">
                <a:solidFill>
                  <a:srgbClr val="173773"/>
                </a:solidFill>
                <a:latin typeface="Arial"/>
                <a:ea typeface="Arial"/>
                <a:cs typeface="Arial"/>
              </a:defRPr>
            </a:defPPr>
          </a:lstStyle>
          <a:p xmlns:a="http://schemas.openxmlformats.org/drawingml/2006/main">
            <a:pPr marL="0" indent="0" algn="l">
              <a:buNone/>
            </a:pPr>
            <a:r>
              <a:rPr sz="900">
                <a:solidFill>
                  <a:srgbClr val="173773"/>
                </a:solidFill>
                <a:latin typeface="Arial"/>
                <a:ea typeface="Arial"/>
                <a:cs typeface="Arial"/>
              </a:rPr>
              <a:t>Результаты</a:t>
            </a:r>
            <a:endParaRPr sz="800"/>
          </a:p>
        </p:txBody>
      </p:sp>
      <p:sp>
        <p:nvSpPr>
          <p:cNvPr id="6" name="Shape 3">
            <a:extLst xmlns:a="http://schemas.openxmlformats.org/drawingml/2006/main">
              <a:ext uri="{FF2B5EF4-FFF2-40B4-BE49-F238E27FC236}">
                <a16:creationId xmlns:a16="http://schemas.microsoft.com/office/drawing/2014/main" id="{BD5E3678-94C6-415D-8673-1625D0A94E8A}"/>
              </a:ext>
            </a:extLst>
          </p:cNvPr>
          <p:cNvSpPr>
            <a:spLocks xmlns:a="http://schemas.openxmlformats.org/drawingml/2006/main" noGrp="1"/>
          </p:cNvSpPr>
          <p:nvPr/>
        </p:nvSpPr>
        <p:spPr>
          <a:xfrm xmlns:a="http://schemas.openxmlformats.org/drawingml/2006/main">
            <a:off x="2697480" y="182880"/>
            <a:ext cx="0" cy="457200"/>
          </a:xfrm>
          <a:prstGeom xmlns:a="http://schemas.openxmlformats.org/drawingml/2006/main" prst="line">
            <a:avLst/>
          </a:prstGeom>
          <a:noFill xmlns:a="http://schemas.openxmlformats.org/drawingml/2006/main"/>
          <a:ln xmlns:a="http://schemas.openxmlformats.org/drawingml/2006/main" w="19050">
            <a:solidFill>
              <a:srgbClr val="0E2D69"/>
            </a:solidFill>
            <a:prstDash val="solid"/>
          </a:ln>
        </p:spPr>
      </p:sp>
      <p:sp>
        <p:nvSpPr>
          <p:cNvPr id="7" name="Shape 4">
            <a:extLst xmlns:a="http://schemas.openxmlformats.org/drawingml/2006/main">
              <a:ext uri="{FF2B5EF4-FFF2-40B4-BE49-F238E27FC236}">
                <a16:creationId xmlns:a16="http://schemas.microsoft.com/office/drawing/2014/main" id="{DA5C4A1F-A0A7-4ABC-924E-641009499BE0}"/>
              </a:ext>
            </a:extLst>
          </p:cNvPr>
          <p:cNvSpPr>
            <a:spLocks xmlns:a="http://schemas.openxmlformats.org/drawingml/2006/main" noGrp="1"/>
          </p:cNvSpPr>
          <p:nvPr/>
        </p:nvSpPr>
        <p:spPr>
          <a:xfrm xmlns:a="http://schemas.openxmlformats.org/drawingml/2006/main">
            <a:off x="5852160" y="182880"/>
            <a:ext cx="0" cy="457200"/>
          </a:xfrm>
          <a:prstGeom xmlns:a="http://schemas.openxmlformats.org/drawingml/2006/main" prst="line">
            <a:avLst/>
          </a:prstGeom>
          <a:noFill xmlns:a="http://schemas.openxmlformats.org/drawingml/2006/main"/>
          <a:ln xmlns:a="http://schemas.openxmlformats.org/drawingml/2006/main" w="19050">
            <a:solidFill>
              <a:srgbClr val="0E2D69"/>
            </a:solidFill>
            <a:prstDash val="solid"/>
          </a:ln>
        </p:spPr>
      </p:sp>
      <p:sp>
        <p:nvSpPr>
          <p:cNvPr id="8" name="Shape 5">
            <a:extLst xmlns:a="http://schemas.openxmlformats.org/drawingml/2006/main">
              <a:ext uri="{FF2B5EF4-FFF2-40B4-BE49-F238E27FC236}">
                <a16:creationId xmlns:a16="http://schemas.microsoft.com/office/drawing/2014/main" id="{AE6AF440-CD74-4C70-BBB0-EDA76BD8B3CB}"/>
              </a:ext>
            </a:extLst>
          </p:cNvPr>
          <p:cNvSpPr>
            <a:spLocks xmlns:a="http://schemas.openxmlformats.org/drawingml/2006/main" noGrp="1"/>
          </p:cNvSpPr>
          <p:nvPr/>
        </p:nvSpPr>
        <p:spPr>
          <a:xfrm xmlns:a="http://schemas.openxmlformats.org/drawingml/2006/main">
            <a:off x="7909560" y="182880"/>
            <a:ext cx="0" cy="457200"/>
          </a:xfrm>
          <a:prstGeom xmlns:a="http://schemas.openxmlformats.org/drawingml/2006/main" prst="line">
            <a:avLst/>
          </a:prstGeom>
          <a:noFill xmlns:a="http://schemas.openxmlformats.org/drawingml/2006/main"/>
          <a:ln xmlns:a="http://schemas.openxmlformats.org/drawingml/2006/main" w="19050">
            <a:solidFill>
              <a:srgbClr val="0E2D69"/>
            </a:solidFill>
            <a:prstDash val="solid"/>
          </a:ln>
        </p:spPr>
      </p:sp>
      <p:sp>
        <p:nvSpPr>
          <p:cNvPr id="9" name="Text 6">
            <a:extLst xmlns:a="http://schemas.openxmlformats.org/drawingml/2006/main">
              <a:ext uri="{FF2B5EF4-FFF2-40B4-BE49-F238E27FC236}">
                <a16:creationId xmlns:a16="http://schemas.microsoft.com/office/drawing/2014/main" id="{DBAAD69B-2AC2-4352-B99D-F51A3E315C3B}"/>
              </a:ext>
            </a:extLst>
          </p:cNvPr>
          <p:cNvSpPr>
            <a:spLocks xmlns:a="http://schemas.openxmlformats.org/drawingml/2006/main" noGrp="1"/>
          </p:cNvSpPr>
          <p:nvPr/>
        </p:nvSpPr>
        <p:spPr>
          <a:xfrm xmlns:a="http://schemas.openxmlformats.org/drawingml/2006/main">
            <a:off x="365760" y="777240"/>
            <a:ext cx="84124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defPPr algn="l">
              <a:defRPr sz="2400" b="1">
                <a:solidFill>
                  <a:srgbClr val="173773"/>
                </a:solidFill>
                <a:latin typeface="Arial"/>
                <a:ea typeface="Arial"/>
                <a:cs typeface="Arial"/>
              </a:defRPr>
            </a:defPPr>
          </a:lstStyle>
          <a:p xmlns:a="http://schemas.openxmlformats.org/drawingml/2006/main">
            <a:pPr marL="0" indent="0" algn="l">
              <a:buNone/>
            </a:pPr>
            <a:r>
              <a:rPr sz="2400" b="1">
                <a:solidFill>
                  <a:srgbClr val="173773"/>
                </a:solidFill>
                <a:latin typeface="Arial"/>
                <a:ea typeface="Arial"/>
                <a:cs typeface="Arial"/>
              </a:rPr>
              <a:t>Дополнительные эксперименты</a:t>
            </a:r>
            <a:endParaRPr sz="2400"/>
          </a:p>
        </p:txBody>
      </p:sp>
      <p:sp>
        <p:nvSpPr>
          <p:cNvPr id="15" name="Text 10">
            <a:extLst xmlns:a="http://schemas.openxmlformats.org/drawingml/2006/main">
              <a:ext uri="{FF2B5EF4-FFF2-40B4-BE49-F238E27FC236}">
                <a16:creationId xmlns:a16="http://schemas.microsoft.com/office/drawing/2014/main" id="{6A8D30AF-0604-4AA9-95DC-D6B1D2C687A8}"/>
              </a:ext>
            </a:extLst>
          </p:cNvPr>
          <p:cNvSpPr>
            <a:spLocks xmlns:a="http://schemas.openxmlformats.org/drawingml/2006/main" noGrp="1"/>
          </p:cNvSpPr>
          <p:nvPr/>
        </p:nvSpPr>
        <p:spPr>
          <a:xfrm xmlns:a="http://schemas.openxmlformats.org/drawingml/2006/main">
            <a:off x="8001000" y="201168"/>
            <a:ext cx="8686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defPPr algn="ctr">
              <a:defRPr sz="1200">
                <a:solidFill>
                  <a:srgbClr val="173773"/>
                </a:solidFill>
                <a:latin typeface="Arial"/>
                <a:ea typeface="Arial"/>
                <a:cs typeface="Arial"/>
              </a:defRPr>
            </a:defPPr>
          </a:lstStyle>
          <a:p xmlns:a="http://schemas.openxmlformats.org/drawingml/2006/main">
            <a:pPr marL="0" indent="0" algn="ctr">
              <a:buNone/>
            </a:pPr>
            <a:r>
              <a:rPr sz="1200">
                <a:solidFill>
                  <a:srgbClr val="173773"/>
                </a:solidFill>
                <a:latin typeface="Arial"/>
                <a:ea typeface="Arial"/>
                <a:cs typeface="Arial"/>
              </a:rPr>
              <a:t>17/20</a:t>
            </a:r>
            <a:endParaRPr sz="1200"/>
          </a:p>
        </p:txBody>
      </p:sp>
      <p:sp>
        <p:nvSpPr>
          <p:cNvPr id="16" name="">
            <a:extLst xmlns:a="http://schemas.openxmlformats.org/drawingml/2006/main">
              <a:ext uri="{FF2B5EF4-FFF2-40B4-BE49-F238E27FC236}">
                <a16:creationId xmlns:a16="http://schemas.microsoft.com/office/drawing/2014/main" id="{15947A5D-3B40-44CA-A2B5-9CC30169BDAF}"/>
              </a:ext>
            </a:extLst>
          </p:cNvPr>
          <p:cNvSpPr>
            <a:spLocks xmlns:a="http://schemas.openxmlformats.org/drawingml/2006/main" noGrp="1"/>
          </p:cNvSpPr>
          <p:nvPr/>
        </p:nvSpPr>
        <p:spPr>
          <a:xfrm xmlns:a="http://schemas.openxmlformats.org/drawingml/2006/main">
            <a:off x="274320" y="1428750"/>
            <a:ext cx="2743200" cy="838200"/>
          </a:xfrm>
          <a:prstGeom xmlns:a="http://schemas.openxmlformats.org/drawingml/2006/main" prst="roundRect">
            <a:avLst>
              <a:gd name="adj" fmla="val 9091"/>
            </a:avLst>
          </a:prstGeom>
          <a:solidFill xmlns:a="http://schemas.openxmlformats.org/drawingml/2006/main">
            <a:srgbClr val="17377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6CF948D-6815-4383-A040-796BC658864B}"/>
              </a:ext>
            </a:extLst>
          </p:cNvPr>
          <p:cNvSpPr>
            <a:spLocks xmlns:a="http://schemas.openxmlformats.org/drawingml/2006/main" noGrp="1"/>
          </p:cNvSpPr>
          <p:nvPr/>
        </p:nvSpPr>
        <p:spPr>
          <a:xfrm xmlns:a="http://schemas.openxmlformats.org/drawingml/2006/main">
            <a:off x="274320" y="1428750"/>
            <a:ext cx="2743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33350" tIns="95250" rIns="133350" bIns="95250" anchor="ctr">
            <a:normAutofit fontScale="100000"/>
          </a:bodyPr>
          <a:lstStyle xmlns:a="http://schemas.openxmlformats.org/drawingml/2006/main">
            <a:defPPr algn="ctr">
              <a:defRPr sz="1200" b="1">
                <a:solidFill>
                  <a:srgbClr val="FFFFFF"/>
                </a:solidFill>
                <a:latin typeface="Arial"/>
                <a:ea typeface="Arial"/>
                <a:cs typeface="Arial"/>
              </a:defRPr>
            </a:defPPr>
          </a:lstStyle>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Одно или два представления пользователя?</a:t>
            </a:r>
          </a:p>
        </p:txBody>
      </p:sp>
      <p:sp>
        <p:nvSpPr>
          <p:cNvPr id="18" name="">
            <a:extLst xmlns:a="http://schemas.openxmlformats.org/drawingml/2006/main">
              <a:ext uri="{FF2B5EF4-FFF2-40B4-BE49-F238E27FC236}">
                <a16:creationId xmlns:a16="http://schemas.microsoft.com/office/drawing/2014/main" id="{A97315E4-CE09-42DC-9A22-5045D12EBC9D}"/>
              </a:ext>
            </a:extLst>
          </p:cNvPr>
          <p:cNvSpPr>
            <a:spLocks xmlns:a="http://schemas.openxmlformats.org/drawingml/2006/main" noGrp="1"/>
          </p:cNvSpPr>
          <p:nvPr/>
        </p:nvSpPr>
        <p:spPr>
          <a:xfrm xmlns:a="http://schemas.openxmlformats.org/drawingml/2006/main">
            <a:off x="3154680" y="1428750"/>
            <a:ext cx="1645920" cy="838200"/>
          </a:xfrm>
          <a:prstGeom xmlns:a="http://schemas.openxmlformats.org/drawingml/2006/main" prst="roundRect">
            <a:avLst>
              <a:gd name="adj" fmla="val 9091"/>
            </a:avLst>
          </a:prstGeom>
          <a:solidFill xmlns:a="http://schemas.openxmlformats.org/drawingml/2006/main">
            <a:srgbClr val="F5F7FB"/>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5B8FD6F3-180A-4C54-A240-136570CC7197}"/>
              </a:ext>
            </a:extLst>
          </p:cNvPr>
          <p:cNvSpPr>
            <a:spLocks xmlns:a="http://schemas.openxmlformats.org/drawingml/2006/main" noGrp="1"/>
          </p:cNvSpPr>
          <p:nvPr/>
        </p:nvSpPr>
        <p:spPr>
          <a:xfrm xmlns:a="http://schemas.openxmlformats.org/drawingml/2006/main">
            <a:off x="3154680" y="1428750"/>
            <a:ext cx="164592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33350" tIns="95250" rIns="133350" bIns="95250" anchor="ctr">
            <a:normAutofit fontScale="100000"/>
          </a:bodyPr>
          <a:lstStyle xmlns:a="http://schemas.openxmlformats.org/drawingml/2006/main">
            <a:defPPr algn="ctr">
              <a:defRPr sz="975" b="0">
                <a:solidFill>
                  <a:srgbClr val="173773"/>
                </a:solidFill>
                <a:latin typeface="Arial"/>
                <a:ea typeface="Arial"/>
                <a:cs typeface="Arial"/>
              </a:defRPr>
            </a:defPPr>
          </a:lstStyle>
          <a:p xmlns:a="http://schemas.openxmlformats.org/drawingml/2006/main">
            <a:pPr algn="ctr">
              <a:defRPr sz="975" b="0">
                <a:solidFill>
                  <a:srgbClr val="173773"/>
                </a:solidFill>
                <a:latin typeface="Arial"/>
                <a:ea typeface="Arial"/>
                <a:cs typeface="Arial"/>
              </a:defRPr>
            </a:pPr>
            <a:r>
              <a:rPr sz="975" b="0">
                <a:solidFill>
                  <a:srgbClr val="173773"/>
                </a:solidFill>
                <a:latin typeface="Arial"/>
                <a:ea typeface="Arial"/>
                <a:cs typeface="Arial"/>
              </a:rPr>
              <a:t>d64 · 400 тыс. примеров</a:t>
            </a:r>
          </a:p>
        </p:txBody>
      </p:sp>
      <p:sp>
        <p:nvSpPr>
          <p:cNvPr id="20" name="">
            <a:extLst xmlns:a="http://schemas.openxmlformats.org/drawingml/2006/main">
              <a:ext uri="{FF2B5EF4-FFF2-40B4-BE49-F238E27FC236}">
                <a16:creationId xmlns:a16="http://schemas.microsoft.com/office/drawing/2014/main" id="{2A2FCCE0-202A-4F7F-83E6-1684AE676051}"/>
              </a:ext>
            </a:extLst>
          </p:cNvPr>
          <p:cNvSpPr>
            <a:spLocks xmlns:a="http://schemas.openxmlformats.org/drawingml/2006/main" noGrp="1"/>
          </p:cNvSpPr>
          <p:nvPr/>
        </p:nvSpPr>
        <p:spPr>
          <a:xfrm xmlns:a="http://schemas.openxmlformats.org/drawingml/2006/main">
            <a:off x="4937760" y="1428750"/>
            <a:ext cx="2194560" cy="838200"/>
          </a:xfrm>
          <a:prstGeom xmlns:a="http://schemas.openxmlformats.org/drawingml/2006/main" prst="roundRect">
            <a:avLst>
              <a:gd name="adj" fmla="val 9091"/>
            </a:avLst>
          </a:prstGeom>
          <a:solidFill xmlns:a="http://schemas.openxmlformats.org/drawingml/2006/main">
            <a:srgbClr val="F5F7FB"/>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ACAFBA99-0C5C-40BC-B59B-632078CAC035}"/>
              </a:ext>
            </a:extLst>
          </p:cNvPr>
          <p:cNvSpPr>
            <a:spLocks xmlns:a="http://schemas.openxmlformats.org/drawingml/2006/main" noGrp="1"/>
          </p:cNvSpPr>
          <p:nvPr/>
        </p:nvSpPr>
        <p:spPr>
          <a:xfrm xmlns:a="http://schemas.openxmlformats.org/drawingml/2006/main">
            <a:off x="4937760" y="1428750"/>
            <a:ext cx="219456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33350" tIns="95250" rIns="133350" bIns="95250" anchor="ctr">
            <a:normAutofit fontScale="100000"/>
          </a:bodyPr>
          <a:lstStyle xmlns:a="http://schemas.openxmlformats.org/drawingml/2006/main">
            <a:defPPr algn="ctr">
              <a:defRPr sz="975" b="0">
                <a:solidFill>
                  <a:srgbClr val="173773"/>
                </a:solidFill>
                <a:latin typeface="Arial"/>
                <a:ea typeface="Arial"/>
                <a:cs typeface="Arial"/>
              </a:defRPr>
            </a:defPPr>
          </a:lstStyle>
          <a:p xmlns:a="http://schemas.openxmlformats.org/drawingml/2006/main">
            <a:pPr algn="ctr">
              <a:defRPr sz="975" b="0">
                <a:solidFill>
                  <a:srgbClr val="173773"/>
                </a:solidFill>
                <a:latin typeface="Arial"/>
                <a:ea typeface="Arial"/>
                <a:cs typeface="Arial"/>
              </a:defRPr>
            </a:pPr>
            <a:r>
              <a:rPr sz="975" b="0">
                <a:solidFill>
                  <a:srgbClr val="173773"/>
                </a:solidFill>
                <a:latin typeface="Arial"/>
                <a:ea typeface="Arial"/>
                <a:cs typeface="Arial"/>
              </a:rPr>
              <a:t>0,3756 → 0,3871</a:t>
            </a:r>
          </a:p>
          <a:p xmlns:a="http://schemas.openxmlformats.org/drawingml/2006/main">
            <a:pPr algn="ctr">
              <a:defRPr sz="975" b="0">
                <a:solidFill>
                  <a:srgbClr val="173773"/>
                </a:solidFill>
                <a:latin typeface="Arial"/>
                <a:ea typeface="Arial"/>
                <a:cs typeface="Arial"/>
              </a:defRPr>
            </a:pPr>
            <a:r>
              <a:rPr sz="975" b="0">
                <a:solidFill>
                  <a:srgbClr val="173773"/>
                </a:solidFill>
                <a:latin typeface="Arial"/>
                <a:ea typeface="Arial"/>
                <a:cs typeface="Arial"/>
              </a:rPr>
              <a:t>Δ +0,0115 [0,0077; 0,0152]</a:t>
            </a:r>
          </a:p>
        </p:txBody>
      </p:sp>
      <p:sp>
        <p:nvSpPr>
          <p:cNvPr id="22" name="">
            <a:extLst xmlns:a="http://schemas.openxmlformats.org/drawingml/2006/main">
              <a:ext uri="{FF2B5EF4-FFF2-40B4-BE49-F238E27FC236}">
                <a16:creationId xmlns:a16="http://schemas.microsoft.com/office/drawing/2014/main" id="{41DA6A69-CFCF-444C-8A52-4AEAE9A96F56}"/>
              </a:ext>
            </a:extLst>
          </p:cNvPr>
          <p:cNvSpPr>
            <a:spLocks xmlns:a="http://schemas.openxmlformats.org/drawingml/2006/main" noGrp="1"/>
          </p:cNvSpPr>
          <p:nvPr/>
        </p:nvSpPr>
        <p:spPr>
          <a:xfrm xmlns:a="http://schemas.openxmlformats.org/drawingml/2006/main">
            <a:off x="7269480" y="1428750"/>
            <a:ext cx="1600200" cy="838200"/>
          </a:xfrm>
          <a:prstGeom xmlns:a="http://schemas.openxmlformats.org/drawingml/2006/main" prst="roundRect">
            <a:avLst>
              <a:gd name="adj" fmla="val 9091"/>
            </a:avLst>
          </a:prstGeom>
          <a:solidFill xmlns:a="http://schemas.openxmlformats.org/drawingml/2006/main">
            <a:srgbClr val="FDE8D7"/>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C1036AEA-8EC1-4CF3-A3A0-BDA9F17A2D22}"/>
              </a:ext>
            </a:extLst>
          </p:cNvPr>
          <p:cNvSpPr>
            <a:spLocks xmlns:a="http://schemas.openxmlformats.org/drawingml/2006/main" noGrp="1"/>
          </p:cNvSpPr>
          <p:nvPr/>
        </p:nvSpPr>
        <p:spPr>
          <a:xfrm xmlns:a="http://schemas.openxmlformats.org/drawingml/2006/main">
            <a:off x="7269480" y="1428750"/>
            <a:ext cx="1600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33350" tIns="95250" rIns="133350" bIns="95250" anchor="ctr">
            <a:normAutofit fontScale="100000"/>
          </a:bodyPr>
          <a:lstStyle xmlns:a="http://schemas.openxmlformats.org/drawingml/2006/main">
            <a:defPPr algn="ctr">
              <a:defRPr sz="975" b="1">
                <a:solidFill>
                  <a:srgbClr val="173773"/>
                </a:solidFill>
                <a:latin typeface="Arial"/>
                <a:ea typeface="Arial"/>
                <a:cs typeface="Arial"/>
              </a:defRPr>
            </a:defPPr>
          </a:lstStyle>
          <a:p xmlns:a="http://schemas.openxmlformats.org/drawingml/2006/main">
            <a:pPr algn="ctr">
              <a:defRPr sz="975" b="1">
                <a:solidFill>
                  <a:srgbClr val="173773"/>
                </a:solidFill>
                <a:latin typeface="Arial"/>
                <a:ea typeface="Arial"/>
                <a:cs typeface="Arial"/>
              </a:defRPr>
            </a:pPr>
            <a:r>
              <a:rPr sz="975" b="1">
                <a:solidFill>
                  <a:srgbClr val="173773"/>
                </a:solidFill>
                <a:latin typeface="Arial"/>
                <a:ea typeface="Arial"/>
                <a:cs typeface="Arial"/>
              </a:rPr>
              <a:t>Два лучше при α=0,05</a:t>
            </a:r>
          </a:p>
        </p:txBody>
      </p:sp>
      <p:sp>
        <p:nvSpPr>
          <p:cNvPr id="24" name="">
            <a:extLst xmlns:a="http://schemas.openxmlformats.org/drawingml/2006/main">
              <a:ext uri="{FF2B5EF4-FFF2-40B4-BE49-F238E27FC236}">
                <a16:creationId xmlns:a16="http://schemas.microsoft.com/office/drawing/2014/main" id="{258CA2EC-195F-4665-A1A2-F6F9DF4C0457}"/>
              </a:ext>
            </a:extLst>
          </p:cNvPr>
          <p:cNvSpPr>
            <a:spLocks xmlns:a="http://schemas.openxmlformats.org/drawingml/2006/main" noGrp="1"/>
          </p:cNvSpPr>
          <p:nvPr/>
        </p:nvSpPr>
        <p:spPr>
          <a:xfrm xmlns:a="http://schemas.openxmlformats.org/drawingml/2006/main">
            <a:off x="274320" y="2428875"/>
            <a:ext cx="2743200" cy="838200"/>
          </a:xfrm>
          <a:prstGeom xmlns:a="http://schemas.openxmlformats.org/drawingml/2006/main" prst="roundRect">
            <a:avLst>
              <a:gd name="adj" fmla="val 9091"/>
            </a:avLst>
          </a:prstGeom>
          <a:solidFill xmlns:a="http://schemas.openxmlformats.org/drawingml/2006/main">
            <a:srgbClr val="E8EEF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A5E3AAFD-A9FB-4944-9D2E-58CCABAF853F}"/>
              </a:ext>
            </a:extLst>
          </p:cNvPr>
          <p:cNvSpPr>
            <a:spLocks xmlns:a="http://schemas.openxmlformats.org/drawingml/2006/main" noGrp="1"/>
          </p:cNvSpPr>
          <p:nvPr/>
        </p:nvSpPr>
        <p:spPr>
          <a:xfrm xmlns:a="http://schemas.openxmlformats.org/drawingml/2006/main">
            <a:off x="274320" y="2428875"/>
            <a:ext cx="2743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33350" tIns="95250" rIns="133350" bIns="95250" anchor="ctr">
            <a:normAutofit fontScale="100000"/>
          </a:bodyPr>
          <a:lstStyle xmlns:a="http://schemas.openxmlformats.org/drawingml/2006/main">
            <a:defPPr algn="ctr">
              <a:defRPr sz="1200" b="1">
                <a:solidFill>
                  <a:srgbClr val="173773"/>
                </a:solidFill>
                <a:latin typeface="Arial"/>
                <a:ea typeface="Arial"/>
                <a:cs typeface="Arial"/>
              </a:defRPr>
            </a:defPPr>
          </a:lstStyle>
          <a:p xmlns:a="http://schemas.openxmlformats.org/drawingml/2006/main">
            <a:pPr algn="ctr">
              <a:defRPr sz="1200" b="1">
                <a:solidFill>
                  <a:srgbClr val="173773"/>
                </a:solidFill>
                <a:latin typeface="Arial"/>
                <a:ea typeface="Arial"/>
                <a:cs typeface="Arial"/>
              </a:defRPr>
            </a:pPr>
            <a:r>
              <a:rPr sz="1200" b="1">
                <a:solidFill>
                  <a:srgbClr val="173773"/>
                </a:solidFill>
                <a:latin typeface="Arial"/>
                <a:ea typeface="Arial"/>
                <a:cs typeface="Arial"/>
              </a:rPr>
              <a:t>Нужны ли 180 дней истории?</a:t>
            </a:r>
          </a:p>
        </p:txBody>
      </p:sp>
      <p:sp>
        <p:nvSpPr>
          <p:cNvPr id="26" name="">
            <a:extLst xmlns:a="http://schemas.openxmlformats.org/drawingml/2006/main">
              <a:ext uri="{FF2B5EF4-FFF2-40B4-BE49-F238E27FC236}">
                <a16:creationId xmlns:a16="http://schemas.microsoft.com/office/drawing/2014/main" id="{2BD0C2C4-5372-4E2B-BCBD-8C154D32977D}"/>
              </a:ext>
            </a:extLst>
          </p:cNvPr>
          <p:cNvSpPr>
            <a:spLocks xmlns:a="http://schemas.openxmlformats.org/drawingml/2006/main" noGrp="1"/>
          </p:cNvSpPr>
          <p:nvPr/>
        </p:nvSpPr>
        <p:spPr>
          <a:xfrm xmlns:a="http://schemas.openxmlformats.org/drawingml/2006/main">
            <a:off x="3154680" y="2428875"/>
            <a:ext cx="1645920" cy="838200"/>
          </a:xfrm>
          <a:prstGeom xmlns:a="http://schemas.openxmlformats.org/drawingml/2006/main" prst="roundRect">
            <a:avLst>
              <a:gd name="adj" fmla="val 9091"/>
            </a:avLst>
          </a:prstGeom>
          <a:solidFill xmlns:a="http://schemas.openxmlformats.org/drawingml/2006/main">
            <a:srgbClr val="F5F7FB"/>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01534241-9566-4EED-90FC-82CCF409A369}"/>
              </a:ext>
            </a:extLst>
          </p:cNvPr>
          <p:cNvSpPr>
            <a:spLocks xmlns:a="http://schemas.openxmlformats.org/drawingml/2006/main" noGrp="1"/>
          </p:cNvSpPr>
          <p:nvPr/>
        </p:nvSpPr>
        <p:spPr>
          <a:xfrm xmlns:a="http://schemas.openxmlformats.org/drawingml/2006/main">
            <a:off x="3154680" y="2428875"/>
            <a:ext cx="164592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33350" tIns="95250" rIns="133350" bIns="95250" anchor="ctr">
            <a:normAutofit fontScale="100000"/>
          </a:bodyPr>
          <a:lstStyle xmlns:a="http://schemas.openxmlformats.org/drawingml/2006/main">
            <a:defPPr algn="ctr">
              <a:defRPr sz="975" b="0">
                <a:solidFill>
                  <a:srgbClr val="173773"/>
                </a:solidFill>
                <a:latin typeface="Arial"/>
                <a:ea typeface="Arial"/>
                <a:cs typeface="Arial"/>
              </a:defRPr>
            </a:defPPr>
          </a:lstStyle>
          <a:p xmlns:a="http://schemas.openxmlformats.org/drawingml/2006/main">
            <a:pPr algn="ctr">
              <a:defRPr sz="975" b="0">
                <a:solidFill>
                  <a:srgbClr val="173773"/>
                </a:solidFill>
                <a:latin typeface="Arial"/>
                <a:ea typeface="Arial"/>
                <a:cs typeface="Arial"/>
              </a:defRPr>
            </a:pPr>
            <a:r>
              <a:rPr sz="975" b="0">
                <a:solidFill>
                  <a:srgbClr val="173773"/>
                </a:solidFill>
                <a:latin typeface="Arial"/>
                <a:ea typeface="Arial"/>
                <a:cs typeface="Arial"/>
              </a:rPr>
              <a:t>d64 · 50 тыс. примеров</a:t>
            </a:r>
          </a:p>
        </p:txBody>
      </p:sp>
      <p:sp>
        <p:nvSpPr>
          <p:cNvPr id="28" name="">
            <a:extLst xmlns:a="http://schemas.openxmlformats.org/drawingml/2006/main">
              <a:ext uri="{FF2B5EF4-FFF2-40B4-BE49-F238E27FC236}">
                <a16:creationId xmlns:a16="http://schemas.microsoft.com/office/drawing/2014/main" id="{CF7E8609-B98B-4D8E-8B67-BBB6A32A9D4C}"/>
              </a:ext>
            </a:extLst>
          </p:cNvPr>
          <p:cNvSpPr>
            <a:spLocks xmlns:a="http://schemas.openxmlformats.org/drawingml/2006/main" noGrp="1"/>
          </p:cNvSpPr>
          <p:nvPr/>
        </p:nvSpPr>
        <p:spPr>
          <a:xfrm xmlns:a="http://schemas.openxmlformats.org/drawingml/2006/main">
            <a:off x="4937760" y="2428875"/>
            <a:ext cx="2194560" cy="838200"/>
          </a:xfrm>
          <a:prstGeom xmlns:a="http://schemas.openxmlformats.org/drawingml/2006/main" prst="roundRect">
            <a:avLst>
              <a:gd name="adj" fmla="val 9091"/>
            </a:avLst>
          </a:prstGeom>
          <a:solidFill xmlns:a="http://schemas.openxmlformats.org/drawingml/2006/main">
            <a:srgbClr val="F5F7FB"/>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BA5144A5-61F0-48AA-8CAA-A8CE8218BF31}"/>
              </a:ext>
            </a:extLst>
          </p:cNvPr>
          <p:cNvSpPr>
            <a:spLocks xmlns:a="http://schemas.openxmlformats.org/drawingml/2006/main" noGrp="1"/>
          </p:cNvSpPr>
          <p:nvPr/>
        </p:nvSpPr>
        <p:spPr>
          <a:xfrm xmlns:a="http://schemas.openxmlformats.org/drawingml/2006/main">
            <a:off x="4937760" y="2428875"/>
            <a:ext cx="219456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33350" tIns="95250" rIns="133350" bIns="95250" anchor="ctr">
            <a:normAutofit fontScale="100000"/>
          </a:bodyPr>
          <a:lstStyle xmlns:a="http://schemas.openxmlformats.org/drawingml/2006/main">
            <a:defPPr algn="ctr">
              <a:defRPr sz="975" b="0">
                <a:solidFill>
                  <a:srgbClr val="173773"/>
                </a:solidFill>
                <a:latin typeface="Arial"/>
                <a:ea typeface="Arial"/>
                <a:cs typeface="Arial"/>
              </a:defRPr>
            </a:defPPr>
          </a:lstStyle>
          <a:p xmlns:a="http://schemas.openxmlformats.org/drawingml/2006/main">
            <a:pPr algn="ctr">
              <a:defRPr sz="975" b="0">
                <a:solidFill>
                  <a:srgbClr val="173773"/>
                </a:solidFill>
                <a:latin typeface="Arial"/>
                <a:ea typeface="Arial"/>
                <a:cs typeface="Arial"/>
              </a:defRPr>
            </a:pPr>
            <a:r>
              <a:rPr sz="975" b="0">
                <a:solidFill>
                  <a:srgbClr val="173773"/>
                </a:solidFill>
                <a:latin typeface="Arial"/>
                <a:ea typeface="Arial"/>
                <a:cs typeface="Arial"/>
              </a:rPr>
              <a:t>0,3336 → 0,3341</a:t>
            </a:r>
          </a:p>
          <a:p xmlns:a="http://schemas.openxmlformats.org/drawingml/2006/main">
            <a:pPr algn="ctr">
              <a:defRPr sz="975" b="0">
                <a:solidFill>
                  <a:srgbClr val="173773"/>
                </a:solidFill>
                <a:latin typeface="Arial"/>
                <a:ea typeface="Arial"/>
                <a:cs typeface="Arial"/>
              </a:defRPr>
            </a:pPr>
            <a:r>
              <a:rPr sz="975" b="0">
                <a:solidFill>
                  <a:srgbClr val="173773"/>
                </a:solidFill>
                <a:latin typeface="Arial"/>
                <a:ea typeface="Arial"/>
                <a:cs typeface="Arial"/>
              </a:rPr>
              <a:t>Δ +0,00045 [−0,00326; 0,00428]</a:t>
            </a:r>
          </a:p>
        </p:txBody>
      </p:sp>
      <p:sp>
        <p:nvSpPr>
          <p:cNvPr id="30" name="">
            <a:extLst xmlns:a="http://schemas.openxmlformats.org/drawingml/2006/main">
              <a:ext uri="{FF2B5EF4-FFF2-40B4-BE49-F238E27FC236}">
                <a16:creationId xmlns:a16="http://schemas.microsoft.com/office/drawing/2014/main" id="{B6A741CA-EF7C-4211-8C6A-897C53445C1E}"/>
              </a:ext>
            </a:extLst>
          </p:cNvPr>
          <p:cNvSpPr>
            <a:spLocks xmlns:a="http://schemas.openxmlformats.org/drawingml/2006/main" noGrp="1"/>
          </p:cNvSpPr>
          <p:nvPr/>
        </p:nvSpPr>
        <p:spPr>
          <a:xfrm xmlns:a="http://schemas.openxmlformats.org/drawingml/2006/main">
            <a:off x="7269480" y="2428875"/>
            <a:ext cx="1600200" cy="838200"/>
          </a:xfrm>
          <a:prstGeom xmlns:a="http://schemas.openxmlformats.org/drawingml/2006/main" prst="roundRect">
            <a:avLst>
              <a:gd name="adj" fmla="val 9091"/>
            </a:avLst>
          </a:prstGeom>
          <a:solidFill xmlns:a="http://schemas.openxmlformats.org/drawingml/2006/main">
            <a:srgbClr val="F5F7FB"/>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A07DD8A3-EEE5-4C02-AC31-4B96021073E2}"/>
              </a:ext>
            </a:extLst>
          </p:cNvPr>
          <p:cNvSpPr>
            <a:spLocks xmlns:a="http://schemas.openxmlformats.org/drawingml/2006/main" noGrp="1"/>
          </p:cNvSpPr>
          <p:nvPr/>
        </p:nvSpPr>
        <p:spPr>
          <a:xfrm xmlns:a="http://schemas.openxmlformats.org/drawingml/2006/main">
            <a:off x="7269480" y="2428875"/>
            <a:ext cx="1600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33350" tIns="95250" rIns="133350" bIns="95250" anchor="ctr">
            <a:normAutofit fontScale="100000"/>
          </a:bodyPr>
          <a:lstStyle xmlns:a="http://schemas.openxmlformats.org/drawingml/2006/main">
            <a:defPPr algn="ctr">
              <a:defRPr sz="975" b="1">
                <a:solidFill>
                  <a:srgbClr val="173773"/>
                </a:solidFill>
                <a:latin typeface="Arial"/>
                <a:ea typeface="Arial"/>
                <a:cs typeface="Arial"/>
              </a:defRPr>
            </a:defPPr>
          </a:lstStyle>
          <a:p xmlns:a="http://schemas.openxmlformats.org/drawingml/2006/main">
            <a:pPr algn="ctr">
              <a:defRPr sz="975" b="1">
                <a:solidFill>
                  <a:srgbClr val="173773"/>
                </a:solidFill>
                <a:latin typeface="Arial"/>
                <a:ea typeface="Arial"/>
                <a:cs typeface="Arial"/>
              </a:defRPr>
            </a:pPr>
            <a:r>
              <a:rPr sz="975" b="1">
                <a:solidFill>
                  <a:srgbClr val="173773"/>
                </a:solidFill>
                <a:latin typeface="Arial"/>
                <a:ea typeface="Arial"/>
                <a:cs typeface="Arial"/>
              </a:rPr>
              <a:t>Значимой разницы нет; оставлены 90 дней</a:t>
            </a:r>
          </a:p>
        </p:txBody>
      </p:sp>
      <p:sp>
        <p:nvSpPr>
          <p:cNvPr id="32" name="">
            <a:extLst xmlns:a="http://schemas.openxmlformats.org/drawingml/2006/main">
              <a:ext uri="{FF2B5EF4-FFF2-40B4-BE49-F238E27FC236}">
                <a16:creationId xmlns:a16="http://schemas.microsoft.com/office/drawing/2014/main" id="{47359AFA-C882-4DB8-9413-E9CD8285C6BC}"/>
              </a:ext>
            </a:extLst>
          </p:cNvPr>
          <p:cNvSpPr>
            <a:spLocks xmlns:a="http://schemas.openxmlformats.org/drawingml/2006/main" noGrp="1"/>
          </p:cNvSpPr>
          <p:nvPr/>
        </p:nvSpPr>
        <p:spPr>
          <a:xfrm xmlns:a="http://schemas.openxmlformats.org/drawingml/2006/main">
            <a:off x="274320" y="3429000"/>
            <a:ext cx="2743200" cy="838200"/>
          </a:xfrm>
          <a:prstGeom xmlns:a="http://schemas.openxmlformats.org/drawingml/2006/main" prst="roundRect">
            <a:avLst>
              <a:gd name="adj" fmla="val 9091"/>
            </a:avLst>
          </a:prstGeom>
          <a:solidFill xmlns:a="http://schemas.openxmlformats.org/drawingml/2006/main">
            <a:srgbClr val="E8EEF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A2866CEA-D878-4CB0-BADE-B3BC467710AB}"/>
              </a:ext>
            </a:extLst>
          </p:cNvPr>
          <p:cNvSpPr>
            <a:spLocks xmlns:a="http://schemas.openxmlformats.org/drawingml/2006/main" noGrp="1"/>
          </p:cNvSpPr>
          <p:nvPr/>
        </p:nvSpPr>
        <p:spPr>
          <a:xfrm xmlns:a="http://schemas.openxmlformats.org/drawingml/2006/main">
            <a:off x="274320" y="3429000"/>
            <a:ext cx="2743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33350" tIns="95250" rIns="133350" bIns="95250" anchor="ctr">
            <a:normAutofit fontScale="100000"/>
          </a:bodyPr>
          <a:lstStyle xmlns:a="http://schemas.openxmlformats.org/drawingml/2006/main">
            <a:defPPr algn="ctr">
              <a:defRPr sz="1200" b="1">
                <a:solidFill>
                  <a:srgbClr val="173773"/>
                </a:solidFill>
                <a:latin typeface="Arial"/>
                <a:ea typeface="Arial"/>
                <a:cs typeface="Arial"/>
              </a:defRPr>
            </a:defPPr>
          </a:lstStyle>
          <a:p xmlns:a="http://schemas.openxmlformats.org/drawingml/2006/main">
            <a:pPr algn="ctr">
              <a:defRPr sz="1200" b="1">
                <a:solidFill>
                  <a:srgbClr val="173773"/>
                </a:solidFill>
                <a:latin typeface="Arial"/>
                <a:ea typeface="Arial"/>
                <a:cs typeface="Arial"/>
              </a:defRPr>
            </a:pPr>
            <a:r>
              <a:rPr sz="1200" b="1">
                <a:solidFill>
                  <a:srgbClr val="173773"/>
                </a:solidFill>
                <a:latin typeface="Arial"/>
                <a:ea typeface="Arial"/>
                <a:cs typeface="Arial"/>
              </a:rPr>
              <a:t>Где качество ниже?</a:t>
            </a:r>
          </a:p>
        </p:txBody>
      </p:sp>
      <p:sp>
        <p:nvSpPr>
          <p:cNvPr id="34" name="">
            <a:extLst xmlns:a="http://schemas.openxmlformats.org/drawingml/2006/main">
              <a:ext uri="{FF2B5EF4-FFF2-40B4-BE49-F238E27FC236}">
                <a16:creationId xmlns:a16="http://schemas.microsoft.com/office/drawing/2014/main" id="{C2EDF5A6-E32F-415D-ADFA-C8ACE16F2E91}"/>
              </a:ext>
            </a:extLst>
          </p:cNvPr>
          <p:cNvSpPr>
            <a:spLocks xmlns:a="http://schemas.openxmlformats.org/drawingml/2006/main" noGrp="1"/>
          </p:cNvSpPr>
          <p:nvPr/>
        </p:nvSpPr>
        <p:spPr>
          <a:xfrm xmlns:a="http://schemas.openxmlformats.org/drawingml/2006/main">
            <a:off x="3154680" y="3429000"/>
            <a:ext cx="1645920" cy="838200"/>
          </a:xfrm>
          <a:prstGeom xmlns:a="http://schemas.openxmlformats.org/drawingml/2006/main" prst="roundRect">
            <a:avLst>
              <a:gd name="adj" fmla="val 9091"/>
            </a:avLst>
          </a:prstGeom>
          <a:solidFill xmlns:a="http://schemas.openxmlformats.org/drawingml/2006/main">
            <a:srgbClr val="F5F7FB"/>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11793285-C58F-4D52-9311-85096C485498}"/>
              </a:ext>
            </a:extLst>
          </p:cNvPr>
          <p:cNvSpPr>
            <a:spLocks xmlns:a="http://schemas.openxmlformats.org/drawingml/2006/main" noGrp="1"/>
          </p:cNvSpPr>
          <p:nvPr/>
        </p:nvSpPr>
        <p:spPr>
          <a:xfrm xmlns:a="http://schemas.openxmlformats.org/drawingml/2006/main">
            <a:off x="3154680" y="3429000"/>
            <a:ext cx="164592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33350" tIns="95250" rIns="133350" bIns="95250" anchor="ctr">
            <a:normAutofit fontScale="100000"/>
          </a:bodyPr>
          <a:lstStyle xmlns:a="http://schemas.openxmlformats.org/drawingml/2006/main">
            <a:defPPr algn="ctr">
              <a:defRPr sz="975" b="0">
                <a:solidFill>
                  <a:srgbClr val="173773"/>
                </a:solidFill>
                <a:latin typeface="Arial"/>
                <a:ea typeface="Arial"/>
                <a:cs typeface="Arial"/>
              </a:defRPr>
            </a:defPPr>
          </a:lstStyle>
          <a:p xmlns:a="http://schemas.openxmlformats.org/drawingml/2006/main">
            <a:pPr algn="ctr">
              <a:defRPr sz="975" b="0">
                <a:solidFill>
                  <a:srgbClr val="173773"/>
                </a:solidFill>
                <a:latin typeface="Arial"/>
                <a:ea typeface="Arial"/>
                <a:cs typeface="Arial"/>
              </a:defRPr>
            </a:pPr>
            <a:r>
              <a:rPr sz="975" b="0">
                <a:solidFill>
                  <a:srgbClr val="173773"/>
                </a:solidFill>
                <a:latin typeface="Arial"/>
                <a:ea typeface="Arial"/>
                <a:cs typeface="Arial"/>
              </a:rPr>
              <a:t>Полная d128 · 100 тыс.</a:t>
            </a:r>
          </a:p>
        </p:txBody>
      </p:sp>
      <p:sp>
        <p:nvSpPr>
          <p:cNvPr id="36" name="">
            <a:extLst xmlns:a="http://schemas.openxmlformats.org/drawingml/2006/main">
              <a:ext uri="{FF2B5EF4-FFF2-40B4-BE49-F238E27FC236}">
                <a16:creationId xmlns:a16="http://schemas.microsoft.com/office/drawing/2014/main" id="{9BB15835-51EB-4D56-874F-C8163ADE14E3}"/>
              </a:ext>
            </a:extLst>
          </p:cNvPr>
          <p:cNvSpPr>
            <a:spLocks xmlns:a="http://schemas.openxmlformats.org/drawingml/2006/main" noGrp="1"/>
          </p:cNvSpPr>
          <p:nvPr/>
        </p:nvSpPr>
        <p:spPr>
          <a:xfrm xmlns:a="http://schemas.openxmlformats.org/drawingml/2006/main">
            <a:off x="4937760" y="3429000"/>
            <a:ext cx="2194560" cy="838200"/>
          </a:xfrm>
          <a:prstGeom xmlns:a="http://schemas.openxmlformats.org/drawingml/2006/main" prst="roundRect">
            <a:avLst>
              <a:gd name="adj" fmla="val 9091"/>
            </a:avLst>
          </a:prstGeom>
          <a:solidFill xmlns:a="http://schemas.openxmlformats.org/drawingml/2006/main">
            <a:srgbClr val="F5F7FB"/>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AB7B8E20-3157-4D8A-A276-489B5F335285}"/>
              </a:ext>
            </a:extLst>
          </p:cNvPr>
          <p:cNvSpPr>
            <a:spLocks xmlns:a="http://schemas.openxmlformats.org/drawingml/2006/main" noGrp="1"/>
          </p:cNvSpPr>
          <p:nvPr/>
        </p:nvSpPr>
        <p:spPr>
          <a:xfrm xmlns:a="http://schemas.openxmlformats.org/drawingml/2006/main">
            <a:off x="4937760" y="3429000"/>
            <a:ext cx="219456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33350" tIns="95250" rIns="133350" bIns="95250" anchor="ctr">
            <a:normAutofit fontScale="100000"/>
          </a:bodyPr>
          <a:lstStyle xmlns:a="http://schemas.openxmlformats.org/drawingml/2006/main">
            <a:defPPr algn="ctr">
              <a:defRPr sz="975" b="0">
                <a:solidFill>
                  <a:srgbClr val="173773"/>
                </a:solidFill>
                <a:latin typeface="Arial"/>
                <a:ea typeface="Arial"/>
                <a:cs typeface="Arial"/>
              </a:defRPr>
            </a:defPPr>
          </a:lstStyle>
          <a:p xmlns:a="http://schemas.openxmlformats.org/drawingml/2006/main">
            <a:pPr algn="ctr">
              <a:defRPr sz="975" b="0">
                <a:solidFill>
                  <a:srgbClr val="173773"/>
                </a:solidFill>
                <a:latin typeface="Arial"/>
                <a:ea typeface="Arial"/>
                <a:cs typeface="Arial"/>
              </a:defRPr>
            </a:pPr>
            <a:r>
              <a:rPr sz="975" b="0">
                <a:solidFill>
                  <a:srgbClr val="173773"/>
                </a:solidFill>
                <a:latin typeface="Arial"/>
                <a:ea typeface="Arial"/>
                <a:cs typeface="Arial"/>
              </a:rPr>
              <a:t>Длинные истории: 0,389</a:t>
            </a:r>
          </a:p>
          <a:p xmlns:a="http://schemas.openxmlformats.org/drawingml/2006/main">
            <a:pPr algn="ctr">
              <a:defRPr sz="975" b="0">
                <a:solidFill>
                  <a:srgbClr val="173773"/>
                </a:solidFill>
                <a:latin typeface="Arial"/>
                <a:ea typeface="Arial"/>
                <a:cs typeface="Arial"/>
              </a:defRPr>
            </a:pPr>
            <a:r>
              <a:rPr sz="975" b="0">
                <a:solidFill>
                  <a:srgbClr val="173773"/>
                </a:solidFill>
                <a:latin typeface="Arial"/>
                <a:ea typeface="Arial"/>
                <a:cs typeface="Arial"/>
              </a:rPr>
              <a:t>Несколько целей: 0,337</a:t>
            </a:r>
          </a:p>
        </p:txBody>
      </p:sp>
      <p:sp>
        <p:nvSpPr>
          <p:cNvPr id="38" name="">
            <a:extLst xmlns:a="http://schemas.openxmlformats.org/drawingml/2006/main">
              <a:ext uri="{FF2B5EF4-FFF2-40B4-BE49-F238E27FC236}">
                <a16:creationId xmlns:a16="http://schemas.microsoft.com/office/drawing/2014/main" id="{4814493A-7C12-4ECA-9513-8BB795B2BF47}"/>
              </a:ext>
            </a:extLst>
          </p:cNvPr>
          <p:cNvSpPr>
            <a:spLocks xmlns:a="http://schemas.openxmlformats.org/drawingml/2006/main" noGrp="1"/>
          </p:cNvSpPr>
          <p:nvPr/>
        </p:nvSpPr>
        <p:spPr>
          <a:xfrm xmlns:a="http://schemas.openxmlformats.org/drawingml/2006/main">
            <a:off x="7269480" y="3429000"/>
            <a:ext cx="1600200" cy="838200"/>
          </a:xfrm>
          <a:prstGeom xmlns:a="http://schemas.openxmlformats.org/drawingml/2006/main" prst="roundRect">
            <a:avLst>
              <a:gd name="adj" fmla="val 9091"/>
            </a:avLst>
          </a:prstGeom>
          <a:solidFill xmlns:a="http://schemas.openxmlformats.org/drawingml/2006/main">
            <a:srgbClr val="F5F7FB"/>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4D876876-65B3-4DA2-811F-0E0CD4165A57}"/>
              </a:ext>
            </a:extLst>
          </p:cNvPr>
          <p:cNvSpPr>
            <a:spLocks xmlns:a="http://schemas.openxmlformats.org/drawingml/2006/main" noGrp="1"/>
          </p:cNvSpPr>
          <p:nvPr/>
        </p:nvSpPr>
        <p:spPr>
          <a:xfrm xmlns:a="http://schemas.openxmlformats.org/drawingml/2006/main">
            <a:off x="7269480" y="3429000"/>
            <a:ext cx="1600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33350" tIns="95250" rIns="133350" bIns="95250" anchor="ctr">
            <a:normAutofit fontScale="100000"/>
          </a:bodyPr>
          <a:lstStyle xmlns:a="http://schemas.openxmlformats.org/drawingml/2006/main">
            <a:defPPr algn="ctr">
              <a:defRPr sz="975" b="1">
                <a:solidFill>
                  <a:srgbClr val="173773"/>
                </a:solidFill>
                <a:latin typeface="Arial"/>
                <a:ea typeface="Arial"/>
                <a:cs typeface="Arial"/>
              </a:defRPr>
            </a:defPPr>
          </a:lstStyle>
          <a:p xmlns:a="http://schemas.openxmlformats.org/drawingml/2006/main">
            <a:pPr algn="ctr">
              <a:defRPr sz="975" b="1">
                <a:solidFill>
                  <a:srgbClr val="173773"/>
                </a:solidFill>
                <a:latin typeface="Arial"/>
                <a:ea typeface="Arial"/>
                <a:cs typeface="Arial"/>
              </a:defRPr>
            </a:pPr>
            <a:r>
              <a:rPr sz="975" b="1">
                <a:solidFill>
                  <a:srgbClr val="173773"/>
                </a:solidFill>
                <a:latin typeface="Arial"/>
                <a:ea typeface="Arial"/>
                <a:cs typeface="Arial"/>
              </a:rPr>
              <a:t>Улучшать длинные и многометочные случаи</a:t>
            </a:r>
          </a:p>
        </p:txBody>
      </p:sp>
      <p:sp>
        <p:nvSpPr>
          <p:cNvPr id="40" name="">
            <a:extLst xmlns:a="http://schemas.openxmlformats.org/drawingml/2006/main">
              <a:ext uri="{FF2B5EF4-FFF2-40B4-BE49-F238E27FC236}">
                <a16:creationId xmlns:a16="http://schemas.microsoft.com/office/drawing/2014/main" id="{6804F1F4-D054-48A3-BD90-9980315E2F10}"/>
              </a:ext>
            </a:extLst>
          </p:cNvPr>
          <p:cNvSpPr>
            <a:spLocks xmlns:a="http://schemas.openxmlformats.org/drawingml/2006/main" noGrp="1"/>
          </p:cNvSpPr>
          <p:nvPr/>
        </p:nvSpPr>
        <p:spPr>
          <a:xfrm xmlns:a="http://schemas.openxmlformats.org/drawingml/2006/main">
            <a:off x="274320" y="4495800"/>
            <a:ext cx="8595360" cy="381000"/>
          </a:xfrm>
          <a:prstGeom xmlns:a="http://schemas.openxmlformats.org/drawingml/2006/main" prst="roundRect">
            <a:avLst>
              <a:gd name="adj" fmla="val 20000"/>
            </a:avLst>
          </a:prstGeom>
          <a:solidFill xmlns:a="http://schemas.openxmlformats.org/drawingml/2006/main">
            <a:srgbClr val="FDE8D7"/>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A57CDF3B-21CB-4452-80DC-3341376D8069}"/>
              </a:ext>
            </a:extLst>
          </p:cNvPr>
          <p:cNvSpPr>
            <a:spLocks xmlns:a="http://schemas.openxmlformats.org/drawingml/2006/main" noGrp="1"/>
          </p:cNvSpPr>
          <p:nvPr/>
        </p:nvSpPr>
        <p:spPr>
          <a:xfrm xmlns:a="http://schemas.openxmlformats.org/drawingml/2006/main">
            <a:off x="274320" y="4495800"/>
            <a:ext cx="859536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33350" tIns="95250" rIns="133350" bIns="95250" anchor="ctr">
            <a:normAutofit fontScale="100000"/>
          </a:bodyPr>
          <a:lstStyle xmlns:a="http://schemas.openxmlformats.org/drawingml/2006/main">
            <a:defPPr algn="ctr">
              <a:defRPr sz="975" b="0">
                <a:solidFill>
                  <a:srgbClr val="173773"/>
                </a:solidFill>
                <a:latin typeface="Arial"/>
                <a:ea typeface="Arial"/>
                <a:cs typeface="Arial"/>
              </a:defRPr>
            </a:defPPr>
          </a:lstStyle>
          <a:p xmlns:a="http://schemas.openxmlformats.org/drawingml/2006/main">
            <a:pPr algn="ctr">
              <a:defRPr sz="975" b="0">
                <a:solidFill>
                  <a:srgbClr val="173773"/>
                </a:solidFill>
                <a:latin typeface="Arial"/>
                <a:ea typeface="Arial"/>
                <a:cs typeface="Arial"/>
              </a:defRPr>
            </a:pPr>
            <a:r>
              <a:rPr sz="975" b="0">
                <a:solidFill>
                  <a:srgbClr val="173773"/>
                </a:solidFill>
                <a:latin typeface="Arial"/>
                <a:ea typeface="Arial"/>
                <a:cs typeface="Arial"/>
              </a:rPr>
              <a:t>Два представления — два итоговых вектора пользователя. Это не два вектора категорий и не буквально два именованных интереса.</a:t>
            </a:r>
          </a:p>
        </p:txBody>
      </p:sp>
    </p:spTree>
    <p:extLst>
      <p:ext uri="{BB962C8B-B14F-4D97-AF65-F5344CB8AC3E}">
        <p14:creationId xmlns:p14="http://schemas.microsoft.com/office/powerpoint/2010/main" val="140174184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049712A6-4777-4375-B175-964CB3058776}"/>
              </a:ext>
            </a:extLst>
          </p:cNvPr>
          <p:cNvPicPr>
            <a:picLocks xmlns:a="http://schemas.openxmlformats.org/drawingml/2006/main" noChangeAspect="1"/>
          </p:cNvPicPr>
          <p:nvPr/>
        </p:nvPicPr>
        <p:blipFill>
          <a:blip xmlns:r="http://schemas.openxmlformats.org/officeDocument/2006/relationships" xmlns:a="http://schemas.openxmlformats.org/drawingml/2006/main" r:embed="Rc05264b8c9bb49a2"/>
          <a:stretch xmlns:a="http://schemas.openxmlformats.org/drawingml/2006/main">
            <a:fillRect l="0" t="0" r="0" b="0"/>
          </a:stretch>
        </p:blipFill>
        <p:spPr>
          <a:xfrm xmlns:a="http://schemas.openxmlformats.org/drawingml/2006/main">
            <a:off x="274320" y="137160"/>
            <a:ext cx="502920" cy="50292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2CC6265E-9D77-46AD-9029-CABE80BB2583}"/>
              </a:ext>
            </a:extLst>
          </p:cNvPr>
          <p:cNvSpPr>
            <a:spLocks xmlns:a="http://schemas.openxmlformats.org/drawingml/2006/main" noGrp="1"/>
          </p:cNvSpPr>
          <p:nvPr/>
        </p:nvSpPr>
        <p:spPr>
          <a:xfrm xmlns:a="http://schemas.openxmlformats.org/drawingml/2006/main">
            <a:off x="868680" y="201168"/>
            <a:ext cx="173736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0E2D69"/>
                </a:solidFill>
                <a:latin typeface="Arial"/>
                <a:ea typeface="Arial"/>
                <a:cs typeface="Arial"/>
              </a:rPr>
              <a:t>Школа информатики, физики и технологий</a:t>
            </a:r>
            <a:endParaRPr sz="800"/>
          </a:p>
        </p:txBody>
      </p:sp>
      <p:sp>
        <p:nvSpPr>
          <p:cNvPr id="4" name="Text 1">
            <a:extLst xmlns:a="http://schemas.openxmlformats.org/drawingml/2006/main">
              <a:ext uri="{FF2B5EF4-FFF2-40B4-BE49-F238E27FC236}">
                <a16:creationId xmlns:a16="http://schemas.microsoft.com/office/drawing/2014/main" id="{3E56CDD8-751C-4D22-AAEB-DF5A1BDEC590}"/>
              </a:ext>
            </a:extLst>
          </p:cNvPr>
          <p:cNvSpPr>
            <a:spLocks xmlns:a="http://schemas.openxmlformats.org/drawingml/2006/main" noGrp="1"/>
          </p:cNvSpPr>
          <p:nvPr/>
        </p:nvSpPr>
        <p:spPr>
          <a:xfrm xmlns:a="http://schemas.openxmlformats.org/drawingml/2006/main">
            <a:off x="2834640" y="201168"/>
            <a:ext cx="29260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0E2D69"/>
                </a:solidFill>
                <a:latin typeface="Arial"/>
                <a:ea typeface="Arial"/>
                <a:cs typeface="Arial"/>
              </a:rPr>
              <a:t>Рекомендательная система на основе поведенческих эмбеддингов</a:t>
            </a:r>
            <a:endParaRPr sz="800"/>
          </a:p>
        </p:txBody>
      </p:sp>
      <p:sp>
        <p:nvSpPr>
          <p:cNvPr id="5" name="Text 2">
            <a:extLst xmlns:a="http://schemas.openxmlformats.org/drawingml/2006/main">
              <a:ext uri="{FF2B5EF4-FFF2-40B4-BE49-F238E27FC236}">
                <a16:creationId xmlns:a16="http://schemas.microsoft.com/office/drawing/2014/main" id="{3F59E36F-42E5-4BA2-8DE9-F58E55884D8B}"/>
              </a:ext>
            </a:extLst>
          </p:cNvPr>
          <p:cNvSpPr>
            <a:spLocks xmlns:a="http://schemas.openxmlformats.org/drawingml/2006/main" noGrp="1"/>
          </p:cNvSpPr>
          <p:nvPr/>
        </p:nvSpPr>
        <p:spPr>
          <a:xfrm xmlns:a="http://schemas.openxmlformats.org/drawingml/2006/main">
            <a:off x="5989320" y="201168"/>
            <a:ext cx="18288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defPPr algn="l">
              <a:defRPr sz="900">
                <a:solidFill>
                  <a:srgbClr val="173773"/>
                </a:solidFill>
                <a:latin typeface="Arial"/>
                <a:ea typeface="Arial"/>
                <a:cs typeface="Arial"/>
              </a:defRPr>
            </a:defPPr>
          </a:lstStyle>
          <a:p xmlns:a="http://schemas.openxmlformats.org/drawingml/2006/main">
            <a:pPr marL="0" indent="0" algn="l">
              <a:buNone/>
            </a:pPr>
            <a:r>
              <a:rPr sz="900">
                <a:solidFill>
                  <a:srgbClr val="173773"/>
                </a:solidFill>
                <a:latin typeface="Arial"/>
                <a:ea typeface="Arial"/>
                <a:cs typeface="Arial"/>
              </a:rPr>
              <a:t>Применение</a:t>
            </a:r>
            <a:endParaRPr sz="800"/>
          </a:p>
        </p:txBody>
      </p:sp>
      <p:sp>
        <p:nvSpPr>
          <p:cNvPr id="6" name="Shape 3">
            <a:extLst xmlns:a="http://schemas.openxmlformats.org/drawingml/2006/main">
              <a:ext uri="{FF2B5EF4-FFF2-40B4-BE49-F238E27FC236}">
                <a16:creationId xmlns:a16="http://schemas.microsoft.com/office/drawing/2014/main" id="{D7008B42-8DF6-4483-952A-B3B9850A09A4}"/>
              </a:ext>
            </a:extLst>
          </p:cNvPr>
          <p:cNvSpPr>
            <a:spLocks xmlns:a="http://schemas.openxmlformats.org/drawingml/2006/main" noGrp="1"/>
          </p:cNvSpPr>
          <p:nvPr/>
        </p:nvSpPr>
        <p:spPr>
          <a:xfrm xmlns:a="http://schemas.openxmlformats.org/drawingml/2006/main">
            <a:off x="2697480" y="182880"/>
            <a:ext cx="0" cy="457200"/>
          </a:xfrm>
          <a:prstGeom xmlns:a="http://schemas.openxmlformats.org/drawingml/2006/main" prst="line">
            <a:avLst/>
          </a:prstGeom>
          <a:noFill xmlns:a="http://schemas.openxmlformats.org/drawingml/2006/main"/>
          <a:ln xmlns:a="http://schemas.openxmlformats.org/drawingml/2006/main" w="19050">
            <a:solidFill>
              <a:srgbClr val="0E2D69"/>
            </a:solidFill>
            <a:prstDash val="solid"/>
          </a:ln>
        </p:spPr>
      </p:sp>
      <p:sp>
        <p:nvSpPr>
          <p:cNvPr id="7" name="Shape 4">
            <a:extLst xmlns:a="http://schemas.openxmlformats.org/drawingml/2006/main">
              <a:ext uri="{FF2B5EF4-FFF2-40B4-BE49-F238E27FC236}">
                <a16:creationId xmlns:a16="http://schemas.microsoft.com/office/drawing/2014/main" id="{908C261E-B527-45FA-BA73-B62319B06743}"/>
              </a:ext>
            </a:extLst>
          </p:cNvPr>
          <p:cNvSpPr>
            <a:spLocks xmlns:a="http://schemas.openxmlformats.org/drawingml/2006/main" noGrp="1"/>
          </p:cNvSpPr>
          <p:nvPr/>
        </p:nvSpPr>
        <p:spPr>
          <a:xfrm xmlns:a="http://schemas.openxmlformats.org/drawingml/2006/main">
            <a:off x="5852160" y="182880"/>
            <a:ext cx="0" cy="457200"/>
          </a:xfrm>
          <a:prstGeom xmlns:a="http://schemas.openxmlformats.org/drawingml/2006/main" prst="line">
            <a:avLst/>
          </a:prstGeom>
          <a:noFill xmlns:a="http://schemas.openxmlformats.org/drawingml/2006/main"/>
          <a:ln xmlns:a="http://schemas.openxmlformats.org/drawingml/2006/main" w="19050">
            <a:solidFill>
              <a:srgbClr val="0E2D69"/>
            </a:solidFill>
            <a:prstDash val="solid"/>
          </a:ln>
        </p:spPr>
      </p:sp>
      <p:sp>
        <p:nvSpPr>
          <p:cNvPr id="8" name="Shape 5">
            <a:extLst xmlns:a="http://schemas.openxmlformats.org/drawingml/2006/main">
              <a:ext uri="{FF2B5EF4-FFF2-40B4-BE49-F238E27FC236}">
                <a16:creationId xmlns:a16="http://schemas.microsoft.com/office/drawing/2014/main" id="{5E565D4F-843B-4CE9-8CAA-E9767FE4A764}"/>
              </a:ext>
            </a:extLst>
          </p:cNvPr>
          <p:cNvSpPr>
            <a:spLocks xmlns:a="http://schemas.openxmlformats.org/drawingml/2006/main" noGrp="1"/>
          </p:cNvSpPr>
          <p:nvPr/>
        </p:nvSpPr>
        <p:spPr>
          <a:xfrm xmlns:a="http://schemas.openxmlformats.org/drawingml/2006/main">
            <a:off x="7909560" y="182880"/>
            <a:ext cx="0" cy="457200"/>
          </a:xfrm>
          <a:prstGeom xmlns:a="http://schemas.openxmlformats.org/drawingml/2006/main" prst="line">
            <a:avLst/>
          </a:prstGeom>
          <a:noFill xmlns:a="http://schemas.openxmlformats.org/drawingml/2006/main"/>
          <a:ln xmlns:a="http://schemas.openxmlformats.org/drawingml/2006/main" w="19050">
            <a:solidFill>
              <a:srgbClr val="0E2D69"/>
            </a:solidFill>
            <a:prstDash val="solid"/>
          </a:ln>
        </p:spPr>
      </p:sp>
      <p:sp>
        <p:nvSpPr>
          <p:cNvPr id="9" name="Text 6">
            <a:extLst xmlns:a="http://schemas.openxmlformats.org/drawingml/2006/main">
              <a:ext uri="{FF2B5EF4-FFF2-40B4-BE49-F238E27FC236}">
                <a16:creationId xmlns:a16="http://schemas.microsoft.com/office/drawing/2014/main" id="{91D830CE-40C5-4BC0-8A6A-164910AF4811}"/>
              </a:ext>
            </a:extLst>
          </p:cNvPr>
          <p:cNvSpPr>
            <a:spLocks xmlns:a="http://schemas.openxmlformats.org/drawingml/2006/main" noGrp="1"/>
          </p:cNvSpPr>
          <p:nvPr/>
        </p:nvSpPr>
        <p:spPr>
          <a:xfrm xmlns:a="http://schemas.openxmlformats.org/drawingml/2006/main">
            <a:off x="365760" y="777240"/>
            <a:ext cx="84124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defPPr algn="l">
              <a:defRPr sz="2400" b="1">
                <a:solidFill>
                  <a:srgbClr val="173773"/>
                </a:solidFill>
                <a:latin typeface="Arial"/>
                <a:ea typeface="Arial"/>
                <a:cs typeface="Arial"/>
              </a:defRPr>
            </a:defPPr>
          </a:lstStyle>
          <a:p xmlns:a="http://schemas.openxmlformats.org/drawingml/2006/main">
            <a:pPr marL="0" indent="0" algn="l">
              <a:buNone/>
            </a:pPr>
            <a:r>
              <a:rPr sz="2400" b="1">
                <a:solidFill>
                  <a:srgbClr val="173773"/>
                </a:solidFill>
                <a:latin typeface="Arial"/>
                <a:ea typeface="Arial"/>
                <a:cs typeface="Arial"/>
              </a:rPr>
              <a:t>Применение модели</a:t>
            </a:r>
            <a:endParaRPr sz="2400"/>
          </a:p>
        </p:txBody>
      </p:sp>
      <p:sp>
        <p:nvSpPr>
          <p:cNvPr id="39" name="Text 35">
            <a:extLst xmlns:a="http://schemas.openxmlformats.org/drawingml/2006/main">
              <a:ext uri="{FF2B5EF4-FFF2-40B4-BE49-F238E27FC236}">
                <a16:creationId xmlns:a16="http://schemas.microsoft.com/office/drawing/2014/main" id="{439B6590-55C4-476F-BDD8-F2EEA017F72D}"/>
              </a:ext>
            </a:extLst>
          </p:cNvPr>
          <p:cNvSpPr>
            <a:spLocks xmlns:a="http://schemas.openxmlformats.org/drawingml/2006/main" noGrp="1"/>
          </p:cNvSpPr>
          <p:nvPr/>
        </p:nvSpPr>
        <p:spPr>
          <a:xfrm xmlns:a="http://schemas.openxmlformats.org/drawingml/2006/main">
            <a:off x="8001000" y="201168"/>
            <a:ext cx="8686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defPPr algn="ctr">
              <a:defRPr sz="1200">
                <a:solidFill>
                  <a:srgbClr val="173773"/>
                </a:solidFill>
                <a:latin typeface="Arial"/>
                <a:ea typeface="Arial"/>
                <a:cs typeface="Arial"/>
              </a:defRPr>
            </a:defPPr>
          </a:lstStyle>
          <a:p xmlns:a="http://schemas.openxmlformats.org/drawingml/2006/main">
            <a:pPr marL="0" indent="0" algn="ctr">
              <a:buNone/>
            </a:pPr>
            <a:r>
              <a:rPr sz="1200">
                <a:solidFill>
                  <a:srgbClr val="173773"/>
                </a:solidFill>
                <a:latin typeface="Arial"/>
                <a:ea typeface="Arial"/>
                <a:cs typeface="Arial"/>
              </a:rPr>
              <a:t>18/20</a:t>
            </a:r>
            <a:endParaRPr sz="1200"/>
          </a:p>
        </p:txBody>
      </p:sp>
      <p:sp>
        <p:nvSpPr>
          <p:cNvPr id="40" name="">
            <a:extLst xmlns:a="http://schemas.openxmlformats.org/drawingml/2006/main">
              <a:ext uri="{FF2B5EF4-FFF2-40B4-BE49-F238E27FC236}">
                <a16:creationId xmlns:a16="http://schemas.microsoft.com/office/drawing/2014/main" id="{4FB3EC34-BB36-43AF-A460-3F49B82E9979}"/>
              </a:ext>
            </a:extLst>
          </p:cNvPr>
          <p:cNvSpPr>
            <a:spLocks xmlns:a="http://schemas.openxmlformats.org/drawingml/2006/main" noGrp="1"/>
          </p:cNvSpPr>
          <p:nvPr/>
        </p:nvSpPr>
        <p:spPr>
          <a:xfrm xmlns:a="http://schemas.openxmlformats.org/drawingml/2006/main">
            <a:off x="274320" y="1428750"/>
            <a:ext cx="4114800" cy="590550"/>
          </a:xfrm>
          <a:prstGeom xmlns:a="http://schemas.openxmlformats.org/drawingml/2006/main" prst="roundRect">
            <a:avLst>
              <a:gd name="adj" fmla="val 12903"/>
            </a:avLst>
          </a:prstGeom>
          <a:solidFill xmlns:a="http://schemas.openxmlformats.org/drawingml/2006/main">
            <a:srgbClr val="173773"/>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CFDD6736-534D-4981-AA41-15C0103FCB56}"/>
              </a:ext>
            </a:extLst>
          </p:cNvPr>
          <p:cNvSpPr>
            <a:spLocks xmlns:a="http://schemas.openxmlformats.org/drawingml/2006/main" noGrp="1"/>
          </p:cNvSpPr>
          <p:nvPr/>
        </p:nvSpPr>
        <p:spPr>
          <a:xfrm xmlns:a="http://schemas.openxmlformats.org/drawingml/2006/main">
            <a:off x="274320" y="1428750"/>
            <a:ext cx="4114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33350" tIns="95250" rIns="133350" bIns="95250" anchor="ctr">
            <a:normAutofit fontScale="100000"/>
          </a:bodyPr>
          <a:lstStyle xmlns:a="http://schemas.openxmlformats.org/drawingml/2006/main">
            <a:defPPr algn="ctr">
              <a:defRPr sz="1500" b="1">
                <a:solidFill>
                  <a:srgbClr val="FFFFFF"/>
                </a:solidFill>
                <a:latin typeface="Arial"/>
                <a:ea typeface="Arial"/>
                <a:cs typeface="Arial"/>
              </a:defRPr>
            </a:defPPr>
          </a:lstStyle>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Пользователь → категории</a:t>
            </a:r>
          </a:p>
        </p:txBody>
      </p:sp>
      <p:sp>
        <p:nvSpPr>
          <p:cNvPr id="42" name="">
            <a:extLst xmlns:a="http://schemas.openxmlformats.org/drawingml/2006/main">
              <a:ext uri="{FF2B5EF4-FFF2-40B4-BE49-F238E27FC236}">
                <a16:creationId xmlns:a16="http://schemas.microsoft.com/office/drawing/2014/main" id="{60EB5232-D6A2-42BF-A9DB-A9530F11828D}"/>
              </a:ext>
            </a:extLst>
          </p:cNvPr>
          <p:cNvSpPr>
            <a:spLocks xmlns:a="http://schemas.openxmlformats.org/drawingml/2006/main" noGrp="1"/>
          </p:cNvSpPr>
          <p:nvPr/>
        </p:nvSpPr>
        <p:spPr>
          <a:xfrm xmlns:a="http://schemas.openxmlformats.org/drawingml/2006/main">
            <a:off x="4754880" y="1428750"/>
            <a:ext cx="4114800" cy="590550"/>
          </a:xfrm>
          <a:prstGeom xmlns:a="http://schemas.openxmlformats.org/drawingml/2006/main" prst="roundRect">
            <a:avLst>
              <a:gd name="adj" fmla="val 12903"/>
            </a:avLst>
          </a:prstGeom>
          <a:solidFill xmlns:a="http://schemas.openxmlformats.org/drawingml/2006/main">
            <a:srgbClr val="173773"/>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64F9DA06-1C25-4627-97C3-10542C78B275}"/>
              </a:ext>
            </a:extLst>
          </p:cNvPr>
          <p:cNvSpPr>
            <a:spLocks xmlns:a="http://schemas.openxmlformats.org/drawingml/2006/main" noGrp="1"/>
          </p:cNvSpPr>
          <p:nvPr/>
        </p:nvSpPr>
        <p:spPr>
          <a:xfrm xmlns:a="http://schemas.openxmlformats.org/drawingml/2006/main">
            <a:off x="4754880" y="1428750"/>
            <a:ext cx="4114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33350" tIns="95250" rIns="133350" bIns="95250" anchor="ctr">
            <a:normAutofit fontScale="100000"/>
          </a:bodyPr>
          <a:lstStyle xmlns:a="http://schemas.openxmlformats.org/drawingml/2006/main">
            <a:defPPr algn="ctr">
              <a:defRPr sz="1500" b="1">
                <a:solidFill>
                  <a:srgbClr val="FFFFFF"/>
                </a:solidFill>
                <a:latin typeface="Arial"/>
                <a:ea typeface="Arial"/>
                <a:cs typeface="Arial"/>
              </a:defRPr>
            </a:defPPr>
          </a:lstStyle>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Категория → пользователи</a:t>
            </a:r>
          </a:p>
        </p:txBody>
      </p:sp>
      <p:sp>
        <p:nvSpPr>
          <p:cNvPr id="44" name="">
            <a:extLst xmlns:a="http://schemas.openxmlformats.org/drawingml/2006/main">
              <a:ext uri="{FF2B5EF4-FFF2-40B4-BE49-F238E27FC236}">
                <a16:creationId xmlns:a16="http://schemas.microsoft.com/office/drawing/2014/main" id="{0F52FF9F-39AF-4F9A-9AFA-6F877302EA06}"/>
              </a:ext>
            </a:extLst>
          </p:cNvPr>
          <p:cNvSpPr>
            <a:spLocks xmlns:a="http://schemas.openxmlformats.org/drawingml/2006/main" noGrp="1"/>
          </p:cNvSpPr>
          <p:nvPr/>
        </p:nvSpPr>
        <p:spPr>
          <a:xfrm xmlns:a="http://schemas.openxmlformats.org/drawingml/2006/main">
            <a:off x="274320" y="2152650"/>
            <a:ext cx="4114800" cy="1485900"/>
          </a:xfrm>
          <a:prstGeom xmlns:a="http://schemas.openxmlformats.org/drawingml/2006/main" prst="roundRect">
            <a:avLst>
              <a:gd name="adj" fmla="val 5128"/>
            </a:avLst>
          </a:prstGeom>
          <a:solidFill xmlns:a="http://schemas.openxmlformats.org/drawingml/2006/main">
            <a:srgbClr val="E8EEF8"/>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A945CEE0-AFFF-4CBA-8330-ADDB8C77DD78}"/>
              </a:ext>
            </a:extLst>
          </p:cNvPr>
          <p:cNvSpPr>
            <a:spLocks xmlns:a="http://schemas.openxmlformats.org/drawingml/2006/main" noGrp="1"/>
          </p:cNvSpPr>
          <p:nvPr/>
        </p:nvSpPr>
        <p:spPr>
          <a:xfrm xmlns:a="http://schemas.openxmlformats.org/drawingml/2006/main">
            <a:off x="274320" y="2152650"/>
            <a:ext cx="41148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33350" tIns="95250" rIns="133350" bIns="95250" anchor="ctr">
            <a:normAutofit fontScale="100000"/>
          </a:bodyPr>
          <a:lstStyle xmlns:a="http://schemas.openxmlformats.org/drawingml/2006/main">
            <a:defPPr algn="l">
              <a:defRPr sz="1275" b="0">
                <a:solidFill>
                  <a:srgbClr val="173773"/>
                </a:solidFill>
                <a:latin typeface="Arial"/>
                <a:ea typeface="Arial"/>
                <a:cs typeface="Arial"/>
              </a:defRPr>
            </a:defPPr>
          </a:lstStyle>
          <a:p xmlns:a="http://schemas.openxmlformats.org/drawingml/2006/main">
            <a:pPr algn="l">
              <a:defRPr sz="1275" b="0">
                <a:solidFill>
                  <a:srgbClr val="173773"/>
                </a:solidFill>
                <a:latin typeface="Arial"/>
                <a:ea typeface="Arial"/>
                <a:cs typeface="Arial"/>
              </a:defRPr>
            </a:pPr>
            <a:r>
              <a:rPr sz="1275" b="0">
                <a:solidFill>
                  <a:srgbClr val="173773"/>
                </a:solidFill>
                <a:latin typeface="Arial"/>
                <a:ea typeface="Arial"/>
                <a:cs typeface="Arial"/>
              </a:rPr>
              <a:t>1. Получить историю пользователя</a:t>
            </a:r>
          </a:p>
          <a:p xmlns:a="http://schemas.openxmlformats.org/drawingml/2006/main">
            <a:pPr algn="l">
              <a:defRPr sz="1275" b="0">
                <a:solidFill>
                  <a:srgbClr val="173773"/>
                </a:solidFill>
                <a:latin typeface="Arial"/>
                <a:ea typeface="Arial"/>
                <a:cs typeface="Arial"/>
              </a:defRPr>
            </a:pPr>
            <a:r>
              <a:rPr sz="1275" b="0">
                <a:solidFill>
                  <a:srgbClr val="173773"/>
                </a:solidFill>
                <a:latin typeface="Arial"/>
                <a:ea typeface="Arial"/>
                <a:cs typeface="Arial"/>
              </a:rPr>
              <a:t>2. Исключить категории с недавним контактом</a:t>
            </a:r>
          </a:p>
          <a:p xmlns:a="http://schemas.openxmlformats.org/drawingml/2006/main">
            <a:pPr algn="l">
              <a:defRPr sz="1275" b="0">
                <a:solidFill>
                  <a:srgbClr val="173773"/>
                </a:solidFill>
                <a:latin typeface="Arial"/>
                <a:ea typeface="Arial"/>
                <a:cs typeface="Arial"/>
              </a:defRPr>
            </a:pPr>
            <a:r>
              <a:rPr sz="1275" b="0">
                <a:solidFill>
                  <a:srgbClr val="173773"/>
                </a:solidFill>
                <a:latin typeface="Arial"/>
                <a:ea typeface="Arial"/>
                <a:cs typeface="Arial"/>
              </a:rPr>
              <a:t>3. Отсортировать 351 категорию</a:t>
            </a:r>
          </a:p>
          <a:p xmlns:a="http://schemas.openxmlformats.org/drawingml/2006/main">
            <a:pPr algn="l">
              <a:defRPr sz="1275" b="0">
                <a:solidFill>
                  <a:srgbClr val="173773"/>
                </a:solidFill>
                <a:latin typeface="Arial"/>
                <a:ea typeface="Arial"/>
                <a:cs typeface="Arial"/>
              </a:defRPr>
            </a:pPr>
            <a:r>
              <a:rPr sz="1275" b="0">
                <a:solidFill>
                  <a:srgbClr val="173773"/>
                </a:solidFill>
                <a:latin typeface="Arial"/>
                <a:ea typeface="Arial"/>
                <a:cs typeface="Arial"/>
              </a:rPr>
              <a:t>4. Вернуть первые пять</a:t>
            </a:r>
          </a:p>
        </p:txBody>
      </p:sp>
      <p:sp>
        <p:nvSpPr>
          <p:cNvPr id="46" name="">
            <a:extLst xmlns:a="http://schemas.openxmlformats.org/drawingml/2006/main">
              <a:ext uri="{FF2B5EF4-FFF2-40B4-BE49-F238E27FC236}">
                <a16:creationId xmlns:a16="http://schemas.microsoft.com/office/drawing/2014/main" id="{077C929D-ADD9-4216-94C8-EB5F64EA803F}"/>
              </a:ext>
            </a:extLst>
          </p:cNvPr>
          <p:cNvSpPr>
            <a:spLocks xmlns:a="http://schemas.openxmlformats.org/drawingml/2006/main" noGrp="1"/>
          </p:cNvSpPr>
          <p:nvPr/>
        </p:nvSpPr>
        <p:spPr>
          <a:xfrm xmlns:a="http://schemas.openxmlformats.org/drawingml/2006/main">
            <a:off x="4754880" y="2152650"/>
            <a:ext cx="4114800" cy="1485900"/>
          </a:xfrm>
          <a:prstGeom xmlns:a="http://schemas.openxmlformats.org/drawingml/2006/main" prst="roundRect">
            <a:avLst>
              <a:gd name="adj" fmla="val 5128"/>
            </a:avLst>
          </a:prstGeom>
          <a:solidFill xmlns:a="http://schemas.openxmlformats.org/drawingml/2006/main">
            <a:srgbClr val="E8EEF8"/>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EDF602F0-D8E6-4D00-B69D-551AE5891F01}"/>
              </a:ext>
            </a:extLst>
          </p:cNvPr>
          <p:cNvSpPr>
            <a:spLocks xmlns:a="http://schemas.openxmlformats.org/drawingml/2006/main" noGrp="1"/>
          </p:cNvSpPr>
          <p:nvPr/>
        </p:nvSpPr>
        <p:spPr>
          <a:xfrm xmlns:a="http://schemas.openxmlformats.org/drawingml/2006/main">
            <a:off x="4754880" y="2152650"/>
            <a:ext cx="41148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33350" tIns="95250" rIns="133350" bIns="95250" anchor="ctr">
            <a:normAutofit fontScale="100000"/>
          </a:bodyPr>
          <a:lstStyle xmlns:a="http://schemas.openxmlformats.org/drawingml/2006/main">
            <a:defPPr algn="l">
              <a:defRPr sz="1275" b="0">
                <a:solidFill>
                  <a:srgbClr val="173773"/>
                </a:solidFill>
                <a:latin typeface="Arial"/>
                <a:ea typeface="Arial"/>
                <a:cs typeface="Arial"/>
              </a:defRPr>
            </a:defPPr>
          </a:lstStyle>
          <a:p xmlns:a="http://schemas.openxmlformats.org/drawingml/2006/main">
            <a:pPr algn="l">
              <a:defRPr sz="1275" b="0">
                <a:solidFill>
                  <a:srgbClr val="173773"/>
                </a:solidFill>
                <a:latin typeface="Arial"/>
                <a:ea typeface="Arial"/>
                <a:cs typeface="Arial"/>
              </a:defRPr>
            </a:pPr>
            <a:r>
              <a:rPr sz="1275" b="0">
                <a:solidFill>
                  <a:srgbClr val="173773"/>
                </a:solidFill>
                <a:latin typeface="Arial"/>
                <a:ea typeface="Arial"/>
                <a:cs typeface="Arial"/>
              </a:rPr>
              <a:t>1. Зафиксировать категорию</a:t>
            </a:r>
          </a:p>
          <a:p xmlns:a="http://schemas.openxmlformats.org/drawingml/2006/main">
            <a:pPr algn="l">
              <a:defRPr sz="1275" b="0">
                <a:solidFill>
                  <a:srgbClr val="173773"/>
                </a:solidFill>
                <a:latin typeface="Arial"/>
                <a:ea typeface="Arial"/>
                <a:cs typeface="Arial"/>
              </a:defRPr>
            </a:pPr>
            <a:r>
              <a:rPr sz="1275" b="0">
                <a:solidFill>
                  <a:srgbClr val="173773"/>
                </a:solidFill>
                <a:latin typeface="Arial"/>
                <a:ea typeface="Arial"/>
                <a:cs typeface="Arial"/>
              </a:rPr>
              <a:t>2. Оценить всех допустимых пользователей</a:t>
            </a:r>
          </a:p>
          <a:p xmlns:a="http://schemas.openxmlformats.org/drawingml/2006/main">
            <a:pPr algn="l">
              <a:defRPr sz="1275" b="0">
                <a:solidFill>
                  <a:srgbClr val="173773"/>
                </a:solidFill>
                <a:latin typeface="Arial"/>
                <a:ea typeface="Arial"/>
                <a:cs typeface="Arial"/>
              </a:defRPr>
            </a:pPr>
            <a:r>
              <a:rPr sz="1275" b="0">
                <a:solidFill>
                  <a:srgbClr val="173773"/>
                </a:solidFill>
                <a:latin typeface="Arial"/>
                <a:ea typeface="Arial"/>
                <a:cs typeface="Arial"/>
              </a:rPr>
              <a:t>3. Отсортировать по оценке категории</a:t>
            </a:r>
          </a:p>
          <a:p xmlns:a="http://schemas.openxmlformats.org/drawingml/2006/main">
            <a:pPr algn="l">
              <a:defRPr sz="1275" b="0">
                <a:solidFill>
                  <a:srgbClr val="173773"/>
                </a:solidFill>
                <a:latin typeface="Arial"/>
                <a:ea typeface="Arial"/>
                <a:cs typeface="Arial"/>
              </a:defRPr>
            </a:pPr>
            <a:r>
              <a:rPr sz="1275" b="0">
                <a:solidFill>
                  <a:srgbClr val="173773"/>
                </a:solidFill>
                <a:latin typeface="Arial"/>
                <a:ea typeface="Arial"/>
                <a:cs typeface="Arial"/>
              </a:rPr>
              <a:t>4. Выбрать аудиторию нужного размера</a:t>
            </a:r>
          </a:p>
        </p:txBody>
      </p:sp>
      <p:sp>
        <p:nvSpPr>
          <p:cNvPr id="48" name="">
            <a:extLst xmlns:a="http://schemas.openxmlformats.org/drawingml/2006/main">
              <a:ext uri="{FF2B5EF4-FFF2-40B4-BE49-F238E27FC236}">
                <a16:creationId xmlns:a16="http://schemas.microsoft.com/office/drawing/2014/main" id="{30436BFB-C51B-4196-A94C-237051E62092}"/>
              </a:ext>
            </a:extLst>
          </p:cNvPr>
          <p:cNvSpPr>
            <a:spLocks xmlns:a="http://schemas.openxmlformats.org/drawingml/2006/main" noGrp="1"/>
          </p:cNvSpPr>
          <p:nvPr/>
        </p:nvSpPr>
        <p:spPr>
          <a:xfrm xmlns:a="http://schemas.openxmlformats.org/drawingml/2006/main">
            <a:off x="4754880" y="3790950"/>
            <a:ext cx="1962150" cy="800100"/>
          </a:xfrm>
          <a:prstGeom xmlns:a="http://schemas.openxmlformats.org/drawingml/2006/main" prst="roundRect">
            <a:avLst>
              <a:gd name="adj" fmla="val 9524"/>
            </a:avLst>
          </a:prstGeom>
          <a:solidFill xmlns:a="http://schemas.openxmlformats.org/drawingml/2006/main">
            <a:srgbClr val="2F55A4"/>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A9756A26-0216-43DF-B194-74F8A0514D20}"/>
              </a:ext>
            </a:extLst>
          </p:cNvPr>
          <p:cNvSpPr>
            <a:spLocks xmlns:a="http://schemas.openxmlformats.org/drawingml/2006/main" noGrp="1"/>
          </p:cNvSpPr>
          <p:nvPr/>
        </p:nvSpPr>
        <p:spPr>
          <a:xfrm xmlns:a="http://schemas.openxmlformats.org/drawingml/2006/main">
            <a:off x="4754880" y="3790950"/>
            <a:ext cx="19621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33350" tIns="95250" rIns="133350" bIns="95250" anchor="ctr">
            <a:normAutofit fontScale="93567"/>
          </a:bodyPr>
          <a:lstStyle xmlns:a="http://schemas.openxmlformats.org/drawingml/2006/main">
            <a:defPPr algn="ctr">
              <a:defRPr sz="1425" b="1">
                <a:solidFill>
                  <a:srgbClr val="FFFFFF"/>
                </a:solidFill>
                <a:latin typeface="Arial"/>
                <a:ea typeface="Arial"/>
                <a:cs typeface="Arial"/>
              </a:defRPr>
            </a:defPPr>
          </a:lstStyle>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25%</a:t>
            </a:r>
          </a:p>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контакт среди первых 100</a:t>
            </a:r>
          </a:p>
        </p:txBody>
      </p:sp>
      <p:sp>
        <p:nvSpPr>
          <p:cNvPr id="50" name="">
            <a:extLst xmlns:a="http://schemas.openxmlformats.org/drawingml/2006/main">
              <a:ext uri="{FF2B5EF4-FFF2-40B4-BE49-F238E27FC236}">
                <a16:creationId xmlns:a16="http://schemas.microsoft.com/office/drawing/2014/main" id="{FB79EA05-11F6-4B8A-8B15-668619BD38A5}"/>
              </a:ext>
            </a:extLst>
          </p:cNvPr>
          <p:cNvSpPr>
            <a:spLocks xmlns:a="http://schemas.openxmlformats.org/drawingml/2006/main" noGrp="1"/>
          </p:cNvSpPr>
          <p:nvPr/>
        </p:nvSpPr>
        <p:spPr>
          <a:xfrm xmlns:a="http://schemas.openxmlformats.org/drawingml/2006/main">
            <a:off x="6903720" y="3790950"/>
            <a:ext cx="1965960" cy="800100"/>
          </a:xfrm>
          <a:prstGeom xmlns:a="http://schemas.openxmlformats.org/drawingml/2006/main" prst="roundRect">
            <a:avLst>
              <a:gd name="adj" fmla="val 9524"/>
            </a:avLst>
          </a:prstGeom>
          <a:solidFill xmlns:a="http://schemas.openxmlformats.org/drawingml/2006/main">
            <a:srgbClr val="E8EEF8"/>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6C3B0BB3-C701-4309-BBAC-A6BBA568715C}"/>
              </a:ext>
            </a:extLst>
          </p:cNvPr>
          <p:cNvSpPr>
            <a:spLocks xmlns:a="http://schemas.openxmlformats.org/drawingml/2006/main" noGrp="1"/>
          </p:cNvSpPr>
          <p:nvPr/>
        </p:nvSpPr>
        <p:spPr>
          <a:xfrm xmlns:a="http://schemas.openxmlformats.org/drawingml/2006/main">
            <a:off x="6903720" y="3790950"/>
            <a:ext cx="196596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33350" tIns="95250" rIns="133350" bIns="95250" anchor="ctr">
            <a:normAutofit fontScale="100000"/>
          </a:bodyPr>
          <a:lstStyle xmlns:a="http://schemas.openxmlformats.org/drawingml/2006/main">
            <a:defPPr algn="ctr">
              <a:defRPr sz="1425" b="1">
                <a:solidFill>
                  <a:srgbClr val="173773"/>
                </a:solidFill>
                <a:latin typeface="Arial"/>
                <a:ea typeface="Arial"/>
                <a:cs typeface="Arial"/>
              </a:defRPr>
            </a:defPPr>
          </a:lstStyle>
          <a:p xmlns:a="http://schemas.openxmlformats.org/drawingml/2006/main">
            <a:pPr algn="ctr">
              <a:defRPr sz="1425" b="1">
                <a:solidFill>
                  <a:srgbClr val="173773"/>
                </a:solidFill>
                <a:latin typeface="Arial"/>
                <a:ea typeface="Arial"/>
                <a:cs typeface="Arial"/>
              </a:defRPr>
            </a:pPr>
            <a:r>
              <a:rPr sz="1425" b="1">
                <a:solidFill>
                  <a:srgbClr val="173773"/>
                </a:solidFill>
                <a:latin typeface="Arial"/>
                <a:ea typeface="Arial"/>
                <a:cs typeface="Arial"/>
              </a:rPr>
              <a:t>≈1%</a:t>
            </a:r>
          </a:p>
          <a:p xmlns:a="http://schemas.openxmlformats.org/drawingml/2006/main">
            <a:pPr algn="ctr">
              <a:defRPr sz="1425" b="1">
                <a:solidFill>
                  <a:srgbClr val="173773"/>
                </a:solidFill>
                <a:latin typeface="Arial"/>
                <a:ea typeface="Arial"/>
                <a:cs typeface="Arial"/>
              </a:defRPr>
            </a:pPr>
            <a:r>
              <a:rPr sz="1425" b="1">
                <a:solidFill>
                  <a:srgbClr val="173773"/>
                </a:solidFill>
                <a:latin typeface="Arial"/>
                <a:ea typeface="Arial"/>
                <a:cs typeface="Arial"/>
              </a:rPr>
              <a:t>базовая доля</a:t>
            </a:r>
          </a:p>
        </p:txBody>
      </p:sp>
      <p:sp>
        <p:nvSpPr>
          <p:cNvPr id="52" name="">
            <a:extLst xmlns:a="http://schemas.openxmlformats.org/drawingml/2006/main">
              <a:ext uri="{FF2B5EF4-FFF2-40B4-BE49-F238E27FC236}">
                <a16:creationId xmlns:a16="http://schemas.microsoft.com/office/drawing/2014/main" id="{FE977266-A7D2-4D29-AFD1-37B3597EFD4F}"/>
              </a:ext>
            </a:extLst>
          </p:cNvPr>
          <p:cNvSpPr>
            <a:spLocks xmlns:a="http://schemas.openxmlformats.org/drawingml/2006/main" noGrp="1"/>
          </p:cNvSpPr>
          <p:nvPr/>
        </p:nvSpPr>
        <p:spPr>
          <a:xfrm xmlns:a="http://schemas.openxmlformats.org/drawingml/2006/main">
            <a:off x="365760" y="3943350"/>
            <a:ext cx="384048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5250" tIns="66675" rIns="95250" bIns="66675" anchor="ctr">
            <a:normAutofit fontScale="100000"/>
          </a:bodyPr>
          <a:lstStyle xmlns:a="http://schemas.openxmlformats.org/drawingml/2006/main">
            <a:defPPr algn="ctr">
              <a:defRPr sz="975" b="0">
                <a:solidFill>
                  <a:srgbClr val="5B6F97"/>
                </a:solidFill>
                <a:latin typeface="Arial"/>
                <a:ea typeface="Arial"/>
                <a:cs typeface="Arial"/>
              </a:defRPr>
            </a:defPPr>
          </a:lstStyle>
          <a:p xmlns:a="http://schemas.openxmlformats.org/drawingml/2006/main">
            <a:pPr algn="ctr">
              <a:defRPr sz="975" b="0">
                <a:solidFill>
                  <a:srgbClr val="5B6F97"/>
                </a:solidFill>
                <a:latin typeface="Arial"/>
                <a:ea typeface="Arial"/>
                <a:cs typeface="Arial"/>
              </a:defRPr>
            </a:pPr>
            <a:r>
              <a:rPr sz="975" b="0">
                <a:solidFill>
                  <a:srgbClr val="5B6F97"/>
                </a:solidFill>
                <a:latin typeface="Arial"/>
                <a:ea typeface="Arial"/>
                <a:cs typeface="Arial"/>
              </a:rPr>
              <a:t>Ретроспективная проверка d64 на шести категориях; результат не является вероятностью отклика на сообщение и не переносится автоматически на весь каталог</a:t>
            </a:r>
          </a:p>
        </p:txBody>
      </p:sp>
    </p:spTree>
    <p:extLst>
      <p:ext uri="{BB962C8B-B14F-4D97-AF65-F5344CB8AC3E}">
        <p14:creationId xmlns:p14="http://schemas.microsoft.com/office/powerpoint/2010/main" val="355545121"/>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70A76092-4B22-4C11-B7AB-833148AA694E}"/>
              </a:ext>
            </a:extLst>
          </p:cNvPr>
          <p:cNvPicPr>
            <a:picLocks xmlns:a="http://schemas.openxmlformats.org/drawingml/2006/main" noChangeAspect="1"/>
          </p:cNvPicPr>
          <p:nvPr/>
        </p:nvPicPr>
        <p:blipFill>
          <a:blip xmlns:r="http://schemas.openxmlformats.org/officeDocument/2006/relationships" xmlns:a="http://schemas.openxmlformats.org/drawingml/2006/main" r:embed="R49a0aea7d3b34486"/>
          <a:stretch xmlns:a="http://schemas.openxmlformats.org/drawingml/2006/main">
            <a:fillRect l="0" t="0" r="0" b="0"/>
          </a:stretch>
        </p:blipFill>
        <p:spPr>
          <a:xfrm xmlns:a="http://schemas.openxmlformats.org/drawingml/2006/main">
            <a:off x="274320" y="137160"/>
            <a:ext cx="502920" cy="50292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CE11FB60-4FB7-471D-AA46-559EC269810F}"/>
              </a:ext>
            </a:extLst>
          </p:cNvPr>
          <p:cNvSpPr>
            <a:spLocks xmlns:a="http://schemas.openxmlformats.org/drawingml/2006/main" noGrp="1"/>
          </p:cNvSpPr>
          <p:nvPr/>
        </p:nvSpPr>
        <p:spPr>
          <a:xfrm xmlns:a="http://schemas.openxmlformats.org/drawingml/2006/main">
            <a:off x="868680" y="201168"/>
            <a:ext cx="173736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0E2D69"/>
                </a:solidFill>
                <a:latin typeface="Arial"/>
                <a:ea typeface="Arial"/>
                <a:cs typeface="Arial"/>
              </a:rPr>
              <a:t>Школа информатики, физики и технологий</a:t>
            </a:r>
            <a:endParaRPr sz="800"/>
          </a:p>
        </p:txBody>
      </p:sp>
      <p:sp>
        <p:nvSpPr>
          <p:cNvPr id="4" name="Text 1">
            <a:extLst xmlns:a="http://schemas.openxmlformats.org/drawingml/2006/main">
              <a:ext uri="{FF2B5EF4-FFF2-40B4-BE49-F238E27FC236}">
                <a16:creationId xmlns:a16="http://schemas.microsoft.com/office/drawing/2014/main" id="{14A206A4-5C8E-4E86-9962-924A41E2955F}"/>
              </a:ext>
            </a:extLst>
          </p:cNvPr>
          <p:cNvSpPr>
            <a:spLocks xmlns:a="http://schemas.openxmlformats.org/drawingml/2006/main" noGrp="1"/>
          </p:cNvSpPr>
          <p:nvPr/>
        </p:nvSpPr>
        <p:spPr>
          <a:xfrm xmlns:a="http://schemas.openxmlformats.org/drawingml/2006/main">
            <a:off x="2834640" y="201168"/>
            <a:ext cx="29260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0E2D69"/>
                </a:solidFill>
                <a:latin typeface="Arial"/>
                <a:ea typeface="Arial"/>
                <a:cs typeface="Arial"/>
              </a:rPr>
              <a:t>Рекомендательная система на основе поведенческих эмбеддингов</a:t>
            </a:r>
            <a:endParaRPr sz="800"/>
          </a:p>
        </p:txBody>
      </p:sp>
      <p:sp>
        <p:nvSpPr>
          <p:cNvPr id="5" name="Text 2">
            <a:extLst xmlns:a="http://schemas.openxmlformats.org/drawingml/2006/main">
              <a:ext uri="{FF2B5EF4-FFF2-40B4-BE49-F238E27FC236}">
                <a16:creationId xmlns:a16="http://schemas.microsoft.com/office/drawing/2014/main" id="{010BEE7E-B16F-4DA2-82BD-C8BD8CFF6072}"/>
              </a:ext>
            </a:extLst>
          </p:cNvPr>
          <p:cNvSpPr>
            <a:spLocks xmlns:a="http://schemas.openxmlformats.org/drawingml/2006/main" noGrp="1"/>
          </p:cNvSpPr>
          <p:nvPr/>
        </p:nvSpPr>
        <p:spPr>
          <a:xfrm xmlns:a="http://schemas.openxmlformats.org/drawingml/2006/main">
            <a:off x="5989320" y="201168"/>
            <a:ext cx="18288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defPPr algn="l">
              <a:defRPr sz="900">
                <a:solidFill>
                  <a:srgbClr val="173773"/>
                </a:solidFill>
                <a:latin typeface="Arial"/>
                <a:ea typeface="Arial"/>
                <a:cs typeface="Arial"/>
              </a:defRPr>
            </a:defPPr>
          </a:lstStyle>
          <a:p xmlns:a="http://schemas.openxmlformats.org/drawingml/2006/main">
            <a:pPr marL="0" indent="0" algn="l">
              <a:buNone/>
            </a:pPr>
            <a:r>
              <a:rPr sz="900">
                <a:solidFill>
                  <a:srgbClr val="173773"/>
                </a:solidFill>
                <a:latin typeface="Arial"/>
                <a:ea typeface="Arial"/>
                <a:cs typeface="Arial"/>
              </a:rPr>
              <a:t>Применение</a:t>
            </a:r>
            <a:endParaRPr sz="800"/>
          </a:p>
        </p:txBody>
      </p:sp>
      <p:sp>
        <p:nvSpPr>
          <p:cNvPr id="6" name="Shape 3">
            <a:extLst xmlns:a="http://schemas.openxmlformats.org/drawingml/2006/main">
              <a:ext uri="{FF2B5EF4-FFF2-40B4-BE49-F238E27FC236}">
                <a16:creationId xmlns:a16="http://schemas.microsoft.com/office/drawing/2014/main" id="{72CAA7EF-9B6A-49FC-AC4B-FDA69AB8B7F8}"/>
              </a:ext>
            </a:extLst>
          </p:cNvPr>
          <p:cNvSpPr>
            <a:spLocks xmlns:a="http://schemas.openxmlformats.org/drawingml/2006/main" noGrp="1"/>
          </p:cNvSpPr>
          <p:nvPr/>
        </p:nvSpPr>
        <p:spPr>
          <a:xfrm xmlns:a="http://schemas.openxmlformats.org/drawingml/2006/main">
            <a:off x="2697480" y="182880"/>
            <a:ext cx="0" cy="457200"/>
          </a:xfrm>
          <a:prstGeom xmlns:a="http://schemas.openxmlformats.org/drawingml/2006/main" prst="line">
            <a:avLst/>
          </a:prstGeom>
          <a:noFill xmlns:a="http://schemas.openxmlformats.org/drawingml/2006/main"/>
          <a:ln xmlns:a="http://schemas.openxmlformats.org/drawingml/2006/main" w="19050">
            <a:solidFill>
              <a:srgbClr val="0E2D69"/>
            </a:solidFill>
            <a:prstDash val="solid"/>
          </a:ln>
        </p:spPr>
      </p:sp>
      <p:sp>
        <p:nvSpPr>
          <p:cNvPr id="7" name="Shape 4">
            <a:extLst xmlns:a="http://schemas.openxmlformats.org/drawingml/2006/main">
              <a:ext uri="{FF2B5EF4-FFF2-40B4-BE49-F238E27FC236}">
                <a16:creationId xmlns:a16="http://schemas.microsoft.com/office/drawing/2014/main" id="{0AB56AE8-A1B4-4787-BEF6-0FA1FD6C821C}"/>
              </a:ext>
            </a:extLst>
          </p:cNvPr>
          <p:cNvSpPr>
            <a:spLocks xmlns:a="http://schemas.openxmlformats.org/drawingml/2006/main" noGrp="1"/>
          </p:cNvSpPr>
          <p:nvPr/>
        </p:nvSpPr>
        <p:spPr>
          <a:xfrm xmlns:a="http://schemas.openxmlformats.org/drawingml/2006/main">
            <a:off x="5852160" y="182880"/>
            <a:ext cx="0" cy="457200"/>
          </a:xfrm>
          <a:prstGeom xmlns:a="http://schemas.openxmlformats.org/drawingml/2006/main" prst="line">
            <a:avLst/>
          </a:prstGeom>
          <a:noFill xmlns:a="http://schemas.openxmlformats.org/drawingml/2006/main"/>
          <a:ln xmlns:a="http://schemas.openxmlformats.org/drawingml/2006/main" w="19050">
            <a:solidFill>
              <a:srgbClr val="0E2D69"/>
            </a:solidFill>
            <a:prstDash val="solid"/>
          </a:ln>
        </p:spPr>
      </p:sp>
      <p:sp>
        <p:nvSpPr>
          <p:cNvPr id="8" name="Shape 5">
            <a:extLst xmlns:a="http://schemas.openxmlformats.org/drawingml/2006/main">
              <a:ext uri="{FF2B5EF4-FFF2-40B4-BE49-F238E27FC236}">
                <a16:creationId xmlns:a16="http://schemas.microsoft.com/office/drawing/2014/main" id="{E5F19B67-5CB6-43DE-BDD2-CA31F61DF39A}"/>
              </a:ext>
            </a:extLst>
          </p:cNvPr>
          <p:cNvSpPr>
            <a:spLocks xmlns:a="http://schemas.openxmlformats.org/drawingml/2006/main" noGrp="1"/>
          </p:cNvSpPr>
          <p:nvPr/>
        </p:nvSpPr>
        <p:spPr>
          <a:xfrm xmlns:a="http://schemas.openxmlformats.org/drawingml/2006/main">
            <a:off x="7909560" y="182880"/>
            <a:ext cx="0" cy="457200"/>
          </a:xfrm>
          <a:prstGeom xmlns:a="http://schemas.openxmlformats.org/drawingml/2006/main" prst="line">
            <a:avLst/>
          </a:prstGeom>
          <a:noFill xmlns:a="http://schemas.openxmlformats.org/drawingml/2006/main"/>
          <a:ln xmlns:a="http://schemas.openxmlformats.org/drawingml/2006/main" w="19050">
            <a:solidFill>
              <a:srgbClr val="0E2D69"/>
            </a:solidFill>
            <a:prstDash val="solid"/>
          </a:ln>
        </p:spPr>
      </p:sp>
      <p:sp>
        <p:nvSpPr>
          <p:cNvPr id="9" name="Text 6">
            <a:extLst xmlns:a="http://schemas.openxmlformats.org/drawingml/2006/main">
              <a:ext uri="{FF2B5EF4-FFF2-40B4-BE49-F238E27FC236}">
                <a16:creationId xmlns:a16="http://schemas.microsoft.com/office/drawing/2014/main" id="{ABAA4A71-7C20-4744-90CC-25B169438AD5}"/>
              </a:ext>
            </a:extLst>
          </p:cNvPr>
          <p:cNvSpPr>
            <a:spLocks xmlns:a="http://schemas.openxmlformats.org/drawingml/2006/main" noGrp="1"/>
          </p:cNvSpPr>
          <p:nvPr/>
        </p:nvSpPr>
        <p:spPr>
          <a:xfrm xmlns:a="http://schemas.openxmlformats.org/drawingml/2006/main">
            <a:off x="365760" y="777240"/>
            <a:ext cx="84124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defPPr algn="l">
              <a:defRPr sz="2400" b="1">
                <a:solidFill>
                  <a:srgbClr val="173773"/>
                </a:solidFill>
                <a:latin typeface="Arial"/>
                <a:ea typeface="Arial"/>
                <a:cs typeface="Arial"/>
              </a:defRPr>
            </a:defPPr>
          </a:lstStyle>
          <a:p xmlns:a="http://schemas.openxmlformats.org/drawingml/2006/main">
            <a:pPr marL="0" indent="0" algn="l">
              <a:buNone/>
            </a:pPr>
            <a:r>
              <a:rPr sz="2400" b="1">
                <a:solidFill>
                  <a:srgbClr val="173773"/>
                </a:solidFill>
                <a:latin typeface="Arial"/>
                <a:ea typeface="Arial"/>
                <a:cs typeface="Arial"/>
              </a:rPr>
              <a:t>Результаты CRM-кампаний</a:t>
            </a:r>
            <a:endParaRPr sz="2400"/>
          </a:p>
        </p:txBody>
      </p:sp>
      <p:sp>
        <p:nvSpPr>
          <p:cNvPr id="42" name="Text 38">
            <a:extLst xmlns:a="http://schemas.openxmlformats.org/drawingml/2006/main">
              <a:ext uri="{FF2B5EF4-FFF2-40B4-BE49-F238E27FC236}">
                <a16:creationId xmlns:a16="http://schemas.microsoft.com/office/drawing/2014/main" id="{3B27E68C-732A-4701-97FD-EB848C82FB9B}"/>
              </a:ext>
            </a:extLst>
          </p:cNvPr>
          <p:cNvSpPr>
            <a:spLocks xmlns:a="http://schemas.openxmlformats.org/drawingml/2006/main" noGrp="1"/>
          </p:cNvSpPr>
          <p:nvPr/>
        </p:nvSpPr>
        <p:spPr>
          <a:xfrm xmlns:a="http://schemas.openxmlformats.org/drawingml/2006/main">
            <a:off x="8001000" y="201168"/>
            <a:ext cx="8686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defPPr algn="ctr">
              <a:defRPr sz="1200">
                <a:solidFill>
                  <a:srgbClr val="173773"/>
                </a:solidFill>
                <a:latin typeface="Arial"/>
                <a:ea typeface="Arial"/>
                <a:cs typeface="Arial"/>
              </a:defRPr>
            </a:defPPr>
          </a:lstStyle>
          <a:p xmlns:a="http://schemas.openxmlformats.org/drawingml/2006/main">
            <a:pPr marL="0" indent="0" algn="ctr">
              <a:buNone/>
            </a:pPr>
            <a:r>
              <a:rPr sz="1200">
                <a:solidFill>
                  <a:srgbClr val="173773"/>
                </a:solidFill>
                <a:latin typeface="Arial"/>
                <a:ea typeface="Arial"/>
                <a:cs typeface="Arial"/>
              </a:rPr>
              <a:t>19/20</a:t>
            </a:r>
            <a:endParaRPr sz="1200"/>
          </a:p>
        </p:txBody>
      </p:sp>
      <p:sp>
        <p:nvSpPr>
          <p:cNvPr id="43" name="">
            <a:extLst xmlns:a="http://schemas.openxmlformats.org/drawingml/2006/main">
              <a:ext uri="{FF2B5EF4-FFF2-40B4-BE49-F238E27FC236}">
                <a16:creationId xmlns:a16="http://schemas.microsoft.com/office/drawing/2014/main" id="{F44CD5DF-0457-434D-A10C-DC6FFEDE95A2}"/>
              </a:ext>
            </a:extLst>
          </p:cNvPr>
          <p:cNvSpPr>
            <a:spLocks xmlns:a="http://schemas.openxmlformats.org/drawingml/2006/main" noGrp="1"/>
          </p:cNvSpPr>
          <p:nvPr/>
        </p:nvSpPr>
        <p:spPr>
          <a:xfrm xmlns:a="http://schemas.openxmlformats.org/drawingml/2006/main">
            <a:off x="274320" y="1466850"/>
            <a:ext cx="2697480" cy="2724150"/>
          </a:xfrm>
          <a:prstGeom xmlns:a="http://schemas.openxmlformats.org/drawingml/2006/main" prst="roundRect">
            <a:avLst>
              <a:gd name="adj" fmla="val 2825"/>
            </a:avLst>
          </a:prstGeom>
          <a:solidFill xmlns:a="http://schemas.openxmlformats.org/drawingml/2006/main">
            <a:srgbClr val="E8EEF8"/>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22A9646B-74B4-4AED-A3D7-3C0FBEE08E50}"/>
              </a:ext>
            </a:extLst>
          </p:cNvPr>
          <p:cNvSpPr>
            <a:spLocks xmlns:a="http://schemas.openxmlformats.org/drawingml/2006/main" noGrp="1"/>
          </p:cNvSpPr>
          <p:nvPr/>
        </p:nvSpPr>
        <p:spPr>
          <a:xfrm xmlns:a="http://schemas.openxmlformats.org/drawingml/2006/main">
            <a:off x="274320" y="1466850"/>
            <a:ext cx="269748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33350" tIns="95250" rIns="133350" bIns="95250" anchor="ctr">
            <a:normAutofit fontScale="100000"/>
          </a:bodyPr>
          <a:lstStyle xmlns:a="http://schemas.openxmlformats.org/drawingml/2006/main">
            <a:defPPr algn="ctr">
              <a:defRPr sz="1275" b="0">
                <a:solidFill>
                  <a:srgbClr val="173773"/>
                </a:solidFill>
                <a:latin typeface="Arial"/>
                <a:ea typeface="Arial"/>
                <a:cs typeface="Arial"/>
              </a:defRPr>
            </a:defPPr>
          </a:lstStyle>
          <a:p xmlns:a="http://schemas.openxmlformats.org/drawingml/2006/main">
            <a:pPr algn="ctr">
              <a:defRPr sz="1275" b="0">
                <a:solidFill>
                  <a:srgbClr val="173773"/>
                </a:solidFill>
                <a:latin typeface="Arial"/>
                <a:ea typeface="Arial"/>
                <a:cs typeface="Arial"/>
              </a:defRPr>
            </a:pPr>
            <a:r>
              <a:rPr sz="1275" b="0">
                <a:solidFill>
                  <a:srgbClr val="173773"/>
                </a:solidFill>
                <a:latin typeface="Arial"/>
                <a:ea typeface="Arial"/>
                <a:cs typeface="Arial"/>
              </a:rPr>
              <a:t>Модель переходов</a:t>
            </a:r>
          </a:p>
          <a:p xmlns:a="http://schemas.openxmlformats.org/drawingml/2006/main">
            <a:r>
              <a:t/>
            </a:r>
          </a:p>
          <a:p xmlns:a="http://schemas.openxmlformats.org/drawingml/2006/main">
            <a:pPr algn="ctr">
              <a:defRPr sz="1275" b="0">
                <a:solidFill>
                  <a:srgbClr val="173773"/>
                </a:solidFill>
                <a:latin typeface="Arial"/>
                <a:ea typeface="Arial"/>
                <a:cs typeface="Arial"/>
              </a:defRPr>
            </a:pPr>
            <a:r>
              <a:rPr sz="1275" b="0">
                <a:solidFill>
                  <a:srgbClr val="173773"/>
                </a:solidFill>
                <a:latin typeface="Arial"/>
                <a:ea typeface="Arial"/>
                <a:cs typeface="Arial"/>
              </a:rPr>
              <a:t>Ремонт техники</a:t>
            </a:r>
          </a:p>
          <a:p xmlns:a="http://schemas.openxmlformats.org/drawingml/2006/main">
            <a:r>
              <a:t/>
            </a:r>
          </a:p>
          <a:p xmlns:a="http://schemas.openxmlformats.org/drawingml/2006/main">
            <a:pPr algn="ctr">
              <a:defRPr sz="1275" b="0">
                <a:solidFill>
                  <a:srgbClr val="173773"/>
                </a:solidFill>
                <a:latin typeface="Arial"/>
                <a:ea typeface="Arial"/>
                <a:cs typeface="Arial"/>
              </a:defRPr>
            </a:pPr>
            <a:r>
              <a:rPr sz="1275" b="0">
                <a:solidFill>
                  <a:srgbClr val="173773"/>
                </a:solidFill>
                <a:latin typeface="Arial"/>
                <a:ea typeface="Arial"/>
                <a:cs typeface="Arial"/>
              </a:rPr>
              <a:t>Поиск +21,5%</a:t>
            </a:r>
          </a:p>
          <a:p xmlns:a="http://schemas.openxmlformats.org/drawingml/2006/main">
            <a:pPr algn="ctr">
              <a:defRPr sz="1275" b="0">
                <a:solidFill>
                  <a:srgbClr val="173773"/>
                </a:solidFill>
                <a:latin typeface="Arial"/>
                <a:ea typeface="Arial"/>
                <a:cs typeface="Arial"/>
              </a:defRPr>
            </a:pPr>
            <a:r>
              <a:rPr sz="1275" b="0">
                <a:solidFill>
                  <a:srgbClr val="173773"/>
                </a:solidFill>
                <a:latin typeface="Arial"/>
                <a:ea typeface="Arial"/>
                <a:cs typeface="Arial"/>
              </a:rPr>
              <a:t>Контакты и покупатели: значимого роста нет</a:t>
            </a:r>
          </a:p>
        </p:txBody>
      </p:sp>
      <p:sp>
        <p:nvSpPr>
          <p:cNvPr id="45" name="">
            <a:extLst xmlns:a="http://schemas.openxmlformats.org/drawingml/2006/main">
              <a:ext uri="{FF2B5EF4-FFF2-40B4-BE49-F238E27FC236}">
                <a16:creationId xmlns:a16="http://schemas.microsoft.com/office/drawing/2014/main" id="{F47618DB-A2A7-43A2-ADE6-C7163A533214}"/>
              </a:ext>
            </a:extLst>
          </p:cNvPr>
          <p:cNvSpPr>
            <a:spLocks xmlns:a="http://schemas.openxmlformats.org/drawingml/2006/main" noGrp="1"/>
          </p:cNvSpPr>
          <p:nvPr/>
        </p:nvSpPr>
        <p:spPr>
          <a:xfrm xmlns:a="http://schemas.openxmlformats.org/drawingml/2006/main">
            <a:off x="3154680" y="1466850"/>
            <a:ext cx="2697480" cy="2724150"/>
          </a:xfrm>
          <a:prstGeom xmlns:a="http://schemas.openxmlformats.org/drawingml/2006/main" prst="roundRect">
            <a:avLst>
              <a:gd name="adj" fmla="val 2825"/>
            </a:avLst>
          </a:prstGeom>
          <a:solidFill xmlns:a="http://schemas.openxmlformats.org/drawingml/2006/main">
            <a:srgbClr val="E8EEF8"/>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FDA421C4-F6BF-4FDA-A5F0-0B77DF2C7694}"/>
              </a:ext>
            </a:extLst>
          </p:cNvPr>
          <p:cNvSpPr>
            <a:spLocks xmlns:a="http://schemas.openxmlformats.org/drawingml/2006/main" noGrp="1"/>
          </p:cNvSpPr>
          <p:nvPr/>
        </p:nvSpPr>
        <p:spPr>
          <a:xfrm xmlns:a="http://schemas.openxmlformats.org/drawingml/2006/main">
            <a:off x="3154680" y="1466850"/>
            <a:ext cx="269748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33350" tIns="95250" rIns="133350" bIns="95250" anchor="ctr">
            <a:normAutofit fontScale="100000"/>
          </a:bodyPr>
          <a:lstStyle xmlns:a="http://schemas.openxmlformats.org/drawingml/2006/main">
            <a:defPPr algn="ctr">
              <a:defRPr sz="1275" b="0">
                <a:solidFill>
                  <a:srgbClr val="173773"/>
                </a:solidFill>
                <a:latin typeface="Arial"/>
                <a:ea typeface="Arial"/>
                <a:cs typeface="Arial"/>
              </a:defRPr>
            </a:defPPr>
          </a:lstStyle>
          <a:p xmlns:a="http://schemas.openxmlformats.org/drawingml/2006/main">
            <a:pPr algn="ctr">
              <a:defRPr sz="1275" b="0">
                <a:solidFill>
                  <a:srgbClr val="173773"/>
                </a:solidFill>
                <a:latin typeface="Arial"/>
                <a:ea typeface="Arial"/>
                <a:cs typeface="Arial"/>
              </a:defRPr>
            </a:pPr>
            <a:r>
              <a:rPr sz="1275" b="0">
                <a:solidFill>
                  <a:srgbClr val="173773"/>
                </a:solidFill>
                <a:latin typeface="Arial"/>
                <a:ea typeface="Arial"/>
                <a:cs typeface="Arial"/>
              </a:rPr>
              <a:t>Модель переходов</a:t>
            </a:r>
          </a:p>
          <a:p xmlns:a="http://schemas.openxmlformats.org/drawingml/2006/main">
            <a:r>
              <a:t/>
            </a:r>
          </a:p>
          <a:p xmlns:a="http://schemas.openxmlformats.org/drawingml/2006/main">
            <a:pPr algn="ctr">
              <a:defRPr sz="1275" b="0">
                <a:solidFill>
                  <a:srgbClr val="173773"/>
                </a:solidFill>
                <a:latin typeface="Arial"/>
                <a:ea typeface="Arial"/>
                <a:cs typeface="Arial"/>
              </a:defRPr>
            </a:pPr>
            <a:r>
              <a:rPr sz="1275" b="0">
                <a:solidFill>
                  <a:srgbClr val="173773"/>
                </a:solidFill>
                <a:latin typeface="Arial"/>
                <a:ea typeface="Arial"/>
                <a:cs typeface="Arial"/>
              </a:rPr>
              <a:t>Ремонт мобильных</a:t>
            </a:r>
          </a:p>
          <a:p xmlns:a="http://schemas.openxmlformats.org/drawingml/2006/main">
            <a:r>
              <a:t/>
            </a:r>
          </a:p>
          <a:p xmlns:a="http://schemas.openxmlformats.org/drawingml/2006/main">
            <a:pPr algn="ctr">
              <a:defRPr sz="1275" b="0">
                <a:solidFill>
                  <a:srgbClr val="173773"/>
                </a:solidFill>
                <a:latin typeface="Arial"/>
                <a:ea typeface="Arial"/>
                <a:cs typeface="Arial"/>
              </a:defRPr>
            </a:pPr>
            <a:r>
              <a:rPr sz="1275" b="0">
                <a:solidFill>
                  <a:srgbClr val="173773"/>
                </a:solidFill>
                <a:latin typeface="Arial"/>
                <a:ea typeface="Arial"/>
                <a:cs typeface="Arial"/>
              </a:rPr>
              <a:t>Поиск +38,3%</a:t>
            </a:r>
          </a:p>
          <a:p xmlns:a="http://schemas.openxmlformats.org/drawingml/2006/main">
            <a:pPr algn="ctr">
              <a:defRPr sz="1275" b="0">
                <a:solidFill>
                  <a:srgbClr val="173773"/>
                </a:solidFill>
                <a:latin typeface="Arial"/>
                <a:ea typeface="Arial"/>
                <a:cs typeface="Arial"/>
              </a:defRPr>
            </a:pPr>
            <a:r>
              <a:rPr sz="1275" b="0">
                <a:solidFill>
                  <a:srgbClr val="173773"/>
                </a:solidFill>
                <a:latin typeface="Arial"/>
                <a:ea typeface="Arial"/>
                <a:cs typeface="Arial"/>
              </a:rPr>
              <a:t>Пользователи с поиском +52,1%</a:t>
            </a:r>
          </a:p>
          <a:p xmlns:a="http://schemas.openxmlformats.org/drawingml/2006/main">
            <a:pPr algn="ctr">
              <a:defRPr sz="1275" b="0">
                <a:solidFill>
                  <a:srgbClr val="173773"/>
                </a:solidFill>
                <a:latin typeface="Arial"/>
                <a:ea typeface="Arial"/>
                <a:cs typeface="Arial"/>
              </a:defRPr>
            </a:pPr>
            <a:r>
              <a:rPr sz="1275" b="0">
                <a:solidFill>
                  <a:srgbClr val="173773"/>
                </a:solidFill>
                <a:latin typeface="Arial"/>
                <a:ea typeface="Arial"/>
                <a:cs typeface="Arial"/>
              </a:rPr>
              <a:t>Контакты и покупатели: значимого роста нет</a:t>
            </a:r>
          </a:p>
        </p:txBody>
      </p:sp>
      <p:sp>
        <p:nvSpPr>
          <p:cNvPr id="47" name="">
            <a:extLst xmlns:a="http://schemas.openxmlformats.org/drawingml/2006/main">
              <a:ext uri="{FF2B5EF4-FFF2-40B4-BE49-F238E27FC236}">
                <a16:creationId xmlns:a16="http://schemas.microsoft.com/office/drawing/2014/main" id="{C9A2AA7D-3784-49CC-8FE0-C865F0565F6F}"/>
              </a:ext>
            </a:extLst>
          </p:cNvPr>
          <p:cNvSpPr>
            <a:spLocks xmlns:a="http://schemas.openxmlformats.org/drawingml/2006/main" noGrp="1"/>
          </p:cNvSpPr>
          <p:nvPr/>
        </p:nvSpPr>
        <p:spPr>
          <a:xfrm xmlns:a="http://schemas.openxmlformats.org/drawingml/2006/main">
            <a:off x="6035040" y="1466850"/>
            <a:ext cx="2697480" cy="2724150"/>
          </a:xfrm>
          <a:prstGeom xmlns:a="http://schemas.openxmlformats.org/drawingml/2006/main" prst="roundRect">
            <a:avLst>
              <a:gd name="adj" fmla="val 2825"/>
            </a:avLst>
          </a:prstGeom>
          <a:solidFill xmlns:a="http://schemas.openxmlformats.org/drawingml/2006/main">
            <a:srgbClr val="173773"/>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C23BEFE7-EF18-4B44-A5A7-279709D16B55}"/>
              </a:ext>
            </a:extLst>
          </p:cNvPr>
          <p:cNvSpPr>
            <a:spLocks xmlns:a="http://schemas.openxmlformats.org/drawingml/2006/main" noGrp="1"/>
          </p:cNvSpPr>
          <p:nvPr/>
        </p:nvSpPr>
        <p:spPr>
          <a:xfrm xmlns:a="http://schemas.openxmlformats.org/drawingml/2006/main">
            <a:off x="6035040" y="1466850"/>
            <a:ext cx="269748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33350" tIns="95250" rIns="133350" bIns="95250" anchor="ctr">
            <a:normAutofit fontScale="100000"/>
          </a:bodyPr>
          <a:lstStyle xmlns:a="http://schemas.openxmlformats.org/drawingml/2006/main">
            <a:defPPr algn="ctr">
              <a:defRPr sz="1275" b="1">
                <a:solidFill>
                  <a:srgbClr val="FFFFFF"/>
                </a:solidFill>
                <a:latin typeface="Arial"/>
                <a:ea typeface="Arial"/>
                <a:cs typeface="Arial"/>
              </a:defRPr>
            </a:defPPr>
          </a:lstStyle>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Аудитория новой модели</a:t>
            </a:r>
          </a:p>
          <a:p xmlns:a="http://schemas.openxmlformats.org/drawingml/2006/main">
            <a:r>
              <a:t/>
            </a:r>
          </a:p>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Досуг и отдых</a:t>
            </a:r>
          </a:p>
          <a:p xmlns:a="http://schemas.openxmlformats.org/drawingml/2006/main">
            <a:r>
              <a:t/>
            </a:r>
          </a:p>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Целевые контакты +36,1%</a:t>
            </a:r>
          </a:p>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Целевые покупатели +23,0%</a:t>
            </a:r>
          </a:p>
        </p:txBody>
      </p:sp>
      <p:sp>
        <p:nvSpPr>
          <p:cNvPr id="49" name="">
            <a:extLst xmlns:a="http://schemas.openxmlformats.org/drawingml/2006/main">
              <a:ext uri="{FF2B5EF4-FFF2-40B4-BE49-F238E27FC236}">
                <a16:creationId xmlns:a16="http://schemas.microsoft.com/office/drawing/2014/main" id="{91B7A412-0E68-443A-B99A-02BBDA8C97D8}"/>
              </a:ext>
            </a:extLst>
          </p:cNvPr>
          <p:cNvSpPr>
            <a:spLocks xmlns:a="http://schemas.openxmlformats.org/drawingml/2006/main" noGrp="1"/>
          </p:cNvSpPr>
          <p:nvPr/>
        </p:nvSpPr>
        <p:spPr>
          <a:xfrm xmlns:a="http://schemas.openxmlformats.org/drawingml/2006/main">
            <a:off x="274320" y="4362450"/>
            <a:ext cx="8458200" cy="514350"/>
          </a:xfrm>
          <a:prstGeom xmlns:a="http://schemas.openxmlformats.org/drawingml/2006/main" prst="roundRect">
            <a:avLst>
              <a:gd name="adj" fmla="val 14815"/>
            </a:avLst>
          </a:prstGeom>
          <a:solidFill xmlns:a="http://schemas.openxmlformats.org/drawingml/2006/main">
            <a:srgbClr val="FDE8D7"/>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0D70FBA2-B460-46E2-A532-C4DAFDF283DD}"/>
              </a:ext>
            </a:extLst>
          </p:cNvPr>
          <p:cNvSpPr>
            <a:spLocks xmlns:a="http://schemas.openxmlformats.org/drawingml/2006/main" noGrp="1"/>
          </p:cNvSpPr>
          <p:nvPr/>
        </p:nvSpPr>
        <p:spPr>
          <a:xfrm xmlns:a="http://schemas.openxmlformats.org/drawingml/2006/main">
            <a:off x="274320" y="4362450"/>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33350" tIns="95250" rIns="133350" bIns="95250" anchor="ctr">
            <a:normAutofit fontScale="100000"/>
          </a:bodyPr>
          <a:lstStyle xmlns:a="http://schemas.openxmlformats.org/drawingml/2006/main">
            <a:defPPr algn="ctr">
              <a:defRPr sz="1050" b="0">
                <a:solidFill>
                  <a:srgbClr val="173773"/>
                </a:solidFill>
                <a:latin typeface="Arial"/>
                <a:ea typeface="Arial"/>
                <a:cs typeface="Arial"/>
              </a:defRPr>
            </a:defPPr>
          </a:lstStyle>
          <a:p xmlns:a="http://schemas.openxmlformats.org/drawingml/2006/main">
            <a:pPr algn="ctr">
              <a:defRPr sz="1050" b="0">
                <a:solidFill>
                  <a:srgbClr val="173773"/>
                </a:solidFill>
                <a:latin typeface="Arial"/>
                <a:ea typeface="Arial"/>
                <a:cs typeface="Arial"/>
              </a:defRPr>
            </a:pPr>
            <a:r>
              <a:rPr sz="1050" b="0">
                <a:solidFill>
                  <a:srgbClr val="173773"/>
                </a:solidFill>
                <a:latin typeface="Arial"/>
                <a:ea typeface="Arial"/>
                <a:cs typeface="Arial"/>
              </a:rPr>
              <a:t>Кампании различались категорией, временем и сообщением: это последовательность продуктовых проверок, а не прямой A/B-тест алгоритмов</a:t>
            </a:r>
          </a:p>
        </p:txBody>
      </p:sp>
    </p:spTree>
    <p:extLst>
      <p:ext uri="{BB962C8B-B14F-4D97-AF65-F5344CB8AC3E}">
        <p14:creationId xmlns:p14="http://schemas.microsoft.com/office/powerpoint/2010/main" val="177948527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483A3F0D-3825-443D-8B54-B71E277A540F}"/>
              </a:ext>
            </a:extLst>
          </p:cNvPr>
          <p:cNvPicPr>
            <a:picLocks xmlns:a="http://schemas.openxmlformats.org/drawingml/2006/main" noChangeAspect="1"/>
          </p:cNvPicPr>
          <p:nvPr/>
        </p:nvPicPr>
        <p:blipFill>
          <a:blip xmlns:r="http://schemas.openxmlformats.org/officeDocument/2006/relationships" xmlns:a="http://schemas.openxmlformats.org/drawingml/2006/main" r:embed="Rf6ef8df0377647b1"/>
          <a:stretch xmlns:a="http://schemas.openxmlformats.org/drawingml/2006/main">
            <a:fillRect l="0" t="0" r="0" b="0"/>
          </a:stretch>
        </p:blipFill>
        <p:spPr>
          <a:xfrm xmlns:a="http://schemas.openxmlformats.org/drawingml/2006/main">
            <a:off x="274320" y="137160"/>
            <a:ext cx="502920" cy="50292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27736DF4-5847-40CE-95D2-9583B119B24B}"/>
              </a:ext>
            </a:extLst>
          </p:cNvPr>
          <p:cNvSpPr>
            <a:spLocks xmlns:a="http://schemas.openxmlformats.org/drawingml/2006/main" noGrp="1"/>
          </p:cNvSpPr>
          <p:nvPr/>
        </p:nvSpPr>
        <p:spPr>
          <a:xfrm xmlns:a="http://schemas.openxmlformats.org/drawingml/2006/main">
            <a:off x="868680" y="201168"/>
            <a:ext cx="173736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0E2D69"/>
                </a:solidFill>
                <a:latin typeface="Arial"/>
                <a:ea typeface="Arial"/>
                <a:cs typeface="Arial"/>
              </a:rPr>
              <a:t>Школа информатики, физики и технологий</a:t>
            </a:r>
            <a:endParaRPr sz="800"/>
          </a:p>
        </p:txBody>
      </p:sp>
      <p:sp>
        <p:nvSpPr>
          <p:cNvPr id="4" name="Text 1">
            <a:extLst xmlns:a="http://schemas.openxmlformats.org/drawingml/2006/main">
              <a:ext uri="{FF2B5EF4-FFF2-40B4-BE49-F238E27FC236}">
                <a16:creationId xmlns:a16="http://schemas.microsoft.com/office/drawing/2014/main" id="{6FB3A22B-E6E1-4AF0-B04A-C4A5CF79B5E3}"/>
              </a:ext>
            </a:extLst>
          </p:cNvPr>
          <p:cNvSpPr>
            <a:spLocks xmlns:a="http://schemas.openxmlformats.org/drawingml/2006/main" noGrp="1"/>
          </p:cNvSpPr>
          <p:nvPr/>
        </p:nvSpPr>
        <p:spPr>
          <a:xfrm xmlns:a="http://schemas.openxmlformats.org/drawingml/2006/main">
            <a:off x="2834640" y="201168"/>
            <a:ext cx="29260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0E2D69"/>
                </a:solidFill>
                <a:latin typeface="Arial"/>
                <a:ea typeface="Arial"/>
                <a:cs typeface="Arial"/>
              </a:rPr>
              <a:t>Рекомендательная система на основе поведенческих эмбеддингов</a:t>
            </a:r>
            <a:endParaRPr sz="800"/>
          </a:p>
        </p:txBody>
      </p:sp>
      <p:sp>
        <p:nvSpPr>
          <p:cNvPr id="5" name="Text 2">
            <a:extLst xmlns:a="http://schemas.openxmlformats.org/drawingml/2006/main">
              <a:ext uri="{FF2B5EF4-FFF2-40B4-BE49-F238E27FC236}">
                <a16:creationId xmlns:a16="http://schemas.microsoft.com/office/drawing/2014/main" id="{0B4D3494-99D2-4136-BCCA-F6F15C96C150}"/>
              </a:ext>
            </a:extLst>
          </p:cNvPr>
          <p:cNvSpPr>
            <a:spLocks xmlns:a="http://schemas.openxmlformats.org/drawingml/2006/main" noGrp="1"/>
          </p:cNvSpPr>
          <p:nvPr/>
        </p:nvSpPr>
        <p:spPr>
          <a:xfrm xmlns:a="http://schemas.openxmlformats.org/drawingml/2006/main">
            <a:off x="5989320" y="201168"/>
            <a:ext cx="18288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defPPr algn="l">
              <a:defRPr sz="900">
                <a:solidFill>
                  <a:srgbClr val="173773"/>
                </a:solidFill>
                <a:latin typeface="Arial"/>
                <a:ea typeface="Arial"/>
                <a:cs typeface="Arial"/>
              </a:defRPr>
            </a:defPPr>
          </a:lstStyle>
          <a:p xmlns:a="http://schemas.openxmlformats.org/drawingml/2006/main">
            <a:pPr marL="0" indent="0" algn="l">
              <a:buNone/>
            </a:pPr>
            <a:r>
              <a:rPr sz="900">
                <a:solidFill>
                  <a:srgbClr val="173773"/>
                </a:solidFill>
                <a:latin typeface="Arial"/>
                <a:ea typeface="Arial"/>
                <a:cs typeface="Arial"/>
              </a:rPr>
              <a:t>Выводы</a:t>
            </a:r>
            <a:endParaRPr sz="800"/>
          </a:p>
        </p:txBody>
      </p:sp>
      <p:sp>
        <p:nvSpPr>
          <p:cNvPr id="6" name="Shape 3">
            <a:extLst xmlns:a="http://schemas.openxmlformats.org/drawingml/2006/main">
              <a:ext uri="{FF2B5EF4-FFF2-40B4-BE49-F238E27FC236}">
                <a16:creationId xmlns:a16="http://schemas.microsoft.com/office/drawing/2014/main" id="{BB6B0FE1-97E1-43B0-BB86-D0EAFD3E1EB9}"/>
              </a:ext>
            </a:extLst>
          </p:cNvPr>
          <p:cNvSpPr>
            <a:spLocks xmlns:a="http://schemas.openxmlformats.org/drawingml/2006/main" noGrp="1"/>
          </p:cNvSpPr>
          <p:nvPr/>
        </p:nvSpPr>
        <p:spPr>
          <a:xfrm xmlns:a="http://schemas.openxmlformats.org/drawingml/2006/main">
            <a:off x="2697480" y="182880"/>
            <a:ext cx="0" cy="457200"/>
          </a:xfrm>
          <a:prstGeom xmlns:a="http://schemas.openxmlformats.org/drawingml/2006/main" prst="line">
            <a:avLst/>
          </a:prstGeom>
          <a:noFill xmlns:a="http://schemas.openxmlformats.org/drawingml/2006/main"/>
          <a:ln xmlns:a="http://schemas.openxmlformats.org/drawingml/2006/main" w="19050">
            <a:solidFill>
              <a:srgbClr val="0E2D69"/>
            </a:solidFill>
            <a:prstDash val="solid"/>
          </a:ln>
        </p:spPr>
      </p:sp>
      <p:sp>
        <p:nvSpPr>
          <p:cNvPr id="7" name="Shape 4">
            <a:extLst xmlns:a="http://schemas.openxmlformats.org/drawingml/2006/main">
              <a:ext uri="{FF2B5EF4-FFF2-40B4-BE49-F238E27FC236}">
                <a16:creationId xmlns:a16="http://schemas.microsoft.com/office/drawing/2014/main" id="{86E27D45-6024-40E0-B5F8-F5CE519CF806}"/>
              </a:ext>
            </a:extLst>
          </p:cNvPr>
          <p:cNvSpPr>
            <a:spLocks xmlns:a="http://schemas.openxmlformats.org/drawingml/2006/main" noGrp="1"/>
          </p:cNvSpPr>
          <p:nvPr/>
        </p:nvSpPr>
        <p:spPr>
          <a:xfrm xmlns:a="http://schemas.openxmlformats.org/drawingml/2006/main">
            <a:off x="5852160" y="182880"/>
            <a:ext cx="0" cy="457200"/>
          </a:xfrm>
          <a:prstGeom xmlns:a="http://schemas.openxmlformats.org/drawingml/2006/main" prst="line">
            <a:avLst/>
          </a:prstGeom>
          <a:noFill xmlns:a="http://schemas.openxmlformats.org/drawingml/2006/main"/>
          <a:ln xmlns:a="http://schemas.openxmlformats.org/drawingml/2006/main" w="19050">
            <a:solidFill>
              <a:srgbClr val="0E2D69"/>
            </a:solidFill>
            <a:prstDash val="solid"/>
          </a:ln>
        </p:spPr>
      </p:sp>
      <p:sp>
        <p:nvSpPr>
          <p:cNvPr id="8" name="Shape 5">
            <a:extLst xmlns:a="http://schemas.openxmlformats.org/drawingml/2006/main">
              <a:ext uri="{FF2B5EF4-FFF2-40B4-BE49-F238E27FC236}">
                <a16:creationId xmlns:a16="http://schemas.microsoft.com/office/drawing/2014/main" id="{7B85DC4A-1093-4849-A5FB-3913146335F8}"/>
              </a:ext>
            </a:extLst>
          </p:cNvPr>
          <p:cNvSpPr>
            <a:spLocks xmlns:a="http://schemas.openxmlformats.org/drawingml/2006/main" noGrp="1"/>
          </p:cNvSpPr>
          <p:nvPr/>
        </p:nvSpPr>
        <p:spPr>
          <a:xfrm xmlns:a="http://schemas.openxmlformats.org/drawingml/2006/main">
            <a:off x="7909560" y="182880"/>
            <a:ext cx="0" cy="457200"/>
          </a:xfrm>
          <a:prstGeom xmlns:a="http://schemas.openxmlformats.org/drawingml/2006/main" prst="line">
            <a:avLst/>
          </a:prstGeom>
          <a:noFill xmlns:a="http://schemas.openxmlformats.org/drawingml/2006/main"/>
          <a:ln xmlns:a="http://schemas.openxmlformats.org/drawingml/2006/main" w="19050">
            <a:solidFill>
              <a:srgbClr val="0E2D69"/>
            </a:solidFill>
            <a:prstDash val="solid"/>
          </a:ln>
        </p:spPr>
      </p:sp>
      <p:sp>
        <p:nvSpPr>
          <p:cNvPr id="9" name="Text 6">
            <a:extLst xmlns:a="http://schemas.openxmlformats.org/drawingml/2006/main">
              <a:ext uri="{FF2B5EF4-FFF2-40B4-BE49-F238E27FC236}">
                <a16:creationId xmlns:a16="http://schemas.microsoft.com/office/drawing/2014/main" id="{B66915DD-E87A-48A5-9D1A-F5886845C681}"/>
              </a:ext>
            </a:extLst>
          </p:cNvPr>
          <p:cNvSpPr>
            <a:spLocks xmlns:a="http://schemas.openxmlformats.org/drawingml/2006/main" noGrp="1"/>
          </p:cNvSpPr>
          <p:nvPr/>
        </p:nvSpPr>
        <p:spPr>
          <a:xfrm xmlns:a="http://schemas.openxmlformats.org/drawingml/2006/main">
            <a:off x="365760" y="777240"/>
            <a:ext cx="84124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defPPr algn="l">
              <a:defRPr sz="2400" b="1">
                <a:solidFill>
                  <a:srgbClr val="173773"/>
                </a:solidFill>
                <a:latin typeface="Arial"/>
                <a:ea typeface="Arial"/>
                <a:cs typeface="Arial"/>
              </a:defRPr>
            </a:defPPr>
          </a:lstStyle>
          <a:p xmlns:a="http://schemas.openxmlformats.org/drawingml/2006/main">
            <a:pPr marL="0" indent="0" algn="l">
              <a:buNone/>
            </a:pPr>
            <a:r>
              <a:rPr sz="2400" b="1">
                <a:solidFill>
                  <a:srgbClr val="173773"/>
                </a:solidFill>
                <a:latin typeface="Arial"/>
                <a:ea typeface="Arial"/>
                <a:cs typeface="Arial"/>
              </a:rPr>
              <a:t>Выводы</a:t>
            </a:r>
            <a:endParaRPr sz="2400"/>
          </a:p>
        </p:txBody>
      </p:sp>
      <p:sp>
        <p:nvSpPr>
          <p:cNvPr id="27" name="Text 23">
            <a:extLst xmlns:a="http://schemas.openxmlformats.org/drawingml/2006/main">
              <a:ext uri="{FF2B5EF4-FFF2-40B4-BE49-F238E27FC236}">
                <a16:creationId xmlns:a16="http://schemas.microsoft.com/office/drawing/2014/main" id="{DDB73D66-9447-49AF-BD83-C42D3D937270}"/>
              </a:ext>
            </a:extLst>
          </p:cNvPr>
          <p:cNvSpPr>
            <a:spLocks xmlns:a="http://schemas.openxmlformats.org/drawingml/2006/main" noGrp="1"/>
          </p:cNvSpPr>
          <p:nvPr/>
        </p:nvSpPr>
        <p:spPr>
          <a:xfrm xmlns:a="http://schemas.openxmlformats.org/drawingml/2006/main">
            <a:off x="8001000" y="201168"/>
            <a:ext cx="8686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defPPr algn="ctr">
              <a:defRPr sz="1200">
                <a:solidFill>
                  <a:srgbClr val="173773"/>
                </a:solidFill>
                <a:latin typeface="Arial"/>
                <a:ea typeface="Arial"/>
                <a:cs typeface="Arial"/>
              </a:defRPr>
            </a:defPPr>
          </a:lstStyle>
          <a:p xmlns:a="http://schemas.openxmlformats.org/drawingml/2006/main">
            <a:pPr marL="0" indent="0" algn="ctr">
              <a:buNone/>
            </a:pPr>
            <a:r>
              <a:rPr sz="1200">
                <a:solidFill>
                  <a:srgbClr val="173773"/>
                </a:solidFill>
                <a:latin typeface="Arial"/>
                <a:ea typeface="Arial"/>
                <a:cs typeface="Arial"/>
              </a:rPr>
              <a:t>20/20</a:t>
            </a:r>
            <a:endParaRPr sz="1200"/>
          </a:p>
        </p:txBody>
      </p:sp>
      <p:sp>
        <p:nvSpPr>
          <p:cNvPr id="28" name="">
            <a:extLst xmlns:a="http://schemas.openxmlformats.org/drawingml/2006/main">
              <a:ext uri="{FF2B5EF4-FFF2-40B4-BE49-F238E27FC236}">
                <a16:creationId xmlns:a16="http://schemas.microsoft.com/office/drawing/2014/main" id="{660F4537-4A46-4B3D-91A5-536080D7A9DB}"/>
              </a:ext>
            </a:extLst>
          </p:cNvPr>
          <p:cNvSpPr>
            <a:spLocks xmlns:a="http://schemas.openxmlformats.org/drawingml/2006/main" noGrp="1"/>
          </p:cNvSpPr>
          <p:nvPr/>
        </p:nvSpPr>
        <p:spPr>
          <a:xfrm xmlns:a="http://schemas.openxmlformats.org/drawingml/2006/main">
            <a:off x="274320" y="1381125"/>
            <a:ext cx="8595360" cy="685800"/>
          </a:xfrm>
          <a:prstGeom xmlns:a="http://schemas.openxmlformats.org/drawingml/2006/main" prst="roundRect">
            <a:avLst>
              <a:gd name="adj" fmla="val 11111"/>
            </a:avLst>
          </a:prstGeom>
          <a:solidFill xmlns:a="http://schemas.openxmlformats.org/drawingml/2006/main">
            <a:srgbClr val="173773"/>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CB550AF3-1014-4E81-984B-9B44295C521A}"/>
              </a:ext>
            </a:extLst>
          </p:cNvPr>
          <p:cNvSpPr>
            <a:spLocks xmlns:a="http://schemas.openxmlformats.org/drawingml/2006/main" noGrp="1"/>
          </p:cNvSpPr>
          <p:nvPr/>
        </p:nvSpPr>
        <p:spPr>
          <a:xfrm xmlns:a="http://schemas.openxmlformats.org/drawingml/2006/main">
            <a:off x="274320" y="1381125"/>
            <a:ext cx="859536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33350" tIns="95250" rIns="133350" bIns="95250" anchor="ctr">
            <a:normAutofit fontScale="100000"/>
          </a:bodyPr>
          <a:lstStyle xmlns:a="http://schemas.openxmlformats.org/drawingml/2006/main">
            <a:defPPr algn="ctr">
              <a:defRPr sz="1425" b="1">
                <a:solidFill>
                  <a:srgbClr val="FFFFFF"/>
                </a:solidFill>
                <a:latin typeface="Arial"/>
                <a:ea typeface="Arial"/>
                <a:cs typeface="Arial"/>
              </a:defRPr>
            </a:defPPr>
          </a:lstStyle>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Гипотеза получила эмпирическую поддержку: последовательная модель точнее базовых методов рекомендует и ранжирует новые категории</a:t>
            </a:r>
          </a:p>
        </p:txBody>
      </p:sp>
      <p:sp>
        <p:nvSpPr>
          <p:cNvPr id="30" name="">
            <a:extLst xmlns:a="http://schemas.openxmlformats.org/drawingml/2006/main">
              <a:ext uri="{FF2B5EF4-FFF2-40B4-BE49-F238E27FC236}">
                <a16:creationId xmlns:a16="http://schemas.microsoft.com/office/drawing/2014/main" id="{6BFEEA6C-17B8-4DB2-A5C9-3BABF77A4994}"/>
              </a:ext>
            </a:extLst>
          </p:cNvPr>
          <p:cNvSpPr>
            <a:spLocks xmlns:a="http://schemas.openxmlformats.org/drawingml/2006/main" noGrp="1"/>
          </p:cNvSpPr>
          <p:nvPr/>
        </p:nvSpPr>
        <p:spPr>
          <a:xfrm xmlns:a="http://schemas.openxmlformats.org/drawingml/2006/main">
            <a:off x="274320" y="2247900"/>
            <a:ext cx="4114800" cy="1009650"/>
          </a:xfrm>
          <a:prstGeom xmlns:a="http://schemas.openxmlformats.org/drawingml/2006/main" prst="roundRect">
            <a:avLst>
              <a:gd name="adj" fmla="val 7547"/>
            </a:avLst>
          </a:prstGeom>
          <a:solidFill xmlns:a="http://schemas.openxmlformats.org/drawingml/2006/main">
            <a:srgbClr val="E8EEF8"/>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F9C9EE31-5748-4675-964B-EEEE042402AE}"/>
              </a:ext>
            </a:extLst>
          </p:cNvPr>
          <p:cNvSpPr>
            <a:spLocks xmlns:a="http://schemas.openxmlformats.org/drawingml/2006/main" noGrp="1"/>
          </p:cNvSpPr>
          <p:nvPr/>
        </p:nvSpPr>
        <p:spPr>
          <a:xfrm xmlns:a="http://schemas.openxmlformats.org/drawingml/2006/main">
            <a:off x="274320" y="2247900"/>
            <a:ext cx="4114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33350" tIns="95250" rIns="133350" bIns="95250" anchor="ctr">
            <a:normAutofit fontScale="100000"/>
          </a:bodyPr>
          <a:lstStyle xmlns:a="http://schemas.openxmlformats.org/drawingml/2006/main">
            <a:defPPr algn="l">
              <a:defRPr sz="1200" b="0">
                <a:solidFill>
                  <a:srgbClr val="173773"/>
                </a:solidFill>
                <a:latin typeface="Arial"/>
                <a:ea typeface="Arial"/>
                <a:cs typeface="Arial"/>
              </a:defRPr>
            </a:defPPr>
          </a:lstStyle>
          <a:p xmlns:a="http://schemas.openxmlformats.org/drawingml/2006/main">
            <a:pPr algn="l">
              <a:defRPr sz="1200" b="0">
                <a:solidFill>
                  <a:srgbClr val="173773"/>
                </a:solidFill>
                <a:latin typeface="Arial"/>
                <a:ea typeface="Arial"/>
                <a:cs typeface="Arial"/>
              </a:defRPr>
            </a:pPr>
            <a:r>
              <a:rPr sz="1200" b="0">
                <a:solidFill>
                  <a:srgbClr val="173773"/>
                </a:solidFill>
                <a:latin typeface="Arial"/>
                <a:ea typeface="Arial"/>
                <a:cs typeface="Arial"/>
              </a:rPr>
              <a:t>1</a:t>
            </a:r>
          </a:p>
          <a:p xmlns:a="http://schemas.openxmlformats.org/drawingml/2006/main">
            <a:pPr algn="l">
              <a:defRPr sz="1200" b="0">
                <a:solidFill>
                  <a:srgbClr val="173773"/>
                </a:solidFill>
                <a:latin typeface="Arial"/>
                <a:ea typeface="Arial"/>
                <a:cs typeface="Arial"/>
              </a:defRPr>
            </a:pPr>
            <a:r>
              <a:rPr sz="1200" b="0">
                <a:solidFill>
                  <a:srgbClr val="173773"/>
                </a:solidFill>
                <a:latin typeface="Arial"/>
                <a:ea typeface="Arial"/>
                <a:cs typeface="Arial"/>
              </a:rPr>
              <a:t>Полная d128 обучена примерно на 2 млн пользователей и получила Recall@5 = 0,4046</a:t>
            </a:r>
          </a:p>
        </p:txBody>
      </p:sp>
      <p:sp>
        <p:nvSpPr>
          <p:cNvPr id="32" name="">
            <a:extLst xmlns:a="http://schemas.openxmlformats.org/drawingml/2006/main">
              <a:ext uri="{FF2B5EF4-FFF2-40B4-BE49-F238E27FC236}">
                <a16:creationId xmlns:a16="http://schemas.microsoft.com/office/drawing/2014/main" id="{5E9FA270-F5D2-4A66-84C9-F33CDCF0C1B8}"/>
              </a:ext>
            </a:extLst>
          </p:cNvPr>
          <p:cNvSpPr>
            <a:spLocks xmlns:a="http://schemas.openxmlformats.org/drawingml/2006/main" noGrp="1"/>
          </p:cNvSpPr>
          <p:nvPr/>
        </p:nvSpPr>
        <p:spPr>
          <a:xfrm xmlns:a="http://schemas.openxmlformats.org/drawingml/2006/main">
            <a:off x="4572000" y="2247900"/>
            <a:ext cx="4114800" cy="1009650"/>
          </a:xfrm>
          <a:prstGeom xmlns:a="http://schemas.openxmlformats.org/drawingml/2006/main" prst="roundRect">
            <a:avLst>
              <a:gd name="adj" fmla="val 7547"/>
            </a:avLst>
          </a:prstGeom>
          <a:solidFill xmlns:a="http://schemas.openxmlformats.org/drawingml/2006/main">
            <a:srgbClr val="E8EEF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58667D6C-2A3D-4D50-832C-452994B82FAD}"/>
              </a:ext>
            </a:extLst>
          </p:cNvPr>
          <p:cNvSpPr>
            <a:spLocks xmlns:a="http://schemas.openxmlformats.org/drawingml/2006/main" noGrp="1"/>
          </p:cNvSpPr>
          <p:nvPr/>
        </p:nvSpPr>
        <p:spPr>
          <a:xfrm xmlns:a="http://schemas.openxmlformats.org/drawingml/2006/main">
            <a:off x="4572000" y="2247900"/>
            <a:ext cx="4114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33350" tIns="95250" rIns="133350" bIns="95250" anchor="ctr">
            <a:normAutofit fontScale="100000"/>
          </a:bodyPr>
          <a:lstStyle xmlns:a="http://schemas.openxmlformats.org/drawingml/2006/main">
            <a:defPPr algn="l">
              <a:defRPr sz="1200" b="0">
                <a:solidFill>
                  <a:srgbClr val="173773"/>
                </a:solidFill>
                <a:latin typeface="Arial"/>
                <a:ea typeface="Arial"/>
                <a:cs typeface="Arial"/>
              </a:defRPr>
            </a:defPPr>
          </a:lstStyle>
          <a:p xmlns:a="http://schemas.openxmlformats.org/drawingml/2006/main">
            <a:pPr algn="l">
              <a:defRPr sz="1200" b="0">
                <a:solidFill>
                  <a:srgbClr val="173773"/>
                </a:solidFill>
                <a:latin typeface="Arial"/>
                <a:ea typeface="Arial"/>
                <a:cs typeface="Arial"/>
              </a:defRPr>
            </a:pPr>
            <a:r>
              <a:rPr sz="1200" b="0">
                <a:solidFill>
                  <a:srgbClr val="173773"/>
                </a:solidFill>
                <a:latin typeface="Arial"/>
                <a:ea typeface="Arial"/>
                <a:cs typeface="Arial"/>
              </a:rPr>
              <a:t>2</a:t>
            </a:r>
          </a:p>
          <a:p xmlns:a="http://schemas.openxmlformats.org/drawingml/2006/main">
            <a:pPr algn="l">
              <a:defRPr sz="1200" b="0">
                <a:solidFill>
                  <a:srgbClr val="173773"/>
                </a:solidFill>
                <a:latin typeface="Arial"/>
                <a:ea typeface="Arial"/>
                <a:cs typeface="Arial"/>
              </a:defRPr>
            </a:pPr>
            <a:r>
              <a:rPr sz="1200" b="0">
                <a:solidFill>
                  <a:srgbClr val="173773"/>
                </a:solidFill>
                <a:latin typeface="Arial"/>
                <a:ea typeface="Arial"/>
                <a:cs typeface="Arial"/>
              </a:rPr>
              <a:t>Преимущество над PureSVD: +0,0973 [0,0948; 0,0996], статистически значимо при α=0,05</a:t>
            </a:r>
          </a:p>
        </p:txBody>
      </p:sp>
      <p:sp>
        <p:nvSpPr>
          <p:cNvPr id="34" name="">
            <a:extLst xmlns:a="http://schemas.openxmlformats.org/drawingml/2006/main">
              <a:ext uri="{FF2B5EF4-FFF2-40B4-BE49-F238E27FC236}">
                <a16:creationId xmlns:a16="http://schemas.microsoft.com/office/drawing/2014/main" id="{4B2650BF-A1FA-4300-9C3E-A4C5985E1767}"/>
              </a:ext>
            </a:extLst>
          </p:cNvPr>
          <p:cNvSpPr>
            <a:spLocks xmlns:a="http://schemas.openxmlformats.org/drawingml/2006/main" noGrp="1"/>
          </p:cNvSpPr>
          <p:nvPr/>
        </p:nvSpPr>
        <p:spPr>
          <a:xfrm xmlns:a="http://schemas.openxmlformats.org/drawingml/2006/main">
            <a:off x="274320" y="3448050"/>
            <a:ext cx="4114800" cy="1009650"/>
          </a:xfrm>
          <a:prstGeom xmlns:a="http://schemas.openxmlformats.org/drawingml/2006/main" prst="roundRect">
            <a:avLst>
              <a:gd name="adj" fmla="val 7547"/>
            </a:avLst>
          </a:prstGeom>
          <a:solidFill xmlns:a="http://schemas.openxmlformats.org/drawingml/2006/main">
            <a:srgbClr val="E8EEF8"/>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A4B8AC65-3402-4F83-8F6C-7193C97F533C}"/>
              </a:ext>
            </a:extLst>
          </p:cNvPr>
          <p:cNvSpPr>
            <a:spLocks xmlns:a="http://schemas.openxmlformats.org/drawingml/2006/main" noGrp="1"/>
          </p:cNvSpPr>
          <p:nvPr/>
        </p:nvSpPr>
        <p:spPr>
          <a:xfrm xmlns:a="http://schemas.openxmlformats.org/drawingml/2006/main">
            <a:off x="274320" y="3448050"/>
            <a:ext cx="4114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33350" tIns="95250" rIns="133350" bIns="95250" anchor="ctr">
            <a:normAutofit fontScale="100000"/>
          </a:bodyPr>
          <a:lstStyle xmlns:a="http://schemas.openxmlformats.org/drawingml/2006/main">
            <a:defPPr algn="l">
              <a:defRPr sz="1200" b="0">
                <a:solidFill>
                  <a:srgbClr val="173773"/>
                </a:solidFill>
                <a:latin typeface="Arial"/>
                <a:ea typeface="Arial"/>
                <a:cs typeface="Arial"/>
              </a:defRPr>
            </a:defPPr>
          </a:lstStyle>
          <a:p xmlns:a="http://schemas.openxmlformats.org/drawingml/2006/main">
            <a:pPr algn="l">
              <a:defRPr sz="1200" b="0">
                <a:solidFill>
                  <a:srgbClr val="173773"/>
                </a:solidFill>
                <a:latin typeface="Arial"/>
                <a:ea typeface="Arial"/>
                <a:cs typeface="Arial"/>
              </a:defRPr>
            </a:pPr>
            <a:r>
              <a:rPr sz="1200" b="0">
                <a:solidFill>
                  <a:srgbClr val="173773"/>
                </a:solidFill>
                <a:latin typeface="Arial"/>
                <a:ea typeface="Arial"/>
                <a:cs typeface="Arial"/>
              </a:rPr>
              <a:t>3</a:t>
            </a:r>
          </a:p>
          <a:p xmlns:a="http://schemas.openxmlformats.org/drawingml/2006/main">
            <a:pPr algn="l">
              <a:defRPr sz="1200" b="0">
                <a:solidFill>
                  <a:srgbClr val="173773"/>
                </a:solidFill>
                <a:latin typeface="Arial"/>
                <a:ea typeface="Arial"/>
                <a:cs typeface="Arial"/>
              </a:defRPr>
            </a:pPr>
            <a:r>
              <a:rPr sz="1200" b="0">
                <a:solidFill>
                  <a:srgbClr val="173773"/>
                </a:solidFill>
                <a:latin typeface="Arial"/>
                <a:ea typeface="Arial"/>
                <a:cs typeface="Arial"/>
              </a:rPr>
              <a:t>На полном объёме d128 немного, но значимо лучше d64; компактная модель удобна для серий экспериментов</a:t>
            </a:r>
          </a:p>
        </p:txBody>
      </p:sp>
      <p:sp>
        <p:nvSpPr>
          <p:cNvPr id="36" name="">
            <a:extLst xmlns:a="http://schemas.openxmlformats.org/drawingml/2006/main">
              <a:ext uri="{FF2B5EF4-FFF2-40B4-BE49-F238E27FC236}">
                <a16:creationId xmlns:a16="http://schemas.microsoft.com/office/drawing/2014/main" id="{0090C7C6-9566-4FD8-AD53-9FA2D06E4E94}"/>
              </a:ext>
            </a:extLst>
          </p:cNvPr>
          <p:cNvSpPr>
            <a:spLocks xmlns:a="http://schemas.openxmlformats.org/drawingml/2006/main" noGrp="1"/>
          </p:cNvSpPr>
          <p:nvPr/>
        </p:nvSpPr>
        <p:spPr>
          <a:xfrm xmlns:a="http://schemas.openxmlformats.org/drawingml/2006/main">
            <a:off x="4572000" y="3448050"/>
            <a:ext cx="4114800" cy="1009650"/>
          </a:xfrm>
          <a:prstGeom xmlns:a="http://schemas.openxmlformats.org/drawingml/2006/main" prst="roundRect">
            <a:avLst>
              <a:gd name="adj" fmla="val 7547"/>
            </a:avLst>
          </a:prstGeom>
          <a:solidFill xmlns:a="http://schemas.openxmlformats.org/drawingml/2006/main">
            <a:srgbClr val="E8EEF8"/>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F116DBE9-B9ED-42D7-8173-252B20F6E80A}"/>
              </a:ext>
            </a:extLst>
          </p:cNvPr>
          <p:cNvSpPr>
            <a:spLocks xmlns:a="http://schemas.openxmlformats.org/drawingml/2006/main" noGrp="1"/>
          </p:cNvSpPr>
          <p:nvPr/>
        </p:nvSpPr>
        <p:spPr>
          <a:xfrm xmlns:a="http://schemas.openxmlformats.org/drawingml/2006/main">
            <a:off x="4572000" y="3448050"/>
            <a:ext cx="4114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33350" tIns="95250" rIns="133350" bIns="95250" anchor="ctr">
            <a:normAutofit fontScale="100000"/>
          </a:bodyPr>
          <a:lstStyle xmlns:a="http://schemas.openxmlformats.org/drawingml/2006/main">
            <a:defPPr algn="l">
              <a:defRPr sz="1200" b="0">
                <a:solidFill>
                  <a:srgbClr val="173773"/>
                </a:solidFill>
                <a:latin typeface="Arial"/>
                <a:ea typeface="Arial"/>
                <a:cs typeface="Arial"/>
              </a:defRPr>
            </a:defPPr>
          </a:lstStyle>
          <a:p xmlns:a="http://schemas.openxmlformats.org/drawingml/2006/main">
            <a:pPr algn="l">
              <a:defRPr sz="1200" b="0">
                <a:solidFill>
                  <a:srgbClr val="173773"/>
                </a:solidFill>
                <a:latin typeface="Arial"/>
                <a:ea typeface="Arial"/>
                <a:cs typeface="Arial"/>
              </a:defRPr>
            </a:pPr>
            <a:r>
              <a:rPr sz="1200" b="0">
                <a:solidFill>
                  <a:srgbClr val="173773"/>
                </a:solidFill>
                <a:latin typeface="Arial"/>
                <a:ea typeface="Arial"/>
                <a:cs typeface="Arial"/>
              </a:rPr>
              <a:t>4</a:t>
            </a:r>
          </a:p>
          <a:p xmlns:a="http://schemas.openxmlformats.org/drawingml/2006/main">
            <a:pPr algn="l">
              <a:defRPr sz="1200" b="0">
                <a:solidFill>
                  <a:srgbClr val="173773"/>
                </a:solidFill>
                <a:latin typeface="Arial"/>
                <a:ea typeface="Arial"/>
                <a:cs typeface="Arial"/>
              </a:defRPr>
            </a:pPr>
            <a:r>
              <a:rPr sz="1200" b="0">
                <a:solidFill>
                  <a:srgbClr val="173773"/>
                </a:solidFill>
                <a:latin typeface="Arial"/>
                <a:ea typeface="Arial"/>
                <a:cs typeface="Arial"/>
              </a:rPr>
              <a:t>Модель поддерживает рекомендации и отбор аудитории; CRM-результат положительный, но требует повторного теста</a:t>
            </a:r>
          </a:p>
        </p:txBody>
      </p:sp>
    </p:spTree>
    <p:extLst>
      <p:ext uri="{BB962C8B-B14F-4D97-AF65-F5344CB8AC3E}">
        <p14:creationId xmlns:p14="http://schemas.microsoft.com/office/powerpoint/2010/main" val="958541963"/>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557DAC21-58D7-40C7-A69C-353946FD6680}"/>
              </a:ext>
            </a:extLst>
          </p:cNvPr>
          <p:cNvPicPr>
            <a:picLocks xmlns:a="http://schemas.openxmlformats.org/drawingml/2006/main" noChangeAspect="1"/>
          </p:cNvPicPr>
          <p:nvPr/>
        </p:nvPicPr>
        <p:blipFill>
          <a:blip xmlns:r="http://schemas.openxmlformats.org/officeDocument/2006/relationships" xmlns:a="http://schemas.openxmlformats.org/drawingml/2006/main" r:embed="R2a350b72289444dc"/>
          <a:stretch xmlns:a="http://schemas.openxmlformats.org/drawingml/2006/main">
            <a:fillRect l="0" t="0" r="0" b="0"/>
          </a:stretch>
        </p:blipFill>
        <p:spPr>
          <a:xfrm xmlns:a="http://schemas.openxmlformats.org/drawingml/2006/main">
            <a:off x="274320" y="137160"/>
            <a:ext cx="502920" cy="50292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E9DB3F90-74A0-41C5-AC97-F5BD756150EC}"/>
              </a:ext>
            </a:extLst>
          </p:cNvPr>
          <p:cNvSpPr>
            <a:spLocks xmlns:a="http://schemas.openxmlformats.org/drawingml/2006/main" noGrp="1"/>
          </p:cNvSpPr>
          <p:nvPr/>
        </p:nvSpPr>
        <p:spPr>
          <a:xfrm xmlns:a="http://schemas.openxmlformats.org/drawingml/2006/main">
            <a:off x="868680" y="201168"/>
            <a:ext cx="173736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0E2D69"/>
                </a:solidFill>
                <a:latin typeface="Arial"/>
                <a:ea typeface="Arial"/>
                <a:cs typeface="Arial"/>
              </a:rPr>
              <a:t>Школа информатики, физики и технологий</a:t>
            </a:r>
            <a:endParaRPr sz="800"/>
          </a:p>
        </p:txBody>
      </p:sp>
      <p:sp>
        <p:nvSpPr>
          <p:cNvPr id="4" name="Text 1">
            <a:extLst xmlns:a="http://schemas.openxmlformats.org/drawingml/2006/main">
              <a:ext uri="{FF2B5EF4-FFF2-40B4-BE49-F238E27FC236}">
                <a16:creationId xmlns:a16="http://schemas.microsoft.com/office/drawing/2014/main" id="{4EBD0C3E-B421-4C15-A7F4-3F6CF1063411}"/>
              </a:ext>
            </a:extLst>
          </p:cNvPr>
          <p:cNvSpPr>
            <a:spLocks xmlns:a="http://schemas.openxmlformats.org/drawingml/2006/main" noGrp="1"/>
          </p:cNvSpPr>
          <p:nvPr/>
        </p:nvSpPr>
        <p:spPr>
          <a:xfrm xmlns:a="http://schemas.openxmlformats.org/drawingml/2006/main">
            <a:off x="2834640" y="201168"/>
            <a:ext cx="29260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0E2D69"/>
                </a:solidFill>
                <a:latin typeface="Arial"/>
                <a:ea typeface="Arial"/>
                <a:cs typeface="Arial"/>
              </a:rPr>
              <a:t>Рекомендательная система на основе поведенческих эмбеддингов</a:t>
            </a:r>
            <a:endParaRPr sz="800"/>
          </a:p>
        </p:txBody>
      </p:sp>
      <p:sp>
        <p:nvSpPr>
          <p:cNvPr id="5" name="Text 2">
            <a:extLst xmlns:a="http://schemas.openxmlformats.org/drawingml/2006/main">
              <a:ext uri="{FF2B5EF4-FFF2-40B4-BE49-F238E27FC236}">
                <a16:creationId xmlns:a16="http://schemas.microsoft.com/office/drawing/2014/main" id="{22883851-02A0-489C-ABD8-5F7DAFAFD55A}"/>
              </a:ext>
            </a:extLst>
          </p:cNvPr>
          <p:cNvSpPr>
            <a:spLocks xmlns:a="http://schemas.openxmlformats.org/drawingml/2006/main" noGrp="1"/>
          </p:cNvSpPr>
          <p:nvPr/>
        </p:nvSpPr>
        <p:spPr>
          <a:xfrm xmlns:a="http://schemas.openxmlformats.org/drawingml/2006/main">
            <a:off x="5989320" y="201168"/>
            <a:ext cx="18288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defPPr algn="l">
              <a:defRPr sz="900">
                <a:solidFill>
                  <a:srgbClr val="173773"/>
                </a:solidFill>
                <a:latin typeface="Arial"/>
                <a:ea typeface="Arial"/>
                <a:cs typeface="Arial"/>
              </a:defRPr>
            </a:defPPr>
          </a:lstStyle>
          <a:p xmlns:a="http://schemas.openxmlformats.org/drawingml/2006/main">
            <a:pPr marL="0" indent="0" algn="l">
              <a:buNone/>
            </a:pPr>
            <a:r>
              <a:rPr sz="900">
                <a:solidFill>
                  <a:srgbClr val="173773"/>
                </a:solidFill>
                <a:latin typeface="Arial"/>
                <a:ea typeface="Arial"/>
                <a:cs typeface="Arial"/>
              </a:rPr>
              <a:t>Материалы</a:t>
            </a:r>
            <a:endParaRPr sz="800"/>
          </a:p>
        </p:txBody>
      </p:sp>
      <p:sp>
        <p:nvSpPr>
          <p:cNvPr id="6" name="Shape 3">
            <a:extLst xmlns:a="http://schemas.openxmlformats.org/drawingml/2006/main">
              <a:ext uri="{FF2B5EF4-FFF2-40B4-BE49-F238E27FC236}">
                <a16:creationId xmlns:a16="http://schemas.microsoft.com/office/drawing/2014/main" id="{EEF70EB9-2635-47B9-88B0-16F99F50295A}"/>
              </a:ext>
            </a:extLst>
          </p:cNvPr>
          <p:cNvSpPr>
            <a:spLocks xmlns:a="http://schemas.openxmlformats.org/drawingml/2006/main" noGrp="1"/>
          </p:cNvSpPr>
          <p:nvPr/>
        </p:nvSpPr>
        <p:spPr>
          <a:xfrm xmlns:a="http://schemas.openxmlformats.org/drawingml/2006/main">
            <a:off x="2697480" y="182880"/>
            <a:ext cx="0" cy="457200"/>
          </a:xfrm>
          <a:prstGeom xmlns:a="http://schemas.openxmlformats.org/drawingml/2006/main" prst="line">
            <a:avLst/>
          </a:prstGeom>
          <a:noFill xmlns:a="http://schemas.openxmlformats.org/drawingml/2006/main"/>
          <a:ln xmlns:a="http://schemas.openxmlformats.org/drawingml/2006/main" w="19050">
            <a:solidFill>
              <a:srgbClr val="0E2D69"/>
            </a:solidFill>
            <a:prstDash val="solid"/>
          </a:ln>
        </p:spPr>
      </p:sp>
      <p:sp>
        <p:nvSpPr>
          <p:cNvPr id="7" name="Shape 4">
            <a:extLst xmlns:a="http://schemas.openxmlformats.org/drawingml/2006/main">
              <a:ext uri="{FF2B5EF4-FFF2-40B4-BE49-F238E27FC236}">
                <a16:creationId xmlns:a16="http://schemas.microsoft.com/office/drawing/2014/main" id="{2DEA769E-1330-432A-9D6F-7FB71737B87B}"/>
              </a:ext>
            </a:extLst>
          </p:cNvPr>
          <p:cNvSpPr>
            <a:spLocks xmlns:a="http://schemas.openxmlformats.org/drawingml/2006/main" noGrp="1"/>
          </p:cNvSpPr>
          <p:nvPr/>
        </p:nvSpPr>
        <p:spPr>
          <a:xfrm xmlns:a="http://schemas.openxmlformats.org/drawingml/2006/main">
            <a:off x="5852160" y="182880"/>
            <a:ext cx="0" cy="457200"/>
          </a:xfrm>
          <a:prstGeom xmlns:a="http://schemas.openxmlformats.org/drawingml/2006/main" prst="line">
            <a:avLst/>
          </a:prstGeom>
          <a:noFill xmlns:a="http://schemas.openxmlformats.org/drawingml/2006/main"/>
          <a:ln xmlns:a="http://schemas.openxmlformats.org/drawingml/2006/main" w="19050">
            <a:solidFill>
              <a:srgbClr val="0E2D69"/>
            </a:solidFill>
            <a:prstDash val="solid"/>
          </a:ln>
        </p:spPr>
      </p:sp>
      <p:sp>
        <p:nvSpPr>
          <p:cNvPr id="8" name="Text 5">
            <a:extLst xmlns:a="http://schemas.openxmlformats.org/drawingml/2006/main">
              <a:ext uri="{FF2B5EF4-FFF2-40B4-BE49-F238E27FC236}">
                <a16:creationId xmlns:a16="http://schemas.microsoft.com/office/drawing/2014/main" id="{0D2B7BB2-09D8-459D-BD6B-90F7EBCC9661}"/>
              </a:ext>
            </a:extLst>
          </p:cNvPr>
          <p:cNvSpPr>
            <a:spLocks xmlns:a="http://schemas.openxmlformats.org/drawingml/2006/main" noGrp="1"/>
          </p:cNvSpPr>
          <p:nvPr/>
        </p:nvSpPr>
        <p:spPr>
          <a:xfrm xmlns:a="http://schemas.openxmlformats.org/drawingml/2006/main">
            <a:off x="365760" y="777240"/>
            <a:ext cx="84124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b="1">
                <a:solidFill>
                  <a:srgbClr val="0E2D69"/>
                </a:solidFill>
                <a:latin typeface="Arial"/>
                <a:ea typeface="Arial"/>
                <a:cs typeface="Arial"/>
              </a:rPr>
              <a:t>Код и текст работы</a:t>
            </a:r>
            <a:endParaRPr sz="2400"/>
          </a:p>
        </p:txBody>
      </p:sp>
      <p:sp>
        <p:nvSpPr>
          <p:cNvPr id="10" name="Shape 6">
            <a:extLst xmlns:a="http://schemas.openxmlformats.org/drawingml/2006/main">
              <a:ext uri="{FF2B5EF4-FFF2-40B4-BE49-F238E27FC236}">
                <a16:creationId xmlns:a16="http://schemas.microsoft.com/office/drawing/2014/main" id="{E5D049CE-D66F-4CC6-AFFE-D08E0B3F9448}"/>
              </a:ext>
            </a:extLst>
          </p:cNvPr>
          <p:cNvSpPr>
            <a:spLocks xmlns:a="http://schemas.openxmlformats.org/drawingml/2006/main" noGrp="1"/>
          </p:cNvSpPr>
          <p:nvPr/>
        </p:nvSpPr>
        <p:spPr>
          <a:xfrm xmlns:a="http://schemas.openxmlformats.org/drawingml/2006/main">
            <a:off x="1737360" y="1463040"/>
            <a:ext cx="2194560" cy="2194560"/>
          </a:xfrm>
          <a:prstGeom xmlns:a="http://schemas.openxmlformats.org/drawingml/2006/main" prst="roundRect">
            <a:avLst>
              <a:gd name="adj" fmla="val 2500"/>
            </a:avLst>
          </a:prstGeom>
          <a:solidFill xmlns:a="http://schemas.openxmlformats.org/drawingml/2006/main">
            <a:srgbClr val="FFF6EF"/>
          </a:solidFill>
          <a:ln xmlns:a="http://schemas.openxmlformats.org/drawingml/2006/main" w="15875">
            <a:solidFill>
              <a:srgbClr val="E8743B"/>
            </a:solidFill>
            <a:prstDash val="dash"/>
          </a:ln>
        </p:spPr>
      </p:sp>
      <p:sp>
        <p:nvSpPr>
          <p:cNvPr id="11" name="Text 7">
            <a:extLst xmlns:a="http://schemas.openxmlformats.org/drawingml/2006/main">
              <a:ext uri="{FF2B5EF4-FFF2-40B4-BE49-F238E27FC236}">
                <a16:creationId xmlns:a16="http://schemas.microsoft.com/office/drawing/2014/main" id="{48C85580-9809-4919-A25D-71B249425828}"/>
              </a:ext>
            </a:extLst>
          </p:cNvPr>
          <p:cNvSpPr>
            <a:spLocks xmlns:a="http://schemas.openxmlformats.org/drawingml/2006/main" noGrp="1"/>
          </p:cNvSpPr>
          <p:nvPr/>
        </p:nvSpPr>
        <p:spPr>
          <a:xfrm xmlns:a="http://schemas.openxmlformats.org/drawingml/2006/main">
            <a:off x="1828800" y="1463040"/>
            <a:ext cx="2011680" cy="2194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E8743B"/>
                </a:solidFill>
                <a:latin typeface="Arial"/>
                <a:ea typeface="Arial"/>
                <a:cs typeface="Arial"/>
              </a:rPr>
              <a:t/>
            </a:r>
            <a:endParaRPr sz="1200"/>
          </a:p>
          <a:p xmlns:a="http://schemas.openxmlformats.org/drawingml/2006/main">
            <a:pPr marL="0" indent="0" algn="ctr">
              <a:buNone/>
            </a:pPr>
            <a:r>
              <a:rPr sz="1200" b="1">
                <a:solidFill>
                  <a:srgbClr val="E8743B"/>
                </a:solidFill>
                <a:latin typeface="Arial"/>
                <a:ea typeface="Arial"/>
                <a:cs typeface="Arial"/>
              </a:rPr>
              <a:t/>
            </a:r>
            <a:endParaRPr sz="1200"/>
          </a:p>
        </p:txBody>
      </p:sp>
      <p:sp>
        <p:nvSpPr>
          <p:cNvPr id="12" name="Text 8">
            <a:extLst xmlns:a="http://schemas.openxmlformats.org/drawingml/2006/main">
              <a:ext uri="{FF2B5EF4-FFF2-40B4-BE49-F238E27FC236}">
                <a16:creationId xmlns:a16="http://schemas.microsoft.com/office/drawing/2014/main" id="{9A710D9A-8D09-44AD-839B-109D73E723E1}"/>
              </a:ext>
            </a:extLst>
          </p:cNvPr>
          <p:cNvSpPr>
            <a:spLocks xmlns:a="http://schemas.openxmlformats.org/drawingml/2006/main" noGrp="1"/>
          </p:cNvSpPr>
          <p:nvPr/>
        </p:nvSpPr>
        <p:spPr>
          <a:xfrm xmlns:a="http://schemas.openxmlformats.org/drawingml/2006/main">
            <a:off x="1188720" y="3749040"/>
            <a:ext cx="32918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600" b="1">
                <a:solidFill>
                  <a:srgbClr val="0E2D69"/>
                </a:solidFill>
                <a:latin typeface="Arial"/>
                <a:ea typeface="Arial"/>
                <a:cs typeface="Arial"/>
              </a:rPr>
              <a:t>Репозиторий</a:t>
            </a:r>
            <a:endParaRPr sz="1600"/>
          </a:p>
        </p:txBody>
      </p:sp>
      <p:sp>
        <p:nvSpPr>
          <p:cNvPr id="13" name="Text 9">
            <a:extLst xmlns:a="http://schemas.openxmlformats.org/drawingml/2006/main">
              <a:ext uri="{FF2B5EF4-FFF2-40B4-BE49-F238E27FC236}">
                <a16:creationId xmlns:a16="http://schemas.microsoft.com/office/drawing/2014/main" id="{1FF1FFB2-FAD5-47AA-B818-599A8D247238}"/>
              </a:ext>
            </a:extLst>
          </p:cNvPr>
          <p:cNvSpPr>
            <a:spLocks xmlns:a="http://schemas.openxmlformats.org/drawingml/2006/main" noGrp="1"/>
          </p:cNvSpPr>
          <p:nvPr/>
        </p:nvSpPr>
        <p:spPr>
          <a:xfrm xmlns:a="http://schemas.openxmlformats.org/drawingml/2006/main">
            <a:off x="1188720" y="4069080"/>
            <a:ext cx="32918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a:solidFill>
                  <a:srgbClr val="5B6B8C"/>
                </a:solidFill>
                <a:latin typeface="Arial"/>
                <a:ea typeface="Arial"/>
                <a:cs typeface="Arial"/>
              </a:rPr>
              <a:t>код, конфигурации, инструкция воспроизведения</a:t>
            </a:r>
            <a:endParaRPr sz="1100"/>
          </a:p>
        </p:txBody>
      </p:sp>
      <p:sp>
        <p:nvSpPr>
          <p:cNvPr id="14" name="Text 10">
            <a:extLst xmlns:a="http://schemas.openxmlformats.org/drawingml/2006/main">
              <a:ext uri="{FF2B5EF4-FFF2-40B4-BE49-F238E27FC236}">
                <a16:creationId xmlns:a16="http://schemas.microsoft.com/office/drawing/2014/main" id="{17A451C2-8AFC-4A61-90FD-2465CA99B415}"/>
              </a:ext>
            </a:extLst>
          </p:cNvPr>
          <p:cNvSpPr>
            <a:spLocks xmlns:a="http://schemas.openxmlformats.org/drawingml/2006/main" noGrp="1"/>
          </p:cNvSpPr>
          <p:nvPr/>
        </p:nvSpPr>
        <p:spPr>
          <a:xfrm xmlns:a="http://schemas.openxmlformats.org/drawingml/2006/main">
            <a:off x="1188720" y="4343400"/>
            <a:ext cx="32918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defPPr algn="ctr">
              <a:defRPr sz="713" b="1">
                <a:solidFill>
                  <a:srgbClr val="F17739"/>
                </a:solidFill>
                <a:latin typeface="Arial"/>
                <a:ea typeface="Arial"/>
                <a:cs typeface="Arial"/>
              </a:defRPr>
            </a:defPPr>
          </a:lstStyle>
          <a:p xmlns:a="http://schemas.openxmlformats.org/drawingml/2006/main">
            <a:pPr marL="0" indent="0" algn="ctr">
              <a:buNone/>
            </a:pPr>
            <a:r>
              <a:rPr sz="713" b="1">
                <a:solidFill>
                  <a:srgbClr val="F17739"/>
                </a:solidFill>
                <a:latin typeface="Arial"/>
                <a:ea typeface="Arial"/>
                <a:cs typeface="Arial"/>
              </a:rPr>
              <a:t>github.com/polemi/avito-recsys-coursework</a:t>
            </a:r>
            <a:endParaRPr sz="1100"/>
          </a:p>
        </p:txBody>
      </p:sp>
      <p:sp>
        <p:nvSpPr>
          <p:cNvPr id="15" name="Shape 11">
            <a:extLst xmlns:a="http://schemas.openxmlformats.org/drawingml/2006/main">
              <a:ext uri="{FF2B5EF4-FFF2-40B4-BE49-F238E27FC236}">
                <a16:creationId xmlns:a16="http://schemas.microsoft.com/office/drawing/2014/main" id="{A9B841FB-D5A5-48DE-B43F-AA2BE923A6B3}"/>
              </a:ext>
            </a:extLst>
          </p:cNvPr>
          <p:cNvSpPr>
            <a:spLocks xmlns:a="http://schemas.openxmlformats.org/drawingml/2006/main" noGrp="1"/>
          </p:cNvSpPr>
          <p:nvPr/>
        </p:nvSpPr>
        <p:spPr>
          <a:xfrm xmlns:a="http://schemas.openxmlformats.org/drawingml/2006/main">
            <a:off x="5212080" y="1463040"/>
            <a:ext cx="2194560" cy="2194560"/>
          </a:xfrm>
          <a:prstGeom xmlns:a="http://schemas.openxmlformats.org/drawingml/2006/main" prst="roundRect">
            <a:avLst>
              <a:gd name="adj" fmla="val 2500"/>
            </a:avLst>
          </a:prstGeom>
          <a:solidFill xmlns:a="http://schemas.openxmlformats.org/drawingml/2006/main">
            <a:srgbClr val="FFF6EF"/>
          </a:solidFill>
          <a:ln xmlns:a="http://schemas.openxmlformats.org/drawingml/2006/main" w="15875">
            <a:solidFill>
              <a:srgbClr val="E8743B"/>
            </a:solidFill>
            <a:prstDash val="dash"/>
          </a:ln>
        </p:spPr>
      </p:sp>
      <p:sp>
        <p:nvSpPr>
          <p:cNvPr id="16" name="Text 12">
            <a:extLst xmlns:a="http://schemas.openxmlformats.org/drawingml/2006/main">
              <a:ext uri="{FF2B5EF4-FFF2-40B4-BE49-F238E27FC236}">
                <a16:creationId xmlns:a16="http://schemas.microsoft.com/office/drawing/2014/main" id="{B9D56DF0-F6AC-45D6-8C61-B39B093CB2FE}"/>
              </a:ext>
            </a:extLst>
          </p:cNvPr>
          <p:cNvSpPr>
            <a:spLocks xmlns:a="http://schemas.openxmlformats.org/drawingml/2006/main" noGrp="1"/>
          </p:cNvSpPr>
          <p:nvPr/>
        </p:nvSpPr>
        <p:spPr>
          <a:xfrm xmlns:a="http://schemas.openxmlformats.org/drawingml/2006/main">
            <a:off x="5303520" y="1463040"/>
            <a:ext cx="2011680" cy="2194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E8743B"/>
                </a:solidFill>
                <a:latin typeface="Arial"/>
                <a:ea typeface="Arial"/>
                <a:cs typeface="Arial"/>
              </a:rPr>
              <a:t/>
            </a:r>
            <a:endParaRPr sz="1200"/>
          </a:p>
          <a:p xmlns:a="http://schemas.openxmlformats.org/drawingml/2006/main">
            <a:pPr marL="0" indent="0" algn="ctr">
              <a:buNone/>
            </a:pPr>
            <a:r>
              <a:rPr sz="1200" b="1">
                <a:solidFill>
                  <a:srgbClr val="E8743B"/>
                </a:solidFill>
                <a:latin typeface="Arial"/>
                <a:ea typeface="Arial"/>
                <a:cs typeface="Arial"/>
              </a:rPr>
              <a:t/>
            </a:r>
            <a:endParaRPr sz="1200"/>
          </a:p>
        </p:txBody>
      </p:sp>
      <p:sp>
        <p:nvSpPr>
          <p:cNvPr id="17" name="Text 13">
            <a:extLst xmlns:a="http://schemas.openxmlformats.org/drawingml/2006/main">
              <a:ext uri="{FF2B5EF4-FFF2-40B4-BE49-F238E27FC236}">
                <a16:creationId xmlns:a16="http://schemas.microsoft.com/office/drawing/2014/main" id="{07001DC3-3ADA-4BF9-9428-9134371E23F5}"/>
              </a:ext>
            </a:extLst>
          </p:cNvPr>
          <p:cNvSpPr>
            <a:spLocks xmlns:a="http://schemas.openxmlformats.org/drawingml/2006/main" noGrp="1"/>
          </p:cNvSpPr>
          <p:nvPr/>
        </p:nvSpPr>
        <p:spPr>
          <a:xfrm xmlns:a="http://schemas.openxmlformats.org/drawingml/2006/main">
            <a:off x="4663440" y="3749040"/>
            <a:ext cx="32918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600" b="1">
                <a:solidFill>
                  <a:srgbClr val="0E2D69"/>
                </a:solidFill>
                <a:latin typeface="Arial"/>
                <a:ea typeface="Arial"/>
                <a:cs typeface="Arial"/>
              </a:rPr>
              <a:t>Текст курсовой</a:t>
            </a:r>
            <a:endParaRPr sz="1600"/>
          </a:p>
        </p:txBody>
      </p:sp>
      <p:sp>
        <p:nvSpPr>
          <p:cNvPr id="18" name="Text 14">
            <a:extLst xmlns:a="http://schemas.openxmlformats.org/drawingml/2006/main">
              <a:ext uri="{FF2B5EF4-FFF2-40B4-BE49-F238E27FC236}">
                <a16:creationId xmlns:a16="http://schemas.microsoft.com/office/drawing/2014/main" id="{7465EAD2-DC0E-4296-A4E2-F5E88B5D65C8}"/>
              </a:ext>
            </a:extLst>
          </p:cNvPr>
          <p:cNvSpPr>
            <a:spLocks xmlns:a="http://schemas.openxmlformats.org/drawingml/2006/main" noGrp="1"/>
          </p:cNvSpPr>
          <p:nvPr/>
        </p:nvSpPr>
        <p:spPr>
          <a:xfrm xmlns:a="http://schemas.openxmlformats.org/drawingml/2006/main">
            <a:off x="4663440" y="4069080"/>
            <a:ext cx="32918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100">
                <a:solidFill>
                  <a:srgbClr val="5B6B8C"/>
                </a:solidFill>
                <a:latin typeface="Arial"/>
                <a:ea typeface="Arial"/>
                <a:cs typeface="Arial"/>
              </a:rPr>
              <a:t>финальная версия для чтения</a:t>
            </a:r>
            <a:endParaRPr sz="1100"/>
          </a:p>
        </p:txBody>
      </p:sp>
      <p:sp>
        <p:nvSpPr>
          <p:cNvPr id="19" name="Text 15">
            <a:extLst xmlns:a="http://schemas.openxmlformats.org/drawingml/2006/main">
              <a:ext uri="{FF2B5EF4-FFF2-40B4-BE49-F238E27FC236}">
                <a16:creationId xmlns:a16="http://schemas.microsoft.com/office/drawing/2014/main" id="{A2523F0D-869A-47AC-B22D-61D87379C03C}"/>
              </a:ext>
            </a:extLst>
          </p:cNvPr>
          <p:cNvSpPr>
            <a:spLocks xmlns:a="http://schemas.openxmlformats.org/drawingml/2006/main" noGrp="1"/>
          </p:cNvSpPr>
          <p:nvPr/>
        </p:nvSpPr>
        <p:spPr>
          <a:xfrm xmlns:a="http://schemas.openxmlformats.org/drawingml/2006/main">
            <a:off x="4663440" y="4343400"/>
            <a:ext cx="32918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defPPr algn="ctr">
              <a:defRPr sz="713" b="1">
                <a:solidFill>
                  <a:srgbClr val="F17739"/>
                </a:solidFill>
                <a:latin typeface="Arial"/>
                <a:ea typeface="Arial"/>
                <a:cs typeface="Arial"/>
              </a:defRPr>
            </a:defPPr>
          </a:lstStyle>
          <a:p xmlns:a="http://schemas.openxmlformats.org/drawingml/2006/main">
            <a:pPr marL="0" indent="0" algn="ctr">
              <a:buNone/>
            </a:pPr>
            <a:r>
              <a:rPr sz="713" b="1">
                <a:solidFill>
                  <a:srgbClr val="F17739"/>
                </a:solidFill>
                <a:latin typeface="Arial"/>
                <a:ea typeface="Arial"/>
                <a:cs typeface="Arial"/>
              </a:rPr>
              <a:t>репозиторий → materials/coursework.pdf</a:t>
            </a:r>
            <a:endParaRPr sz="1100"/>
          </a:p>
        </p:txBody>
      </p:sp>
      <p:pic>
        <p:nvPicPr>
          <p:cNvPr id="20" name="">
            <a:extLst xmlns:a="http://schemas.openxmlformats.org/drawingml/2006/main">
              <a:ext uri="{FF2B5EF4-FFF2-40B4-BE49-F238E27FC236}">
                <a16:creationId xmlns:a16="http://schemas.microsoft.com/office/drawing/2014/main" id="{3F1FD2C2-0C47-46A8-B60A-FA5A04A5C407}"/>
              </a:ext>
            </a:extLst>
          </p:cNvPr>
          <p:cNvPicPr>
            <a:picLocks xmlns:a="http://schemas.openxmlformats.org/drawingml/2006/main" noChangeAspect="1"/>
          </p:cNvPicPr>
          <p:nvPr/>
        </p:nvPicPr>
        <p:blipFill>
          <a:blip xmlns:r="http://schemas.openxmlformats.org/officeDocument/2006/relationships" xmlns:a="http://schemas.openxmlformats.org/drawingml/2006/main" r:embed="R73a4b9fcb951460f"/>
          <a:stretch xmlns:a="http://schemas.openxmlformats.org/drawingml/2006/main"/>
        </p:blipFill>
        <p:spPr>
          <a:xfrm xmlns:a="http://schemas.openxmlformats.org/drawingml/2006/main">
            <a:off x="1771650" y="1495425"/>
            <a:ext cx="2124075" cy="2124075"/>
          </a:xfrm>
          <a:prstGeom xmlns:a="http://schemas.openxmlformats.org/drawingml/2006/main" prst="rect">
            <a:avLst/>
          </a:prstGeom>
        </p:spPr>
      </p:pic>
      <p:pic>
        <p:nvPicPr>
          <p:cNvPr id="21" name="">
            <a:extLst xmlns:a="http://schemas.openxmlformats.org/drawingml/2006/main">
              <a:ext uri="{FF2B5EF4-FFF2-40B4-BE49-F238E27FC236}">
                <a16:creationId xmlns:a16="http://schemas.microsoft.com/office/drawing/2014/main" id="{41C1DD42-A68E-4483-91BC-87670E168CB6}"/>
              </a:ext>
            </a:extLst>
          </p:cNvPr>
          <p:cNvPicPr>
            <a:picLocks xmlns:a="http://schemas.openxmlformats.org/drawingml/2006/main" noChangeAspect="1"/>
          </p:cNvPicPr>
          <p:nvPr/>
        </p:nvPicPr>
        <p:blipFill>
          <a:blip xmlns:r="http://schemas.openxmlformats.org/officeDocument/2006/relationships" xmlns:a="http://schemas.openxmlformats.org/drawingml/2006/main" r:embed="Re2332418c322430a"/>
          <a:stretch xmlns:a="http://schemas.openxmlformats.org/drawingml/2006/main"/>
        </p:blipFill>
        <p:spPr>
          <a:xfrm xmlns:a="http://schemas.openxmlformats.org/drawingml/2006/main">
            <a:off x="5248275" y="1495425"/>
            <a:ext cx="2124075" cy="2124075"/>
          </a:xfrm>
          <a:prstGeom xmlns:a="http://schemas.openxmlformats.org/drawingml/2006/main" prst="rect">
            <a:avLst/>
          </a:prstGeom>
        </p:spPr>
      </p:pic>
    </p:spTree>
    <p:extLst>
      <p:ext uri="{BB962C8B-B14F-4D97-AF65-F5344CB8AC3E}">
        <p14:creationId xmlns:p14="http://schemas.microsoft.com/office/powerpoint/2010/main" val="38793511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3185796C-5701-4B61-ADBC-E53264E7FA7B}"/>
              </a:ext>
            </a:extLst>
          </p:cNvPr>
          <p:cNvPicPr>
            <a:picLocks xmlns:a="http://schemas.openxmlformats.org/drawingml/2006/main" noChangeAspect="1"/>
          </p:cNvPicPr>
          <p:nvPr/>
        </p:nvPicPr>
        <p:blipFill>
          <a:blip xmlns:r="http://schemas.openxmlformats.org/officeDocument/2006/relationships" xmlns:a="http://schemas.openxmlformats.org/drawingml/2006/main" r:embed="R7e9ebaadde5744bb"/>
          <a:stretch xmlns:a="http://schemas.openxmlformats.org/drawingml/2006/main">
            <a:fillRect l="0" t="0" r="0" b="0"/>
          </a:stretch>
        </p:blipFill>
        <p:spPr>
          <a:xfrm xmlns:a="http://schemas.openxmlformats.org/drawingml/2006/main">
            <a:off x="274320" y="137160"/>
            <a:ext cx="502920" cy="50292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79CA7C50-BEE9-4047-94A3-F0007146E3F6}"/>
              </a:ext>
            </a:extLst>
          </p:cNvPr>
          <p:cNvSpPr>
            <a:spLocks xmlns:a="http://schemas.openxmlformats.org/drawingml/2006/main" noGrp="1"/>
          </p:cNvSpPr>
          <p:nvPr/>
        </p:nvSpPr>
        <p:spPr>
          <a:xfrm xmlns:a="http://schemas.openxmlformats.org/drawingml/2006/main">
            <a:off x="868680" y="201168"/>
            <a:ext cx="173736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0E2D69"/>
                </a:solidFill>
                <a:latin typeface="Arial"/>
                <a:ea typeface="Arial"/>
                <a:cs typeface="Arial"/>
              </a:rPr>
              <a:t>Школа информатики, физики и технологий</a:t>
            </a:r>
            <a:endParaRPr sz="800"/>
          </a:p>
        </p:txBody>
      </p:sp>
      <p:sp>
        <p:nvSpPr>
          <p:cNvPr id="4" name="Text 1">
            <a:extLst xmlns:a="http://schemas.openxmlformats.org/drawingml/2006/main">
              <a:ext uri="{FF2B5EF4-FFF2-40B4-BE49-F238E27FC236}">
                <a16:creationId xmlns:a16="http://schemas.microsoft.com/office/drawing/2014/main" id="{4B4D384E-B603-4597-A9E0-11C01A267BEB}"/>
              </a:ext>
            </a:extLst>
          </p:cNvPr>
          <p:cNvSpPr>
            <a:spLocks xmlns:a="http://schemas.openxmlformats.org/drawingml/2006/main" noGrp="1"/>
          </p:cNvSpPr>
          <p:nvPr/>
        </p:nvSpPr>
        <p:spPr>
          <a:xfrm xmlns:a="http://schemas.openxmlformats.org/drawingml/2006/main">
            <a:off x="2834640" y="201168"/>
            <a:ext cx="292608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a:solidFill>
                  <a:srgbClr val="0E2D69"/>
                </a:solidFill>
                <a:latin typeface="Arial"/>
                <a:ea typeface="Arial"/>
                <a:cs typeface="Arial"/>
              </a:rPr>
              <a:t>Рекомендательная система на основе поведенческих эмбеддингов</a:t>
            </a:r>
            <a:endParaRPr sz="800"/>
          </a:p>
        </p:txBody>
      </p:sp>
      <p:sp>
        <p:nvSpPr>
          <p:cNvPr id="5" name="Text 2">
            <a:extLst xmlns:a="http://schemas.openxmlformats.org/drawingml/2006/main">
              <a:ext uri="{FF2B5EF4-FFF2-40B4-BE49-F238E27FC236}">
                <a16:creationId xmlns:a16="http://schemas.microsoft.com/office/drawing/2014/main" id="{982368D7-B864-45C1-8173-7CECA8665649}"/>
              </a:ext>
            </a:extLst>
          </p:cNvPr>
          <p:cNvSpPr>
            <a:spLocks xmlns:a="http://schemas.openxmlformats.org/drawingml/2006/main" noGrp="1"/>
          </p:cNvSpPr>
          <p:nvPr/>
        </p:nvSpPr>
        <p:spPr>
          <a:xfrm xmlns:a="http://schemas.openxmlformats.org/drawingml/2006/main">
            <a:off x="5989320" y="201168"/>
            <a:ext cx="18288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defPPr algn="l">
              <a:defRPr sz="900">
                <a:solidFill>
                  <a:srgbClr val="173773"/>
                </a:solidFill>
                <a:latin typeface="Arial"/>
                <a:ea typeface="Arial"/>
                <a:cs typeface="Arial"/>
              </a:defRPr>
            </a:defPPr>
          </a:lstStyle>
          <a:p xmlns:a="http://schemas.openxmlformats.org/drawingml/2006/main">
            <a:pPr marL="0" indent="0" algn="l">
              <a:buNone/>
            </a:pPr>
            <a:r>
              <a:rPr sz="900">
                <a:solidFill>
                  <a:srgbClr val="173773"/>
                </a:solidFill>
                <a:latin typeface="Arial"/>
                <a:ea typeface="Arial"/>
                <a:cs typeface="Arial"/>
              </a:rPr>
              <a:t>Резерв</a:t>
            </a:r>
            <a:endParaRPr sz="800"/>
          </a:p>
        </p:txBody>
      </p:sp>
      <p:sp>
        <p:nvSpPr>
          <p:cNvPr id="6" name="Shape 3">
            <a:extLst xmlns:a="http://schemas.openxmlformats.org/drawingml/2006/main">
              <a:ext uri="{FF2B5EF4-FFF2-40B4-BE49-F238E27FC236}">
                <a16:creationId xmlns:a16="http://schemas.microsoft.com/office/drawing/2014/main" id="{7E6B3155-BC33-4743-8D9E-1FBD54F593FA}"/>
              </a:ext>
            </a:extLst>
          </p:cNvPr>
          <p:cNvSpPr>
            <a:spLocks xmlns:a="http://schemas.openxmlformats.org/drawingml/2006/main" noGrp="1"/>
          </p:cNvSpPr>
          <p:nvPr/>
        </p:nvSpPr>
        <p:spPr>
          <a:xfrm xmlns:a="http://schemas.openxmlformats.org/drawingml/2006/main">
            <a:off x="2697480" y="182880"/>
            <a:ext cx="0" cy="457200"/>
          </a:xfrm>
          <a:prstGeom xmlns:a="http://schemas.openxmlformats.org/drawingml/2006/main" prst="line">
            <a:avLst/>
          </a:prstGeom>
          <a:noFill xmlns:a="http://schemas.openxmlformats.org/drawingml/2006/main"/>
          <a:ln xmlns:a="http://schemas.openxmlformats.org/drawingml/2006/main" w="19050">
            <a:solidFill>
              <a:srgbClr val="0E2D69"/>
            </a:solidFill>
            <a:prstDash val="solid"/>
          </a:ln>
        </p:spPr>
      </p:sp>
      <p:sp>
        <p:nvSpPr>
          <p:cNvPr id="7" name="Shape 4">
            <a:extLst xmlns:a="http://schemas.openxmlformats.org/drawingml/2006/main">
              <a:ext uri="{FF2B5EF4-FFF2-40B4-BE49-F238E27FC236}">
                <a16:creationId xmlns:a16="http://schemas.microsoft.com/office/drawing/2014/main" id="{4362672E-E073-4679-8A59-804709B06C3C}"/>
              </a:ext>
            </a:extLst>
          </p:cNvPr>
          <p:cNvSpPr>
            <a:spLocks xmlns:a="http://schemas.openxmlformats.org/drawingml/2006/main" noGrp="1"/>
          </p:cNvSpPr>
          <p:nvPr/>
        </p:nvSpPr>
        <p:spPr>
          <a:xfrm xmlns:a="http://schemas.openxmlformats.org/drawingml/2006/main">
            <a:off x="5852160" y="182880"/>
            <a:ext cx="0" cy="457200"/>
          </a:xfrm>
          <a:prstGeom xmlns:a="http://schemas.openxmlformats.org/drawingml/2006/main" prst="line">
            <a:avLst/>
          </a:prstGeom>
          <a:noFill xmlns:a="http://schemas.openxmlformats.org/drawingml/2006/main"/>
          <a:ln xmlns:a="http://schemas.openxmlformats.org/drawingml/2006/main" w="19050">
            <a:solidFill>
              <a:srgbClr val="0E2D69"/>
            </a:solidFill>
            <a:prstDash val="solid"/>
          </a:ln>
        </p:spPr>
      </p:sp>
      <p:sp>
        <p:nvSpPr>
          <p:cNvPr id="8" name="Text 5">
            <a:extLst xmlns:a="http://schemas.openxmlformats.org/drawingml/2006/main">
              <a:ext uri="{FF2B5EF4-FFF2-40B4-BE49-F238E27FC236}">
                <a16:creationId xmlns:a16="http://schemas.microsoft.com/office/drawing/2014/main" id="{3DFBA3B4-850F-4F1D-AACA-A37BC5D046C6}"/>
              </a:ext>
            </a:extLst>
          </p:cNvPr>
          <p:cNvSpPr>
            <a:spLocks xmlns:a="http://schemas.openxmlformats.org/drawingml/2006/main" noGrp="1"/>
          </p:cNvSpPr>
          <p:nvPr/>
        </p:nvSpPr>
        <p:spPr>
          <a:xfrm xmlns:a="http://schemas.openxmlformats.org/drawingml/2006/main">
            <a:off x="365760" y="777240"/>
            <a:ext cx="84124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b="1">
                <a:solidFill>
                  <a:srgbClr val="0E2D69"/>
                </a:solidFill>
                <a:latin typeface="Arial"/>
                <a:ea typeface="Arial"/>
                <a:cs typeface="Arial"/>
              </a:rPr>
              <a:t>Литература</a:t>
            </a:r>
            <a:endParaRPr sz="2400"/>
          </a:p>
        </p:txBody>
      </p:sp>
      <p:sp>
        <p:nvSpPr>
          <p:cNvPr id="10" name="Text 6">
            <a:extLst xmlns:a="http://schemas.openxmlformats.org/drawingml/2006/main">
              <a:ext uri="{FF2B5EF4-FFF2-40B4-BE49-F238E27FC236}">
                <a16:creationId xmlns:a16="http://schemas.microsoft.com/office/drawing/2014/main" id="{DE746AB5-C153-48A5-B869-79EC9EF15218}"/>
              </a:ext>
            </a:extLst>
          </p:cNvPr>
          <p:cNvSpPr>
            <a:spLocks xmlns:a="http://schemas.openxmlformats.org/drawingml/2006/main" noGrp="1"/>
          </p:cNvSpPr>
          <p:nvPr/>
        </p:nvSpPr>
        <p:spPr>
          <a:xfrm xmlns:a="http://schemas.openxmlformats.org/drawingml/2006/main">
            <a:off x="365760" y="1417320"/>
            <a:ext cx="2743200"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E2D69"/>
                </a:solidFill>
                <a:latin typeface="Arial"/>
                <a:ea typeface="Arial"/>
                <a:cs typeface="Arial"/>
              </a:rPr>
              <a:t>Koren, Bell, Volinsky, 2009</a:t>
            </a:r>
            <a:endParaRPr sz="1200"/>
          </a:p>
        </p:txBody>
      </p:sp>
      <p:sp>
        <p:nvSpPr>
          <p:cNvPr id="11" name="Text 7">
            <a:extLst xmlns:a="http://schemas.openxmlformats.org/drawingml/2006/main">
              <a:ext uri="{FF2B5EF4-FFF2-40B4-BE49-F238E27FC236}">
                <a16:creationId xmlns:a16="http://schemas.microsoft.com/office/drawing/2014/main" id="{9A745FB3-DB03-47CE-90D4-1F4F05381BC8}"/>
              </a:ext>
            </a:extLst>
          </p:cNvPr>
          <p:cNvSpPr>
            <a:spLocks xmlns:a="http://schemas.openxmlformats.org/drawingml/2006/main" noGrp="1"/>
          </p:cNvSpPr>
          <p:nvPr/>
        </p:nvSpPr>
        <p:spPr>
          <a:xfrm xmlns:a="http://schemas.openxmlformats.org/drawingml/2006/main">
            <a:off x="3154680" y="1417320"/>
            <a:ext cx="5623560"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0E2D69"/>
                </a:solidFill>
                <a:latin typeface="Arial"/>
                <a:ea typeface="Arial"/>
                <a:cs typeface="Arial"/>
              </a:rPr>
              <a:t>Matrix Factorization Techniques for Recommender Systems</a:t>
            </a:r>
            <a:endParaRPr sz="1200"/>
          </a:p>
        </p:txBody>
      </p:sp>
      <p:sp>
        <p:nvSpPr>
          <p:cNvPr id="12" name="Text 8">
            <a:extLst xmlns:a="http://schemas.openxmlformats.org/drawingml/2006/main">
              <a:ext uri="{FF2B5EF4-FFF2-40B4-BE49-F238E27FC236}">
                <a16:creationId xmlns:a16="http://schemas.microsoft.com/office/drawing/2014/main" id="{055CB83B-3F65-476D-937B-84BC6D6F1679}"/>
              </a:ext>
            </a:extLst>
          </p:cNvPr>
          <p:cNvSpPr>
            <a:spLocks xmlns:a="http://schemas.openxmlformats.org/drawingml/2006/main" noGrp="1"/>
          </p:cNvSpPr>
          <p:nvPr/>
        </p:nvSpPr>
        <p:spPr>
          <a:xfrm xmlns:a="http://schemas.openxmlformats.org/drawingml/2006/main">
            <a:off x="365760" y="1751076"/>
            <a:ext cx="2743200"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E2D69"/>
                </a:solidFill>
                <a:latin typeface="Arial"/>
                <a:ea typeface="Arial"/>
                <a:cs typeface="Arial"/>
              </a:rPr>
              <a:t>Cremonesi, Koren, Turrin, 2010</a:t>
            </a:r>
            <a:endParaRPr sz="1200"/>
          </a:p>
        </p:txBody>
      </p:sp>
      <p:sp>
        <p:nvSpPr>
          <p:cNvPr id="13" name="Text 9">
            <a:extLst xmlns:a="http://schemas.openxmlformats.org/drawingml/2006/main">
              <a:ext uri="{FF2B5EF4-FFF2-40B4-BE49-F238E27FC236}">
                <a16:creationId xmlns:a16="http://schemas.microsoft.com/office/drawing/2014/main" id="{D88A33F6-F6EF-4248-A839-CF2A6F2FC174}"/>
              </a:ext>
            </a:extLst>
          </p:cNvPr>
          <p:cNvSpPr>
            <a:spLocks xmlns:a="http://schemas.openxmlformats.org/drawingml/2006/main" noGrp="1"/>
          </p:cNvSpPr>
          <p:nvPr/>
        </p:nvSpPr>
        <p:spPr>
          <a:xfrm xmlns:a="http://schemas.openxmlformats.org/drawingml/2006/main">
            <a:off x="3154680" y="1751076"/>
            <a:ext cx="5623560"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0E2D69"/>
                </a:solidFill>
                <a:latin typeface="Arial"/>
                <a:ea typeface="Arial"/>
                <a:cs typeface="Arial"/>
              </a:rPr>
              <a:t>Performance of Recommender Algorithms on Top-N Tasks (PureSVD)</a:t>
            </a:r>
            <a:endParaRPr sz="1200"/>
          </a:p>
        </p:txBody>
      </p:sp>
      <p:sp>
        <p:nvSpPr>
          <p:cNvPr id="14" name="Text 10">
            <a:extLst xmlns:a="http://schemas.openxmlformats.org/drawingml/2006/main">
              <a:ext uri="{FF2B5EF4-FFF2-40B4-BE49-F238E27FC236}">
                <a16:creationId xmlns:a16="http://schemas.microsoft.com/office/drawing/2014/main" id="{14C433CA-8A96-4791-8A4E-3E138CDC9579}"/>
              </a:ext>
            </a:extLst>
          </p:cNvPr>
          <p:cNvSpPr>
            <a:spLocks xmlns:a="http://schemas.openxmlformats.org/drawingml/2006/main" noGrp="1"/>
          </p:cNvSpPr>
          <p:nvPr/>
        </p:nvSpPr>
        <p:spPr>
          <a:xfrm xmlns:a="http://schemas.openxmlformats.org/drawingml/2006/main">
            <a:off x="365760" y="2084832"/>
            <a:ext cx="2743200"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E2D69"/>
                </a:solidFill>
                <a:latin typeface="Arial"/>
                <a:ea typeface="Arial"/>
                <a:cs typeface="Arial"/>
              </a:rPr>
              <a:t>Hidasi et al., 2016</a:t>
            </a:r>
            <a:endParaRPr sz="1200"/>
          </a:p>
        </p:txBody>
      </p:sp>
      <p:sp>
        <p:nvSpPr>
          <p:cNvPr id="15" name="Text 11">
            <a:extLst xmlns:a="http://schemas.openxmlformats.org/drawingml/2006/main">
              <a:ext uri="{FF2B5EF4-FFF2-40B4-BE49-F238E27FC236}">
                <a16:creationId xmlns:a16="http://schemas.microsoft.com/office/drawing/2014/main" id="{D9C14501-E478-41C2-BD57-AC91A8C8E3B9}"/>
              </a:ext>
            </a:extLst>
          </p:cNvPr>
          <p:cNvSpPr>
            <a:spLocks xmlns:a="http://schemas.openxmlformats.org/drawingml/2006/main" noGrp="1"/>
          </p:cNvSpPr>
          <p:nvPr/>
        </p:nvSpPr>
        <p:spPr>
          <a:xfrm xmlns:a="http://schemas.openxmlformats.org/drawingml/2006/main">
            <a:off x="3154680" y="2084832"/>
            <a:ext cx="5623560"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0E2D69"/>
                </a:solidFill>
                <a:latin typeface="Arial"/>
                <a:ea typeface="Arial"/>
                <a:cs typeface="Arial"/>
              </a:rPr>
              <a:t>Session-based Recommendations with RNN (GRU4Rec)</a:t>
            </a:r>
            <a:endParaRPr sz="1200"/>
          </a:p>
        </p:txBody>
      </p:sp>
      <p:sp>
        <p:nvSpPr>
          <p:cNvPr id="16" name="Text 12">
            <a:extLst xmlns:a="http://schemas.openxmlformats.org/drawingml/2006/main">
              <a:ext uri="{FF2B5EF4-FFF2-40B4-BE49-F238E27FC236}">
                <a16:creationId xmlns:a16="http://schemas.microsoft.com/office/drawing/2014/main" id="{08849BA3-35D9-4019-B552-5A431A8E58B4}"/>
              </a:ext>
            </a:extLst>
          </p:cNvPr>
          <p:cNvSpPr>
            <a:spLocks xmlns:a="http://schemas.openxmlformats.org/drawingml/2006/main" noGrp="1"/>
          </p:cNvSpPr>
          <p:nvPr/>
        </p:nvSpPr>
        <p:spPr>
          <a:xfrm xmlns:a="http://schemas.openxmlformats.org/drawingml/2006/main">
            <a:off x="365760" y="2418588"/>
            <a:ext cx="2743200"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E2D69"/>
                </a:solidFill>
                <a:latin typeface="Arial"/>
                <a:ea typeface="Arial"/>
                <a:cs typeface="Arial"/>
              </a:rPr>
              <a:t>Kang, McAuley, 2018</a:t>
            </a:r>
            <a:endParaRPr sz="1200"/>
          </a:p>
        </p:txBody>
      </p:sp>
      <p:sp>
        <p:nvSpPr>
          <p:cNvPr id="17" name="Text 13">
            <a:extLst xmlns:a="http://schemas.openxmlformats.org/drawingml/2006/main">
              <a:ext uri="{FF2B5EF4-FFF2-40B4-BE49-F238E27FC236}">
                <a16:creationId xmlns:a16="http://schemas.microsoft.com/office/drawing/2014/main" id="{8A0B2C5C-C7C5-4F78-93D7-68BDED15E536}"/>
              </a:ext>
            </a:extLst>
          </p:cNvPr>
          <p:cNvSpPr>
            <a:spLocks xmlns:a="http://schemas.openxmlformats.org/drawingml/2006/main" noGrp="1"/>
          </p:cNvSpPr>
          <p:nvPr/>
        </p:nvSpPr>
        <p:spPr>
          <a:xfrm xmlns:a="http://schemas.openxmlformats.org/drawingml/2006/main">
            <a:off x="3154680" y="2418588"/>
            <a:ext cx="5623560"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0E2D69"/>
                </a:solidFill>
                <a:latin typeface="Arial"/>
                <a:ea typeface="Arial"/>
                <a:cs typeface="Arial"/>
              </a:rPr>
              <a:t>Self-Attentive Sequential Recommendation (SASRec)</a:t>
            </a:r>
            <a:endParaRPr sz="1200"/>
          </a:p>
        </p:txBody>
      </p:sp>
      <p:sp>
        <p:nvSpPr>
          <p:cNvPr id="18" name="Text 14">
            <a:extLst xmlns:a="http://schemas.openxmlformats.org/drawingml/2006/main">
              <a:ext uri="{FF2B5EF4-FFF2-40B4-BE49-F238E27FC236}">
                <a16:creationId xmlns:a16="http://schemas.microsoft.com/office/drawing/2014/main" id="{03815811-2EA6-4F8B-8DC6-E886B35C065C}"/>
              </a:ext>
            </a:extLst>
          </p:cNvPr>
          <p:cNvSpPr>
            <a:spLocks xmlns:a="http://schemas.openxmlformats.org/drawingml/2006/main" noGrp="1"/>
          </p:cNvSpPr>
          <p:nvPr/>
        </p:nvSpPr>
        <p:spPr>
          <a:xfrm xmlns:a="http://schemas.openxmlformats.org/drawingml/2006/main">
            <a:off x="365760" y="2752344"/>
            <a:ext cx="2743200"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E2D69"/>
                </a:solidFill>
                <a:latin typeface="Arial"/>
                <a:ea typeface="Arial"/>
                <a:cs typeface="Arial"/>
              </a:rPr>
              <a:t>Sun et al., 2019</a:t>
            </a:r>
            <a:endParaRPr sz="1200"/>
          </a:p>
        </p:txBody>
      </p:sp>
      <p:sp>
        <p:nvSpPr>
          <p:cNvPr id="19" name="Text 15">
            <a:extLst xmlns:a="http://schemas.openxmlformats.org/drawingml/2006/main">
              <a:ext uri="{FF2B5EF4-FFF2-40B4-BE49-F238E27FC236}">
                <a16:creationId xmlns:a16="http://schemas.microsoft.com/office/drawing/2014/main" id="{5DFAF687-0579-41A9-9140-14224B81AFE2}"/>
              </a:ext>
            </a:extLst>
          </p:cNvPr>
          <p:cNvSpPr>
            <a:spLocks xmlns:a="http://schemas.openxmlformats.org/drawingml/2006/main" noGrp="1"/>
          </p:cNvSpPr>
          <p:nvPr/>
        </p:nvSpPr>
        <p:spPr>
          <a:xfrm xmlns:a="http://schemas.openxmlformats.org/drawingml/2006/main">
            <a:off x="3154680" y="2752344"/>
            <a:ext cx="5623560"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0E2D69"/>
                </a:solidFill>
                <a:latin typeface="Arial"/>
                <a:ea typeface="Arial"/>
                <a:cs typeface="Arial"/>
              </a:rPr>
              <a:t>BERT4Rec</a:t>
            </a:r>
            <a:endParaRPr sz="1200"/>
          </a:p>
        </p:txBody>
      </p:sp>
      <p:sp>
        <p:nvSpPr>
          <p:cNvPr id="20" name="Text 16">
            <a:extLst xmlns:a="http://schemas.openxmlformats.org/drawingml/2006/main">
              <a:ext uri="{FF2B5EF4-FFF2-40B4-BE49-F238E27FC236}">
                <a16:creationId xmlns:a16="http://schemas.microsoft.com/office/drawing/2014/main" id="{841B15D9-F3A7-43BE-9D6B-F6219733B24A}"/>
              </a:ext>
            </a:extLst>
          </p:cNvPr>
          <p:cNvSpPr>
            <a:spLocks xmlns:a="http://schemas.openxmlformats.org/drawingml/2006/main" noGrp="1"/>
          </p:cNvSpPr>
          <p:nvPr/>
        </p:nvSpPr>
        <p:spPr>
          <a:xfrm xmlns:a="http://schemas.openxmlformats.org/drawingml/2006/main">
            <a:off x="365760" y="3086100"/>
            <a:ext cx="2743200"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E2D69"/>
                </a:solidFill>
                <a:latin typeface="Arial"/>
                <a:ea typeface="Arial"/>
                <a:cs typeface="Arial"/>
              </a:rPr>
              <a:t>Li, Wang, McAuley, 2020</a:t>
            </a:r>
            <a:endParaRPr sz="1200"/>
          </a:p>
        </p:txBody>
      </p:sp>
      <p:sp>
        <p:nvSpPr>
          <p:cNvPr id="21" name="Text 17">
            <a:extLst xmlns:a="http://schemas.openxmlformats.org/drawingml/2006/main">
              <a:ext uri="{FF2B5EF4-FFF2-40B4-BE49-F238E27FC236}">
                <a16:creationId xmlns:a16="http://schemas.microsoft.com/office/drawing/2014/main" id="{3368BFB0-055E-48AA-BD12-5FFFC3E288E3}"/>
              </a:ext>
            </a:extLst>
          </p:cNvPr>
          <p:cNvSpPr>
            <a:spLocks xmlns:a="http://schemas.openxmlformats.org/drawingml/2006/main" noGrp="1"/>
          </p:cNvSpPr>
          <p:nvPr/>
        </p:nvSpPr>
        <p:spPr>
          <a:xfrm xmlns:a="http://schemas.openxmlformats.org/drawingml/2006/main">
            <a:off x="3154680" y="3086100"/>
            <a:ext cx="5623560"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0E2D69"/>
                </a:solidFill>
                <a:latin typeface="Arial"/>
                <a:ea typeface="Arial"/>
                <a:cs typeface="Arial"/>
              </a:rPr>
              <a:t>Time Interval Aware Self-Attention (TiSASRec)</a:t>
            </a:r>
            <a:endParaRPr sz="1200"/>
          </a:p>
        </p:txBody>
      </p:sp>
      <p:sp>
        <p:nvSpPr>
          <p:cNvPr id="22" name="Text 18">
            <a:extLst xmlns:a="http://schemas.openxmlformats.org/drawingml/2006/main">
              <a:ext uri="{FF2B5EF4-FFF2-40B4-BE49-F238E27FC236}">
                <a16:creationId xmlns:a16="http://schemas.microsoft.com/office/drawing/2014/main" id="{0FCCBCE5-C2A1-4D48-8A1F-CCFF43F0144B}"/>
              </a:ext>
            </a:extLst>
          </p:cNvPr>
          <p:cNvSpPr>
            <a:spLocks xmlns:a="http://schemas.openxmlformats.org/drawingml/2006/main" noGrp="1"/>
          </p:cNvSpPr>
          <p:nvPr/>
        </p:nvSpPr>
        <p:spPr>
          <a:xfrm xmlns:a="http://schemas.openxmlformats.org/drawingml/2006/main">
            <a:off x="365760" y="3419856"/>
            <a:ext cx="2743200"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E2D69"/>
                </a:solidFill>
                <a:latin typeface="Arial"/>
                <a:ea typeface="Arial"/>
                <a:cs typeface="Arial"/>
              </a:rPr>
              <a:t>Li et al., 2019</a:t>
            </a:r>
            <a:endParaRPr sz="1200"/>
          </a:p>
        </p:txBody>
      </p:sp>
      <p:sp>
        <p:nvSpPr>
          <p:cNvPr id="23" name="Text 19">
            <a:extLst xmlns:a="http://schemas.openxmlformats.org/drawingml/2006/main">
              <a:ext uri="{FF2B5EF4-FFF2-40B4-BE49-F238E27FC236}">
                <a16:creationId xmlns:a16="http://schemas.microsoft.com/office/drawing/2014/main" id="{F1E7F48B-78BD-4B83-9CD3-377AED2C4A14}"/>
              </a:ext>
            </a:extLst>
          </p:cNvPr>
          <p:cNvSpPr>
            <a:spLocks xmlns:a="http://schemas.openxmlformats.org/drawingml/2006/main" noGrp="1"/>
          </p:cNvSpPr>
          <p:nvPr/>
        </p:nvSpPr>
        <p:spPr>
          <a:xfrm xmlns:a="http://schemas.openxmlformats.org/drawingml/2006/main">
            <a:off x="3154680" y="3419856"/>
            <a:ext cx="5623560"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0E2D69"/>
                </a:solidFill>
                <a:latin typeface="Arial"/>
                <a:ea typeface="Arial"/>
                <a:cs typeface="Arial"/>
              </a:rPr>
              <a:t>Multi-Interest Network with Dynamic Routing (MIND)</a:t>
            </a:r>
            <a:endParaRPr sz="1200"/>
          </a:p>
        </p:txBody>
      </p:sp>
      <p:sp>
        <p:nvSpPr>
          <p:cNvPr id="24" name="Text 20">
            <a:extLst xmlns:a="http://schemas.openxmlformats.org/drawingml/2006/main">
              <a:ext uri="{FF2B5EF4-FFF2-40B4-BE49-F238E27FC236}">
                <a16:creationId xmlns:a16="http://schemas.microsoft.com/office/drawing/2014/main" id="{553D39B2-43D7-40C4-8615-3C4B1E4C16ED}"/>
              </a:ext>
            </a:extLst>
          </p:cNvPr>
          <p:cNvSpPr>
            <a:spLocks xmlns:a="http://schemas.openxmlformats.org/drawingml/2006/main" noGrp="1"/>
          </p:cNvSpPr>
          <p:nvPr/>
        </p:nvSpPr>
        <p:spPr>
          <a:xfrm xmlns:a="http://schemas.openxmlformats.org/drawingml/2006/main">
            <a:off x="365760" y="3753612"/>
            <a:ext cx="2743200"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E2D69"/>
                </a:solidFill>
                <a:latin typeface="Arial"/>
                <a:ea typeface="Arial"/>
                <a:cs typeface="Arial"/>
              </a:rPr>
              <a:t>Cen et al., 2020</a:t>
            </a:r>
            <a:endParaRPr sz="1200"/>
          </a:p>
        </p:txBody>
      </p:sp>
      <p:sp>
        <p:nvSpPr>
          <p:cNvPr id="25" name="Text 21">
            <a:extLst xmlns:a="http://schemas.openxmlformats.org/drawingml/2006/main">
              <a:ext uri="{FF2B5EF4-FFF2-40B4-BE49-F238E27FC236}">
                <a16:creationId xmlns:a16="http://schemas.microsoft.com/office/drawing/2014/main" id="{4D29D743-4152-44C9-B4CA-D4F613D9AB2D}"/>
              </a:ext>
            </a:extLst>
          </p:cNvPr>
          <p:cNvSpPr>
            <a:spLocks xmlns:a="http://schemas.openxmlformats.org/drawingml/2006/main" noGrp="1"/>
          </p:cNvSpPr>
          <p:nvPr/>
        </p:nvSpPr>
        <p:spPr>
          <a:xfrm xmlns:a="http://schemas.openxmlformats.org/drawingml/2006/main">
            <a:off x="3154680" y="3753612"/>
            <a:ext cx="5623560"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0E2D69"/>
                </a:solidFill>
                <a:latin typeface="Arial"/>
                <a:ea typeface="Arial"/>
                <a:cs typeface="Arial"/>
              </a:rPr>
              <a:t>Controllable Multi-Interest Framework (ComiRec)</a:t>
            </a:r>
            <a:endParaRPr sz="1200"/>
          </a:p>
        </p:txBody>
      </p:sp>
      <p:sp>
        <p:nvSpPr>
          <p:cNvPr id="26" name="Text 22">
            <a:extLst xmlns:a="http://schemas.openxmlformats.org/drawingml/2006/main">
              <a:ext uri="{FF2B5EF4-FFF2-40B4-BE49-F238E27FC236}">
                <a16:creationId xmlns:a16="http://schemas.microsoft.com/office/drawing/2014/main" id="{4F1E640C-0857-4DB7-879B-2D35BA1B43AE}"/>
              </a:ext>
            </a:extLst>
          </p:cNvPr>
          <p:cNvSpPr>
            <a:spLocks xmlns:a="http://schemas.openxmlformats.org/drawingml/2006/main" noGrp="1"/>
          </p:cNvSpPr>
          <p:nvPr/>
        </p:nvSpPr>
        <p:spPr>
          <a:xfrm xmlns:a="http://schemas.openxmlformats.org/drawingml/2006/main">
            <a:off x="365760" y="4087368"/>
            <a:ext cx="2743200"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E2D69"/>
                </a:solidFill>
                <a:latin typeface="Arial"/>
                <a:ea typeface="Arial"/>
                <a:cs typeface="Arial"/>
              </a:rPr>
              <a:t>Zhai et al., 2024</a:t>
            </a:r>
            <a:endParaRPr sz="1200"/>
          </a:p>
        </p:txBody>
      </p:sp>
      <p:sp>
        <p:nvSpPr>
          <p:cNvPr id="27" name="Text 23">
            <a:extLst xmlns:a="http://schemas.openxmlformats.org/drawingml/2006/main">
              <a:ext uri="{FF2B5EF4-FFF2-40B4-BE49-F238E27FC236}">
                <a16:creationId xmlns:a16="http://schemas.microsoft.com/office/drawing/2014/main" id="{2F60FCBE-9591-4F07-9175-A7F06D3B6708}"/>
              </a:ext>
            </a:extLst>
          </p:cNvPr>
          <p:cNvSpPr>
            <a:spLocks xmlns:a="http://schemas.openxmlformats.org/drawingml/2006/main" noGrp="1"/>
          </p:cNvSpPr>
          <p:nvPr/>
        </p:nvSpPr>
        <p:spPr>
          <a:xfrm xmlns:a="http://schemas.openxmlformats.org/drawingml/2006/main">
            <a:off x="3154680" y="4087368"/>
            <a:ext cx="5623560"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0E2D69"/>
                </a:solidFill>
                <a:latin typeface="Arial"/>
                <a:ea typeface="Arial"/>
                <a:cs typeface="Arial"/>
              </a:rPr>
              <a:t>Actions Speak Louder than Words (HSTU)</a:t>
            </a:r>
            <a:endParaRPr sz="1200"/>
          </a:p>
        </p:txBody>
      </p:sp>
      <p:sp>
        <p:nvSpPr>
          <p:cNvPr id="28" name="Text 24">
            <a:extLst xmlns:a="http://schemas.openxmlformats.org/drawingml/2006/main">
              <a:ext uri="{FF2B5EF4-FFF2-40B4-BE49-F238E27FC236}">
                <a16:creationId xmlns:a16="http://schemas.microsoft.com/office/drawing/2014/main" id="{C9197A5D-A76D-43CA-8185-CEDEE52AED72}"/>
              </a:ext>
            </a:extLst>
          </p:cNvPr>
          <p:cNvSpPr>
            <a:spLocks xmlns:a="http://schemas.openxmlformats.org/drawingml/2006/main" noGrp="1"/>
          </p:cNvSpPr>
          <p:nvPr/>
        </p:nvSpPr>
        <p:spPr>
          <a:xfrm xmlns:a="http://schemas.openxmlformats.org/drawingml/2006/main">
            <a:off x="365760" y="4421124"/>
            <a:ext cx="2743200"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0E2D69"/>
                </a:solidFill>
                <a:latin typeface="Arial"/>
                <a:ea typeface="Arial"/>
                <a:cs typeface="Arial"/>
              </a:rPr>
              <a:t>Meng et al., 2020</a:t>
            </a:r>
            <a:endParaRPr sz="1200"/>
          </a:p>
        </p:txBody>
      </p:sp>
      <p:sp>
        <p:nvSpPr>
          <p:cNvPr id="29" name="Text 25">
            <a:extLst xmlns:a="http://schemas.openxmlformats.org/drawingml/2006/main">
              <a:ext uri="{FF2B5EF4-FFF2-40B4-BE49-F238E27FC236}">
                <a16:creationId xmlns:a16="http://schemas.microsoft.com/office/drawing/2014/main" id="{B7D9FED2-A298-436B-A6AB-3C950CA66556}"/>
              </a:ext>
            </a:extLst>
          </p:cNvPr>
          <p:cNvSpPr>
            <a:spLocks xmlns:a="http://schemas.openxmlformats.org/drawingml/2006/main" noGrp="1"/>
          </p:cNvSpPr>
          <p:nvPr/>
        </p:nvSpPr>
        <p:spPr>
          <a:xfrm xmlns:a="http://schemas.openxmlformats.org/drawingml/2006/main">
            <a:off x="3154680" y="4421124"/>
            <a:ext cx="5623560"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0E2D69"/>
                </a:solidFill>
                <a:latin typeface="Arial"/>
                <a:ea typeface="Arial"/>
                <a:cs typeface="Arial"/>
              </a:rPr>
              <a:t>Exploring Data Splitting Strategies for Evaluation of Recommenders</a:t>
            </a:r>
            <a:endParaRPr sz="1200"/>
          </a:p>
        </p:txBody>
      </p:sp>
    </p:spTree>
    <p:extLst>
      <p:ext uri="{BB962C8B-B14F-4D97-AF65-F5344CB8AC3E}">
        <p14:creationId xmlns:p14="http://schemas.microsoft.com/office/powerpoint/2010/main" val="1841377723"/>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2026-10-07T23:26:09.9580000Z</dcterms:created>
  <dcterms:modified xsi:type="dcterms:W3CDTF">2026-10-07T23:26:09.9580000Z</dcterms:modified>
</coreProperties>
</file>